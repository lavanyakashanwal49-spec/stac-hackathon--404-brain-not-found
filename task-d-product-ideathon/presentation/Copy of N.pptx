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Poppins" charset="1" panose="00000500000000000000"/>
      <p:regular r:id="rId14"/>
    </p:embeddedFont>
    <p:embeddedFont>
      <p:font typeface="Poppins Bold" charset="1" panose="00000800000000000000"/>
      <p:regular r:id="rId15"/>
    </p:embeddedFont>
    <p:embeddedFont>
      <p:font typeface="Fredoka" charset="1" panose="0200000000000000000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3.jpeg" Type="http://schemas.openxmlformats.org/officeDocument/2006/relationships/image"/><Relationship Id="rId5" Target="../media/image1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 Id="rId3" Target="../media/VAHY9Ojkeas.mp4" Type="http://schemas.openxmlformats.org/officeDocument/2006/relationships/video"/><Relationship Id="rId4" Target="../media/VAHY9Ojkeas.mp4" Type="http://schemas.microsoft.com/office/2007/relationships/media"/></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8222" r="0" b="0"/>
            </a:stretch>
          </a:blipFill>
        </p:spPr>
      </p:sp>
      <p:sp>
        <p:nvSpPr>
          <p:cNvPr name="Freeform 3" id="3"/>
          <p:cNvSpPr/>
          <p:nvPr/>
        </p:nvSpPr>
        <p:spPr>
          <a:xfrm flipH="false" flipV="false" rot="0">
            <a:off x="11524424" y="2750303"/>
            <a:ext cx="10451235" cy="10451235"/>
          </a:xfrm>
          <a:custGeom>
            <a:avLst/>
            <a:gdLst/>
            <a:ahLst/>
            <a:cxnLst/>
            <a:rect r="r" b="b" t="t" l="l"/>
            <a:pathLst>
              <a:path h="10451235" w="10451235">
                <a:moveTo>
                  <a:pt x="0" y="0"/>
                </a:moveTo>
                <a:lnTo>
                  <a:pt x="10451235" y="0"/>
                </a:lnTo>
                <a:lnTo>
                  <a:pt x="10451235" y="10451235"/>
                </a:lnTo>
                <a:lnTo>
                  <a:pt x="0" y="10451235"/>
                </a:lnTo>
                <a:lnTo>
                  <a:pt x="0" y="0"/>
                </a:lnTo>
                <a:close/>
              </a:path>
            </a:pathLst>
          </a:custGeom>
          <a:blipFill>
            <a:blip r:embed="rId3"/>
            <a:stretch>
              <a:fillRect l="0" t="0" r="0" b="0"/>
            </a:stretch>
          </a:blipFill>
        </p:spPr>
      </p:sp>
      <p:sp>
        <p:nvSpPr>
          <p:cNvPr name="Freeform 4" id="4"/>
          <p:cNvSpPr/>
          <p:nvPr/>
        </p:nvSpPr>
        <p:spPr>
          <a:xfrm flipH="false" flipV="false" rot="-462986">
            <a:off x="7143364" y="6345611"/>
            <a:ext cx="6917842" cy="5793693"/>
          </a:xfrm>
          <a:custGeom>
            <a:avLst/>
            <a:gdLst/>
            <a:ahLst/>
            <a:cxnLst/>
            <a:rect r="r" b="b" t="t" l="l"/>
            <a:pathLst>
              <a:path h="5793693" w="6917842">
                <a:moveTo>
                  <a:pt x="0" y="0"/>
                </a:moveTo>
                <a:lnTo>
                  <a:pt x="6917843" y="0"/>
                </a:lnTo>
                <a:lnTo>
                  <a:pt x="6917843" y="5793693"/>
                </a:lnTo>
                <a:lnTo>
                  <a:pt x="0" y="5793693"/>
                </a:lnTo>
                <a:lnTo>
                  <a:pt x="0" y="0"/>
                </a:lnTo>
                <a:close/>
              </a:path>
            </a:pathLst>
          </a:custGeom>
          <a:blipFill>
            <a:blip r:embed="rId4"/>
            <a:stretch>
              <a:fillRect l="0" t="0" r="0" b="0"/>
            </a:stretch>
          </a:blipFill>
        </p:spPr>
      </p:sp>
      <p:sp>
        <p:nvSpPr>
          <p:cNvPr name="Freeform 5" id="5"/>
          <p:cNvSpPr/>
          <p:nvPr/>
        </p:nvSpPr>
        <p:spPr>
          <a:xfrm flipH="false" flipV="false" rot="0">
            <a:off x="10868808" y="2358051"/>
            <a:ext cx="3758029" cy="4872646"/>
          </a:xfrm>
          <a:custGeom>
            <a:avLst/>
            <a:gdLst/>
            <a:ahLst/>
            <a:cxnLst/>
            <a:rect r="r" b="b" t="t" l="l"/>
            <a:pathLst>
              <a:path h="4872646" w="3758029">
                <a:moveTo>
                  <a:pt x="0" y="0"/>
                </a:moveTo>
                <a:lnTo>
                  <a:pt x="3758029" y="0"/>
                </a:lnTo>
                <a:lnTo>
                  <a:pt x="3758029" y="4872646"/>
                </a:lnTo>
                <a:lnTo>
                  <a:pt x="0" y="4872646"/>
                </a:lnTo>
                <a:lnTo>
                  <a:pt x="0" y="0"/>
                </a:lnTo>
                <a:close/>
              </a:path>
            </a:pathLst>
          </a:custGeom>
          <a:blipFill>
            <a:blip r:embed="rId5">
              <a:alphaModFix amt="81000"/>
            </a:blip>
            <a:stretch>
              <a:fillRect l="0" t="0" r="0" b="0"/>
            </a:stretch>
          </a:blipFill>
        </p:spPr>
      </p:sp>
      <p:sp>
        <p:nvSpPr>
          <p:cNvPr name="TextBox 6" id="6"/>
          <p:cNvSpPr txBox="true"/>
          <p:nvPr/>
        </p:nvSpPr>
        <p:spPr>
          <a:xfrm rot="0">
            <a:off x="1028700" y="8899558"/>
            <a:ext cx="3478352" cy="358775"/>
          </a:xfrm>
          <a:prstGeom prst="rect">
            <a:avLst/>
          </a:prstGeom>
        </p:spPr>
        <p:txBody>
          <a:bodyPr anchor="t" rtlCol="false" tIns="0" lIns="0" bIns="0" rIns="0">
            <a:spAutoFit/>
          </a:bodyPr>
          <a:lstStyle/>
          <a:p>
            <a:pPr algn="l">
              <a:lnSpc>
                <a:spcPts val="2799"/>
              </a:lnSpc>
              <a:spcBef>
                <a:spcPct val="0"/>
              </a:spcBef>
            </a:pPr>
            <a:r>
              <a:rPr lang="en-US" sz="1999">
                <a:solidFill>
                  <a:srgbClr val="FFFFFF"/>
                </a:solidFill>
                <a:latin typeface="Poppins"/>
                <a:ea typeface="Poppins"/>
                <a:cs typeface="Poppins"/>
                <a:sym typeface="Poppins"/>
              </a:rPr>
              <a:t>404: Brain not found</a:t>
            </a:r>
          </a:p>
        </p:txBody>
      </p:sp>
      <p:sp>
        <p:nvSpPr>
          <p:cNvPr name="TextBox 7" id="7"/>
          <p:cNvSpPr txBox="true"/>
          <p:nvPr/>
        </p:nvSpPr>
        <p:spPr>
          <a:xfrm rot="0">
            <a:off x="1306883" y="4135558"/>
            <a:ext cx="11440939" cy="1450982"/>
          </a:xfrm>
          <a:prstGeom prst="rect">
            <a:avLst/>
          </a:prstGeom>
        </p:spPr>
        <p:txBody>
          <a:bodyPr anchor="t" rtlCol="false" tIns="0" lIns="0" bIns="0" rIns="0">
            <a:spAutoFit/>
          </a:bodyPr>
          <a:lstStyle/>
          <a:p>
            <a:pPr algn="l">
              <a:lnSpc>
                <a:spcPts val="10000"/>
              </a:lnSpc>
            </a:pPr>
            <a:r>
              <a:rPr lang="en-US" sz="10416" b="true">
                <a:solidFill>
                  <a:srgbClr val="FFFFFF"/>
                </a:solidFill>
                <a:latin typeface="Poppins Bold"/>
                <a:ea typeface="Poppins Bold"/>
                <a:cs typeface="Poppins Bold"/>
                <a:sym typeface="Poppins Bold"/>
              </a:rPr>
              <a:t>Project NovaOre</a:t>
            </a:r>
          </a:p>
        </p:txBody>
      </p:sp>
      <p:sp>
        <p:nvSpPr>
          <p:cNvPr name="TextBox 8" id="8"/>
          <p:cNvSpPr txBox="true"/>
          <p:nvPr/>
        </p:nvSpPr>
        <p:spPr>
          <a:xfrm rot="0">
            <a:off x="1306883" y="2633680"/>
            <a:ext cx="11421889" cy="1450982"/>
          </a:xfrm>
          <a:prstGeom prst="rect">
            <a:avLst/>
          </a:prstGeom>
        </p:spPr>
        <p:txBody>
          <a:bodyPr anchor="t" rtlCol="false" tIns="0" lIns="0" bIns="0" rIns="0">
            <a:spAutoFit/>
          </a:bodyPr>
          <a:lstStyle/>
          <a:p>
            <a:pPr algn="l">
              <a:lnSpc>
                <a:spcPts val="10000"/>
              </a:lnSpc>
            </a:pPr>
            <a:r>
              <a:rPr lang="en-US" sz="10416" b="true">
                <a:solidFill>
                  <a:srgbClr val="FFFFFF"/>
                </a:solidFill>
                <a:latin typeface="Poppins Bold"/>
                <a:ea typeface="Poppins Bold"/>
                <a:cs typeface="Poppins Bold"/>
                <a:sym typeface="Poppins Bold"/>
              </a:rPr>
              <a:t>Project NovaOre</a:t>
            </a:r>
          </a:p>
        </p:txBody>
      </p:sp>
      <p:sp>
        <p:nvSpPr>
          <p:cNvPr name="TextBox 9" id="9"/>
          <p:cNvSpPr txBox="true"/>
          <p:nvPr/>
        </p:nvSpPr>
        <p:spPr>
          <a:xfrm rot="0">
            <a:off x="1306883" y="5665813"/>
            <a:ext cx="8945565" cy="1282700"/>
          </a:xfrm>
          <a:prstGeom prst="rect">
            <a:avLst/>
          </a:prstGeom>
        </p:spPr>
        <p:txBody>
          <a:bodyPr anchor="t" rtlCol="false" tIns="0" lIns="0" bIns="0" rIns="0">
            <a:spAutoFit/>
          </a:bodyPr>
          <a:lstStyle/>
          <a:p>
            <a:pPr algn="just">
              <a:lnSpc>
                <a:spcPts val="3400"/>
              </a:lnSpc>
            </a:pPr>
            <a:r>
              <a:rPr lang="en-US" sz="2000">
                <a:solidFill>
                  <a:srgbClr val="FFFFFF"/>
                </a:solidFill>
                <a:latin typeface="Poppins"/>
                <a:ea typeface="Poppins"/>
                <a:cs typeface="Poppins"/>
                <a:sym typeface="Poppins"/>
              </a:rPr>
              <a:t>Earth’s next resource frontier</a:t>
            </a:r>
          </a:p>
          <a:p>
            <a:pPr algn="just">
              <a:lnSpc>
                <a:spcPts val="3400"/>
              </a:lnSpc>
            </a:pPr>
            <a:r>
              <a:rPr lang="en-US" sz="2000">
                <a:solidFill>
                  <a:srgbClr val="FFFFFF"/>
                </a:solidFill>
                <a:latin typeface="Poppins"/>
                <a:ea typeface="Poppins"/>
                <a:cs typeface="Poppins"/>
                <a:sym typeface="Poppins"/>
              </a:rPr>
              <a:t>Beyond Earth. Beyond Limits. Beyond Scarcity.</a:t>
            </a:r>
          </a:p>
          <a:p>
            <a:pPr algn="just">
              <a:lnSpc>
                <a:spcPts val="3400"/>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7233892" y="2556143"/>
            <a:ext cx="4342292" cy="434229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1007" y="0"/>
                  </a:moveTo>
                  <a:lnTo>
                    <a:pt x="771793" y="0"/>
                  </a:lnTo>
                  <a:cubicBezTo>
                    <a:pt x="794441" y="0"/>
                    <a:pt x="812800" y="18359"/>
                    <a:pt x="812800" y="41007"/>
                  </a:cubicBezTo>
                  <a:lnTo>
                    <a:pt x="812800" y="771793"/>
                  </a:lnTo>
                  <a:cubicBezTo>
                    <a:pt x="812800" y="794441"/>
                    <a:pt x="794441" y="812800"/>
                    <a:pt x="771793" y="812800"/>
                  </a:cubicBezTo>
                  <a:lnTo>
                    <a:pt x="41007" y="812800"/>
                  </a:lnTo>
                  <a:cubicBezTo>
                    <a:pt x="18359" y="812800"/>
                    <a:pt x="0" y="794441"/>
                    <a:pt x="0" y="771793"/>
                  </a:cubicBezTo>
                  <a:lnTo>
                    <a:pt x="0" y="41007"/>
                  </a:lnTo>
                  <a:cubicBezTo>
                    <a:pt x="0" y="18359"/>
                    <a:pt x="18359" y="0"/>
                    <a:pt x="41007" y="0"/>
                  </a:cubicBezTo>
                  <a:close/>
                </a:path>
              </a:pathLst>
            </a:custGeom>
            <a:blipFill>
              <a:blip r:embed="rId2"/>
              <a:stretch>
                <a:fillRect l="-9347" t="0" r="-9347" b="0"/>
              </a:stretch>
            </a:blipFill>
          </p:spPr>
        </p:sp>
      </p:grpSp>
      <p:grpSp>
        <p:nvGrpSpPr>
          <p:cNvPr name="Group 4" id="4"/>
          <p:cNvGrpSpPr/>
          <p:nvPr/>
        </p:nvGrpSpPr>
        <p:grpSpPr>
          <a:xfrm rot="0">
            <a:off x="7233892" y="6679490"/>
            <a:ext cx="4342292" cy="3203559"/>
            <a:chOff x="0" y="0"/>
            <a:chExt cx="812800" cy="599649"/>
          </a:xfrm>
        </p:grpSpPr>
        <p:sp>
          <p:nvSpPr>
            <p:cNvPr name="Freeform 5" id="5"/>
            <p:cNvSpPr/>
            <p:nvPr/>
          </p:nvSpPr>
          <p:spPr>
            <a:xfrm flipH="false" flipV="false" rot="0">
              <a:off x="0" y="0"/>
              <a:ext cx="812800" cy="599649"/>
            </a:xfrm>
            <a:custGeom>
              <a:avLst/>
              <a:gdLst/>
              <a:ahLst/>
              <a:cxnLst/>
              <a:rect r="r" b="b" t="t" l="l"/>
              <a:pathLst>
                <a:path h="599649" w="812800">
                  <a:moveTo>
                    <a:pt x="41007" y="0"/>
                  </a:moveTo>
                  <a:lnTo>
                    <a:pt x="771793" y="0"/>
                  </a:lnTo>
                  <a:cubicBezTo>
                    <a:pt x="794441" y="0"/>
                    <a:pt x="812800" y="18359"/>
                    <a:pt x="812800" y="41007"/>
                  </a:cubicBezTo>
                  <a:lnTo>
                    <a:pt x="812800" y="558642"/>
                  </a:lnTo>
                  <a:cubicBezTo>
                    <a:pt x="812800" y="581290"/>
                    <a:pt x="794441" y="599649"/>
                    <a:pt x="771793" y="599649"/>
                  </a:cubicBezTo>
                  <a:lnTo>
                    <a:pt x="41007" y="599649"/>
                  </a:lnTo>
                  <a:cubicBezTo>
                    <a:pt x="18359" y="599649"/>
                    <a:pt x="0" y="581290"/>
                    <a:pt x="0" y="558642"/>
                  </a:cubicBezTo>
                  <a:lnTo>
                    <a:pt x="0" y="41007"/>
                  </a:lnTo>
                  <a:cubicBezTo>
                    <a:pt x="0" y="18359"/>
                    <a:pt x="18359" y="0"/>
                    <a:pt x="41007" y="0"/>
                  </a:cubicBezTo>
                  <a:close/>
                </a:path>
              </a:pathLst>
            </a:custGeom>
            <a:blipFill>
              <a:blip r:embed="rId3"/>
              <a:stretch>
                <a:fillRect l="-15882" t="0" r="-15882" b="0"/>
              </a:stretch>
            </a:blipFill>
          </p:spPr>
        </p:sp>
      </p:grpSp>
      <p:sp>
        <p:nvSpPr>
          <p:cNvPr name="TextBox 6" id="6"/>
          <p:cNvSpPr txBox="true"/>
          <p:nvPr/>
        </p:nvSpPr>
        <p:spPr>
          <a:xfrm rot="0">
            <a:off x="2606041" y="551890"/>
            <a:ext cx="13075917" cy="1110616"/>
          </a:xfrm>
          <a:prstGeom prst="rect">
            <a:avLst/>
          </a:prstGeom>
        </p:spPr>
        <p:txBody>
          <a:bodyPr anchor="t" rtlCol="false" tIns="0" lIns="0" bIns="0" rIns="0">
            <a:spAutoFit/>
          </a:bodyPr>
          <a:lstStyle/>
          <a:p>
            <a:pPr algn="l">
              <a:lnSpc>
                <a:spcPts val="7680"/>
              </a:lnSpc>
            </a:pPr>
            <a:r>
              <a:rPr lang="en-US" sz="8000" b="true">
                <a:solidFill>
                  <a:srgbClr val="FFFFFF"/>
                </a:solidFill>
                <a:latin typeface="Poppins Bold"/>
                <a:ea typeface="Poppins Bold"/>
                <a:cs typeface="Poppins Bold"/>
                <a:sym typeface="Poppins Bold"/>
              </a:rPr>
              <a:t>SubPart A - ENGINEERING</a:t>
            </a:r>
          </a:p>
        </p:txBody>
      </p:sp>
      <p:sp>
        <p:nvSpPr>
          <p:cNvPr name="TextBox 7" id="7"/>
          <p:cNvSpPr txBox="true"/>
          <p:nvPr/>
        </p:nvSpPr>
        <p:spPr>
          <a:xfrm rot="0">
            <a:off x="0" y="2884756"/>
            <a:ext cx="7233892" cy="2139950"/>
          </a:xfrm>
          <a:prstGeom prst="rect">
            <a:avLst/>
          </a:prstGeom>
        </p:spPr>
        <p:txBody>
          <a:bodyPr anchor="t" rtlCol="false" tIns="0" lIns="0" bIns="0" rIns="0">
            <a:spAutoFit/>
          </a:bodyPr>
          <a:lstStyle/>
          <a:p>
            <a:pPr algn="l" marL="431801" indent="-215900" lvl="1">
              <a:lnSpc>
                <a:spcPts val="3400"/>
              </a:lnSpc>
              <a:buFont typeface="Arial"/>
              <a:buChar char="•"/>
            </a:pPr>
            <a:r>
              <a:rPr lang="en-US" sz="2000">
                <a:solidFill>
                  <a:srgbClr val="FFFFFF"/>
                </a:solidFill>
                <a:latin typeface="Poppins"/>
                <a:ea typeface="Poppins"/>
                <a:cs typeface="Poppins"/>
                <a:sym typeface="Poppins"/>
              </a:rPr>
              <a:t>Propulsion system</a:t>
            </a:r>
          </a:p>
          <a:p>
            <a:pPr algn="l" marL="431801" indent="-215900" lvl="1">
              <a:lnSpc>
                <a:spcPts val="3400"/>
              </a:lnSpc>
              <a:buFont typeface="Arial"/>
              <a:buChar char="•"/>
            </a:pPr>
            <a:r>
              <a:rPr lang="en-US" sz="2000">
                <a:solidFill>
                  <a:srgbClr val="FFFFFF"/>
                </a:solidFill>
                <a:latin typeface="Poppins"/>
                <a:ea typeface="Poppins"/>
                <a:cs typeface="Poppins"/>
                <a:sym typeface="Poppins"/>
              </a:rPr>
              <a:t>Hybrid engines (Solar + Propellant)</a:t>
            </a:r>
          </a:p>
          <a:p>
            <a:pPr algn="l" marL="431801" indent="-215900" lvl="1">
              <a:lnSpc>
                <a:spcPts val="3400"/>
              </a:lnSpc>
              <a:buFont typeface="Arial"/>
              <a:buChar char="•"/>
            </a:pPr>
            <a:r>
              <a:rPr lang="en-US" sz="2000">
                <a:solidFill>
                  <a:srgbClr val="FFFFFF"/>
                </a:solidFill>
                <a:latin typeface="Poppins"/>
                <a:ea typeface="Poppins"/>
                <a:cs typeface="Poppins"/>
                <a:sym typeface="Poppins"/>
              </a:rPr>
              <a:t>Gripping Mechanism</a:t>
            </a:r>
          </a:p>
          <a:p>
            <a:pPr algn="l" marL="431801" indent="-215900" lvl="1">
              <a:lnSpc>
                <a:spcPts val="3400"/>
              </a:lnSpc>
              <a:buFont typeface="Arial"/>
              <a:buChar char="•"/>
            </a:pPr>
            <a:r>
              <a:rPr lang="en-US" sz="2000">
                <a:solidFill>
                  <a:srgbClr val="FFFFFF"/>
                </a:solidFill>
                <a:latin typeface="Poppins"/>
                <a:ea typeface="Poppins"/>
                <a:cs typeface="Poppins"/>
                <a:sym typeface="Poppins"/>
              </a:rPr>
              <a:t>Spectroscopic sensors: detect level of the ore on asteroids</a:t>
            </a:r>
          </a:p>
        </p:txBody>
      </p:sp>
      <p:sp>
        <p:nvSpPr>
          <p:cNvPr name="TextBox 8" id="8"/>
          <p:cNvSpPr txBox="true"/>
          <p:nvPr/>
        </p:nvSpPr>
        <p:spPr>
          <a:xfrm rot="0">
            <a:off x="374760" y="2498993"/>
            <a:ext cx="4996472" cy="358775"/>
          </a:xfrm>
          <a:prstGeom prst="rect">
            <a:avLst/>
          </a:prstGeom>
        </p:spPr>
        <p:txBody>
          <a:bodyPr anchor="t" rtlCol="false" tIns="0" lIns="0" bIns="0" rIns="0">
            <a:spAutoFit/>
          </a:bodyPr>
          <a:lstStyle/>
          <a:p>
            <a:pPr algn="l">
              <a:lnSpc>
                <a:spcPts val="2799"/>
              </a:lnSpc>
              <a:spcBef>
                <a:spcPct val="0"/>
              </a:spcBef>
            </a:pPr>
            <a:r>
              <a:rPr lang="en-US" b="true" sz="1999">
                <a:solidFill>
                  <a:srgbClr val="FFFFFF"/>
                </a:solidFill>
                <a:latin typeface="Poppins Bold"/>
                <a:ea typeface="Poppins Bold"/>
                <a:cs typeface="Poppins Bold"/>
                <a:sym typeface="Poppins Bold"/>
              </a:rPr>
              <a:t>Reaching &amp; Landing &amp; Operation</a:t>
            </a:r>
          </a:p>
        </p:txBody>
      </p:sp>
      <p:sp>
        <p:nvSpPr>
          <p:cNvPr name="TextBox 9" id="9"/>
          <p:cNvSpPr txBox="true"/>
          <p:nvPr/>
        </p:nvSpPr>
        <p:spPr>
          <a:xfrm rot="0">
            <a:off x="3765299" y="1527328"/>
            <a:ext cx="10757401" cy="678892"/>
          </a:xfrm>
          <a:prstGeom prst="rect">
            <a:avLst/>
          </a:prstGeom>
        </p:spPr>
        <p:txBody>
          <a:bodyPr anchor="t" rtlCol="false" tIns="0" lIns="0" bIns="0" rIns="0">
            <a:spAutoFit/>
          </a:bodyPr>
          <a:lstStyle/>
          <a:p>
            <a:pPr algn="l">
              <a:lnSpc>
                <a:spcPts val="4771"/>
              </a:lnSpc>
            </a:pPr>
            <a:r>
              <a:rPr lang="en-US" sz="4970" b="true">
                <a:solidFill>
                  <a:srgbClr val="FFFFFF"/>
                </a:solidFill>
                <a:latin typeface="Poppins Bold"/>
                <a:ea typeface="Poppins Bold"/>
                <a:cs typeface="Poppins Bold"/>
                <a:sym typeface="Poppins Bold"/>
              </a:rPr>
              <a:t>BUILD THE MINING ARCHITECTURE</a:t>
            </a:r>
          </a:p>
        </p:txBody>
      </p:sp>
      <p:sp>
        <p:nvSpPr>
          <p:cNvPr name="TextBox 10" id="10"/>
          <p:cNvSpPr txBox="true"/>
          <p:nvPr/>
        </p:nvSpPr>
        <p:spPr>
          <a:xfrm rot="0">
            <a:off x="11576185" y="3140944"/>
            <a:ext cx="6711815" cy="2568575"/>
          </a:xfrm>
          <a:prstGeom prst="rect">
            <a:avLst/>
          </a:prstGeom>
        </p:spPr>
        <p:txBody>
          <a:bodyPr anchor="t" rtlCol="false" tIns="0" lIns="0" bIns="0" rIns="0">
            <a:spAutoFit/>
          </a:bodyPr>
          <a:lstStyle/>
          <a:p>
            <a:pPr algn="l" marL="431801" indent="-215900" lvl="1">
              <a:lnSpc>
                <a:spcPts val="3400"/>
              </a:lnSpc>
              <a:buFont typeface="Arial"/>
              <a:buChar char="•"/>
            </a:pPr>
            <a:r>
              <a:rPr lang="en-US" sz="2000">
                <a:solidFill>
                  <a:srgbClr val="FFFFFF"/>
                </a:solidFill>
                <a:latin typeface="Poppins"/>
                <a:ea typeface="Poppins"/>
                <a:cs typeface="Poppins"/>
                <a:sym typeface="Poppins"/>
              </a:rPr>
              <a:t>Radio Antennas and Relay satellites</a:t>
            </a:r>
          </a:p>
          <a:p>
            <a:pPr algn="l" marL="431801" indent="-215900" lvl="1">
              <a:lnSpc>
                <a:spcPts val="3400"/>
              </a:lnSpc>
              <a:buFont typeface="Arial"/>
              <a:buChar char="•"/>
            </a:pPr>
            <a:r>
              <a:rPr lang="en-US" sz="2000">
                <a:solidFill>
                  <a:srgbClr val="FFFFFF"/>
                </a:solidFill>
                <a:latin typeface="Poppins"/>
                <a:ea typeface="Poppins"/>
                <a:cs typeface="Poppins"/>
                <a:sym typeface="Poppins"/>
              </a:rPr>
              <a:t>Mining Probes will indepently perform routine tasks</a:t>
            </a:r>
          </a:p>
          <a:p>
            <a:pPr algn="l" marL="431801" indent="-215900" lvl="1">
              <a:lnSpc>
                <a:spcPts val="3400"/>
              </a:lnSpc>
              <a:buFont typeface="Arial"/>
              <a:buChar char="•"/>
            </a:pPr>
            <a:r>
              <a:rPr lang="en-US" sz="2000">
                <a:solidFill>
                  <a:srgbClr val="FFFFFF"/>
                </a:solidFill>
                <a:latin typeface="Poppins"/>
                <a:ea typeface="Poppins"/>
                <a:cs typeface="Poppins"/>
                <a:sym typeface="Poppins"/>
              </a:rPr>
              <a:t>Equipment Failure: monitoring of temperature, power motors and propulsion.</a:t>
            </a:r>
          </a:p>
          <a:p>
            <a:pPr algn="l" marL="431801" indent="-215900" lvl="1">
              <a:lnSpc>
                <a:spcPts val="3400"/>
              </a:lnSpc>
              <a:buFont typeface="Arial"/>
              <a:buChar char="•"/>
            </a:pPr>
            <a:r>
              <a:rPr lang="en-US" sz="2000">
                <a:solidFill>
                  <a:srgbClr val="FFFFFF"/>
                </a:solidFill>
                <a:latin typeface="Poppins"/>
                <a:ea typeface="Poppins"/>
                <a:cs typeface="Poppins"/>
                <a:sym typeface="Poppins"/>
              </a:rPr>
              <a:t>Backup systems and auto-fault detection</a:t>
            </a:r>
          </a:p>
        </p:txBody>
      </p:sp>
      <p:sp>
        <p:nvSpPr>
          <p:cNvPr name="TextBox 11" id="11"/>
          <p:cNvSpPr txBox="true"/>
          <p:nvPr/>
        </p:nvSpPr>
        <p:spPr>
          <a:xfrm rot="0">
            <a:off x="12129356" y="2649805"/>
            <a:ext cx="3366687" cy="358775"/>
          </a:xfrm>
          <a:prstGeom prst="rect">
            <a:avLst/>
          </a:prstGeom>
        </p:spPr>
        <p:txBody>
          <a:bodyPr anchor="t" rtlCol="false" tIns="0" lIns="0" bIns="0" rIns="0">
            <a:spAutoFit/>
          </a:bodyPr>
          <a:lstStyle/>
          <a:p>
            <a:pPr algn="l">
              <a:lnSpc>
                <a:spcPts val="2799"/>
              </a:lnSpc>
              <a:spcBef>
                <a:spcPct val="0"/>
              </a:spcBef>
            </a:pPr>
            <a:r>
              <a:rPr lang="en-US" b="true" sz="1999">
                <a:solidFill>
                  <a:srgbClr val="FFFFFF"/>
                </a:solidFill>
                <a:latin typeface="Poppins Bold"/>
                <a:ea typeface="Poppins Bold"/>
                <a:cs typeface="Poppins Bold"/>
                <a:sym typeface="Poppins Bold"/>
              </a:rPr>
              <a:t>Communication</a:t>
            </a:r>
          </a:p>
        </p:txBody>
      </p:sp>
      <p:sp>
        <p:nvSpPr>
          <p:cNvPr name="TextBox 12" id="12"/>
          <p:cNvSpPr txBox="true"/>
          <p:nvPr/>
        </p:nvSpPr>
        <p:spPr>
          <a:xfrm rot="0">
            <a:off x="0" y="5019675"/>
            <a:ext cx="7233892" cy="2139950"/>
          </a:xfrm>
          <a:prstGeom prst="rect">
            <a:avLst/>
          </a:prstGeom>
        </p:spPr>
        <p:txBody>
          <a:bodyPr anchor="t" rtlCol="false" tIns="0" lIns="0" bIns="0" rIns="0">
            <a:spAutoFit/>
          </a:bodyPr>
          <a:lstStyle/>
          <a:p>
            <a:pPr algn="l" marL="431801" indent="-215900" lvl="1">
              <a:lnSpc>
                <a:spcPts val="3400"/>
              </a:lnSpc>
              <a:buFont typeface="Arial"/>
              <a:buChar char="•"/>
            </a:pPr>
            <a:r>
              <a:rPr lang="en-US" sz="2000">
                <a:solidFill>
                  <a:srgbClr val="FFFFFF"/>
                </a:solidFill>
                <a:latin typeface="Poppins"/>
                <a:ea typeface="Poppins"/>
                <a:cs typeface="Poppins"/>
                <a:sym typeface="Poppins"/>
              </a:rPr>
              <a:t>Refining - Done on the Carrier (Majorly)</a:t>
            </a:r>
          </a:p>
          <a:p>
            <a:pPr algn="l" marL="431801" indent="-215900" lvl="1">
              <a:lnSpc>
                <a:spcPts val="3400"/>
              </a:lnSpc>
              <a:buFont typeface="Arial"/>
              <a:buChar char="•"/>
            </a:pPr>
            <a:r>
              <a:rPr lang="en-US" sz="2000">
                <a:solidFill>
                  <a:srgbClr val="FFFFFF"/>
                </a:solidFill>
                <a:latin typeface="Poppins"/>
                <a:ea typeface="Poppins"/>
                <a:cs typeface="Poppins"/>
                <a:sym typeface="Poppins"/>
              </a:rPr>
              <a:t>Some is done during extraction itself using magnets &amp; other tech</a:t>
            </a:r>
          </a:p>
          <a:p>
            <a:pPr algn="l" marL="431801" indent="-215900" lvl="1">
              <a:lnSpc>
                <a:spcPts val="3400"/>
              </a:lnSpc>
              <a:buFont typeface="Arial"/>
              <a:buChar char="•"/>
            </a:pPr>
            <a:r>
              <a:rPr lang="en-US" sz="2000">
                <a:solidFill>
                  <a:srgbClr val="FFFFFF"/>
                </a:solidFill>
                <a:latin typeface="Poppins"/>
                <a:ea typeface="Poppins"/>
                <a:cs typeface="Poppins"/>
                <a:sym typeface="Poppins"/>
              </a:rPr>
              <a:t>Semi-refined ores taken to lunar base for refining using solar mirrors to remove sludge from ores</a:t>
            </a:r>
          </a:p>
        </p:txBody>
      </p:sp>
      <p:sp>
        <p:nvSpPr>
          <p:cNvPr name="TextBox 13" id="13"/>
          <p:cNvSpPr txBox="true"/>
          <p:nvPr/>
        </p:nvSpPr>
        <p:spPr>
          <a:xfrm rot="0">
            <a:off x="0" y="7150100"/>
            <a:ext cx="7233892" cy="1711325"/>
          </a:xfrm>
          <a:prstGeom prst="rect">
            <a:avLst/>
          </a:prstGeom>
        </p:spPr>
        <p:txBody>
          <a:bodyPr anchor="t" rtlCol="false" tIns="0" lIns="0" bIns="0" rIns="0">
            <a:spAutoFit/>
          </a:bodyPr>
          <a:lstStyle/>
          <a:p>
            <a:pPr algn="l" marL="431801" indent="-215900" lvl="1">
              <a:lnSpc>
                <a:spcPts val="3400"/>
              </a:lnSpc>
              <a:buFont typeface="Arial"/>
              <a:buChar char="•"/>
            </a:pPr>
            <a:r>
              <a:rPr lang="en-US" sz="2000">
                <a:solidFill>
                  <a:srgbClr val="FFFFFF"/>
                </a:solidFill>
                <a:latin typeface="Poppins"/>
                <a:ea typeface="Poppins"/>
                <a:cs typeface="Poppins"/>
                <a:sym typeface="Poppins"/>
              </a:rPr>
              <a:t>Optical navigation</a:t>
            </a:r>
          </a:p>
          <a:p>
            <a:pPr algn="l" marL="431801" indent="-215900" lvl="1">
              <a:lnSpc>
                <a:spcPts val="3400"/>
              </a:lnSpc>
              <a:buFont typeface="Arial"/>
              <a:buChar char="•"/>
            </a:pPr>
            <a:r>
              <a:rPr lang="en-US" sz="2000">
                <a:solidFill>
                  <a:srgbClr val="FFFFFF"/>
                </a:solidFill>
                <a:latin typeface="Poppins"/>
                <a:ea typeface="Poppins"/>
                <a:cs typeface="Poppins"/>
                <a:sym typeface="Poppins"/>
              </a:rPr>
              <a:t>LiDAR: Laser pulses → generate surface maps</a:t>
            </a:r>
          </a:p>
          <a:p>
            <a:pPr algn="l" marL="431801" indent="-215900" lvl="1">
              <a:lnSpc>
                <a:spcPts val="3400"/>
              </a:lnSpc>
              <a:buFont typeface="Arial"/>
              <a:buChar char="•"/>
            </a:pPr>
            <a:r>
              <a:rPr lang="en-US" sz="2000">
                <a:solidFill>
                  <a:srgbClr val="FFFFFF"/>
                </a:solidFill>
                <a:latin typeface="Poppins"/>
                <a:ea typeface="Poppins"/>
                <a:cs typeface="Poppins"/>
                <a:sym typeface="Poppins"/>
              </a:rPr>
              <a:t>Inertial Measurement Units(IMUs): Gyroscopes &amp; accelerometers</a:t>
            </a:r>
          </a:p>
        </p:txBody>
      </p:sp>
      <p:sp>
        <p:nvSpPr>
          <p:cNvPr name="TextBox 14" id="14"/>
          <p:cNvSpPr txBox="true"/>
          <p:nvPr/>
        </p:nvSpPr>
        <p:spPr>
          <a:xfrm rot="0">
            <a:off x="11576185" y="5712694"/>
            <a:ext cx="6711815" cy="2568575"/>
          </a:xfrm>
          <a:prstGeom prst="rect">
            <a:avLst/>
          </a:prstGeom>
        </p:spPr>
        <p:txBody>
          <a:bodyPr anchor="t" rtlCol="false" tIns="0" lIns="0" bIns="0" rIns="0">
            <a:spAutoFit/>
          </a:bodyPr>
          <a:lstStyle/>
          <a:p>
            <a:pPr algn="l" marL="431801" indent="-215900" lvl="1">
              <a:lnSpc>
                <a:spcPts val="3400"/>
              </a:lnSpc>
              <a:buFont typeface="Arial"/>
              <a:buChar char="•"/>
            </a:pPr>
            <a:r>
              <a:rPr lang="en-US" sz="2000">
                <a:solidFill>
                  <a:srgbClr val="FFFFFF"/>
                </a:solidFill>
                <a:latin typeface="Poppins"/>
                <a:ea typeface="Poppins"/>
                <a:cs typeface="Poppins"/>
                <a:sym typeface="Poppins"/>
              </a:rPr>
              <a:t>Using Delay/Disruption Tolerant Networking (DTN)</a:t>
            </a:r>
          </a:p>
          <a:p>
            <a:pPr algn="l" marL="431801" indent="-215900" lvl="1">
              <a:lnSpc>
                <a:spcPts val="3400"/>
              </a:lnSpc>
              <a:buFont typeface="Arial"/>
              <a:buChar char="•"/>
            </a:pPr>
            <a:r>
              <a:rPr lang="en-US" sz="2000">
                <a:solidFill>
                  <a:srgbClr val="FFFFFF"/>
                </a:solidFill>
                <a:latin typeface="Poppins"/>
                <a:ea typeface="Poppins"/>
                <a:cs typeface="Poppins"/>
                <a:sym typeface="Poppins"/>
              </a:rPr>
              <a:t>The rover / spacecraft could carry:</a:t>
            </a:r>
          </a:p>
          <a:p>
            <a:pPr algn="l" marL="431801" indent="-215900" lvl="1">
              <a:lnSpc>
                <a:spcPts val="3400"/>
              </a:lnSpc>
              <a:buFont typeface="Arial"/>
              <a:buChar char="•"/>
            </a:pPr>
            <a:r>
              <a:rPr lang="en-US" sz="2000">
                <a:solidFill>
                  <a:srgbClr val="FFFFFF"/>
                </a:solidFill>
                <a:latin typeface="Poppins"/>
                <a:ea typeface="Poppins"/>
                <a:cs typeface="Poppins"/>
                <a:sym typeface="Poppins"/>
              </a:rPr>
              <a:t>visible &amp; infrared spectrometers</a:t>
            </a:r>
          </a:p>
          <a:p>
            <a:pPr algn="l" marL="431801" indent="-215900" lvl="1">
              <a:lnSpc>
                <a:spcPts val="3400"/>
              </a:lnSpc>
              <a:buFont typeface="Arial"/>
              <a:buChar char="•"/>
            </a:pPr>
            <a:r>
              <a:rPr lang="en-US" sz="2000">
                <a:solidFill>
                  <a:srgbClr val="FFFFFF"/>
                </a:solidFill>
                <a:latin typeface="Poppins"/>
                <a:ea typeface="Poppins"/>
                <a:cs typeface="Poppins"/>
                <a:sym typeface="Poppins"/>
              </a:rPr>
              <a:t>X-ray fluorescence (XRF)</a:t>
            </a:r>
          </a:p>
          <a:p>
            <a:pPr algn="l" marL="431801" indent="-215900" lvl="1">
              <a:lnSpc>
                <a:spcPts val="3400"/>
              </a:lnSpc>
              <a:buFont typeface="Arial"/>
              <a:buChar char="•"/>
            </a:pPr>
            <a:r>
              <a:rPr lang="en-US" sz="2000">
                <a:solidFill>
                  <a:srgbClr val="FFFFFF"/>
                </a:solidFill>
                <a:latin typeface="Poppins"/>
                <a:ea typeface="Poppins"/>
                <a:cs typeface="Poppins"/>
                <a:sym typeface="Poppins"/>
              </a:rPr>
              <a:t>Neutron &amp; gamma-ray instruments</a:t>
            </a:r>
          </a:p>
          <a:p>
            <a:pPr algn="l" marL="431801" indent="-215900" lvl="1">
              <a:lnSpc>
                <a:spcPts val="3400"/>
              </a:lnSpc>
              <a:buFont typeface="Arial"/>
              <a:buChar char="•"/>
            </a:pPr>
            <a:r>
              <a:rPr lang="en-US" sz="2000">
                <a:solidFill>
                  <a:srgbClr val="FFFFFF"/>
                </a:solidFill>
                <a:latin typeface="Poppins"/>
                <a:ea typeface="Poppins"/>
                <a:cs typeface="Poppins"/>
                <a:sym typeface="Poppins"/>
              </a:rPr>
              <a:t>Radars, cameras &amp; thermal sensors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111F"/>
        </a:solidFill>
      </p:bgPr>
    </p:bg>
    <p:spTree>
      <p:nvGrpSpPr>
        <p:cNvPr id="1" name=""/>
        <p:cNvGrpSpPr/>
        <p:nvPr/>
      </p:nvGrpSpPr>
      <p:grpSpPr>
        <a:xfrm>
          <a:off x="0" y="0"/>
          <a:ext cx="0" cy="0"/>
          <a:chOff x="0" y="0"/>
          <a:chExt cx="0" cy="0"/>
        </a:xfrm>
      </p:grpSpPr>
      <p:sp>
        <p:nvSpPr>
          <p:cNvPr name="Freeform 2" id="2"/>
          <p:cNvSpPr/>
          <p:nvPr/>
        </p:nvSpPr>
        <p:spPr>
          <a:xfrm flipH="false" flipV="false" rot="0">
            <a:off x="629099" y="0"/>
            <a:ext cx="17197967" cy="10287000"/>
          </a:xfrm>
          <a:custGeom>
            <a:avLst/>
            <a:gdLst/>
            <a:ahLst/>
            <a:cxnLst/>
            <a:rect r="r" b="b" t="t" l="l"/>
            <a:pathLst>
              <a:path h="10287000" w="17197967">
                <a:moveTo>
                  <a:pt x="0" y="0"/>
                </a:moveTo>
                <a:lnTo>
                  <a:pt x="17197967" y="0"/>
                </a:lnTo>
                <a:lnTo>
                  <a:pt x="17197967" y="10287000"/>
                </a:lnTo>
                <a:lnTo>
                  <a:pt x="0" y="10287000"/>
                </a:lnTo>
                <a:lnTo>
                  <a:pt x="0" y="0"/>
                </a:lnTo>
                <a:close/>
              </a:path>
            </a:pathLst>
          </a:custGeom>
          <a:blipFill>
            <a:blip r:embed="rId2"/>
            <a:stretch>
              <a:fillRect l="0" t="-11364" r="0" b="-89"/>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111F"/>
        </a:solidFill>
      </p:bgPr>
    </p:bg>
    <p:spTree>
      <p:nvGrpSpPr>
        <p:cNvPr id="1" name=""/>
        <p:cNvGrpSpPr/>
        <p:nvPr/>
      </p:nvGrpSpPr>
      <p:grpSpPr>
        <a:xfrm>
          <a:off x="0" y="0"/>
          <a:ext cx="0" cy="0"/>
          <a:chOff x="0" y="0"/>
          <a:chExt cx="0" cy="0"/>
        </a:xfrm>
      </p:grpSpPr>
      <p:sp>
        <p:nvSpPr>
          <p:cNvPr name="Freeform 2" id="2"/>
          <p:cNvSpPr/>
          <p:nvPr/>
        </p:nvSpPr>
        <p:spPr>
          <a:xfrm flipH="false" flipV="false" rot="0">
            <a:off x="1428750" y="0"/>
            <a:ext cx="15430500" cy="10287000"/>
          </a:xfrm>
          <a:custGeom>
            <a:avLst/>
            <a:gdLst/>
            <a:ahLst/>
            <a:cxnLst/>
            <a:rect r="r" b="b" t="t" l="l"/>
            <a:pathLst>
              <a:path h="10287000" w="15430500">
                <a:moveTo>
                  <a:pt x="0" y="0"/>
                </a:moveTo>
                <a:lnTo>
                  <a:pt x="15430500" y="0"/>
                </a:lnTo>
                <a:lnTo>
                  <a:pt x="15430500" y="10287000"/>
                </a:lnTo>
                <a:lnTo>
                  <a:pt x="0" y="10287000"/>
                </a:lnTo>
                <a:lnTo>
                  <a:pt x="0" y="0"/>
                </a:lnTo>
                <a:close/>
              </a:path>
            </a:pathLst>
          </a:custGeom>
          <a:blipFill>
            <a:blip r:embed="rId2"/>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1566109" y="6316662"/>
            <a:ext cx="6274178" cy="2941638"/>
            <a:chOff x="0" y="0"/>
            <a:chExt cx="1535678" cy="720000"/>
          </a:xfrm>
        </p:grpSpPr>
        <p:sp>
          <p:nvSpPr>
            <p:cNvPr name="Freeform 3" id="3"/>
            <p:cNvSpPr/>
            <p:nvPr/>
          </p:nvSpPr>
          <p:spPr>
            <a:xfrm flipH="false" flipV="false" rot="0">
              <a:off x="0" y="0"/>
              <a:ext cx="1535678" cy="720000"/>
            </a:xfrm>
            <a:custGeom>
              <a:avLst/>
              <a:gdLst/>
              <a:ahLst/>
              <a:cxnLst/>
              <a:rect r="r" b="b" t="t" l="l"/>
              <a:pathLst>
                <a:path h="720000" w="1535678">
                  <a:moveTo>
                    <a:pt x="28380" y="0"/>
                  </a:moveTo>
                  <a:lnTo>
                    <a:pt x="1507297" y="0"/>
                  </a:lnTo>
                  <a:cubicBezTo>
                    <a:pt x="1514824" y="0"/>
                    <a:pt x="1522043" y="2990"/>
                    <a:pt x="1527365" y="8312"/>
                  </a:cubicBezTo>
                  <a:cubicBezTo>
                    <a:pt x="1532688" y="13635"/>
                    <a:pt x="1535678" y="20854"/>
                    <a:pt x="1535678" y="28380"/>
                  </a:cubicBezTo>
                  <a:lnTo>
                    <a:pt x="1535678" y="691619"/>
                  </a:lnTo>
                  <a:cubicBezTo>
                    <a:pt x="1535678" y="699146"/>
                    <a:pt x="1532688" y="706365"/>
                    <a:pt x="1527365" y="711687"/>
                  </a:cubicBezTo>
                  <a:cubicBezTo>
                    <a:pt x="1522043" y="717010"/>
                    <a:pt x="1514824" y="720000"/>
                    <a:pt x="1507297" y="720000"/>
                  </a:cubicBezTo>
                  <a:lnTo>
                    <a:pt x="28380" y="720000"/>
                  </a:lnTo>
                  <a:cubicBezTo>
                    <a:pt x="20854" y="720000"/>
                    <a:pt x="13635" y="717010"/>
                    <a:pt x="8312" y="711687"/>
                  </a:cubicBezTo>
                  <a:cubicBezTo>
                    <a:pt x="2990" y="706365"/>
                    <a:pt x="0" y="699146"/>
                    <a:pt x="0" y="691619"/>
                  </a:cubicBezTo>
                  <a:lnTo>
                    <a:pt x="0" y="28380"/>
                  </a:lnTo>
                  <a:cubicBezTo>
                    <a:pt x="0" y="20854"/>
                    <a:pt x="2990" y="13635"/>
                    <a:pt x="8312" y="8312"/>
                  </a:cubicBezTo>
                  <a:cubicBezTo>
                    <a:pt x="13635" y="2990"/>
                    <a:pt x="20854" y="0"/>
                    <a:pt x="28380" y="0"/>
                  </a:cubicBezTo>
                  <a:close/>
                </a:path>
              </a:pathLst>
            </a:custGeom>
            <a:blipFill>
              <a:blip r:embed="rId2"/>
              <a:stretch>
                <a:fillRect l="0" t="-8628" r="0" b="-8628"/>
              </a:stretch>
            </a:blipFill>
          </p:spPr>
        </p:sp>
      </p:grpSp>
      <p:sp>
        <p:nvSpPr>
          <p:cNvPr name="TextBox 4" id="4"/>
          <p:cNvSpPr txBox="true"/>
          <p:nvPr/>
        </p:nvSpPr>
        <p:spPr>
          <a:xfrm rot="0">
            <a:off x="491034" y="653736"/>
            <a:ext cx="5704117" cy="1110616"/>
          </a:xfrm>
          <a:prstGeom prst="rect">
            <a:avLst/>
          </a:prstGeom>
        </p:spPr>
        <p:txBody>
          <a:bodyPr anchor="t" rtlCol="false" tIns="0" lIns="0" bIns="0" rIns="0">
            <a:spAutoFit/>
          </a:bodyPr>
          <a:lstStyle/>
          <a:p>
            <a:pPr algn="l">
              <a:lnSpc>
                <a:spcPts val="7680"/>
              </a:lnSpc>
            </a:pPr>
            <a:r>
              <a:rPr lang="en-US" sz="8000" b="true">
                <a:solidFill>
                  <a:srgbClr val="FFFFFF"/>
                </a:solidFill>
                <a:latin typeface="Poppins Bold"/>
                <a:ea typeface="Poppins Bold"/>
                <a:cs typeface="Poppins Bold"/>
                <a:sym typeface="Poppins Bold"/>
              </a:rPr>
              <a:t>SubPart B</a:t>
            </a:r>
          </a:p>
        </p:txBody>
      </p:sp>
      <p:sp>
        <p:nvSpPr>
          <p:cNvPr name="TextBox 5" id="5"/>
          <p:cNvSpPr txBox="true"/>
          <p:nvPr/>
        </p:nvSpPr>
        <p:spPr>
          <a:xfrm rot="0">
            <a:off x="1109748" y="3036346"/>
            <a:ext cx="6794607" cy="968375"/>
          </a:xfrm>
          <a:prstGeom prst="rect">
            <a:avLst/>
          </a:prstGeom>
        </p:spPr>
        <p:txBody>
          <a:bodyPr anchor="t" rtlCol="false" tIns="0" lIns="0" bIns="0" rIns="0">
            <a:spAutoFit/>
          </a:bodyPr>
          <a:lstStyle/>
          <a:p>
            <a:pPr algn="l" marL="496569" indent="-248284" lvl="1">
              <a:lnSpc>
                <a:spcPts val="3909"/>
              </a:lnSpc>
              <a:buFont typeface="Arial"/>
              <a:buChar char="•"/>
            </a:pPr>
            <a:r>
              <a:rPr lang="en-US" sz="2299">
                <a:solidFill>
                  <a:srgbClr val="FFFFFF"/>
                </a:solidFill>
                <a:latin typeface="Poppins"/>
                <a:ea typeface="Poppins"/>
                <a:cs typeface="Poppins"/>
                <a:sym typeface="Poppins"/>
              </a:rPr>
              <a:t>Fuel Cost → Expensive</a:t>
            </a:r>
          </a:p>
          <a:p>
            <a:pPr algn="l">
              <a:lnSpc>
                <a:spcPts val="3909"/>
              </a:lnSpc>
            </a:pPr>
          </a:p>
        </p:txBody>
      </p:sp>
      <p:sp>
        <p:nvSpPr>
          <p:cNvPr name="TextBox 6" id="6"/>
          <p:cNvSpPr txBox="true"/>
          <p:nvPr/>
        </p:nvSpPr>
        <p:spPr>
          <a:xfrm rot="0">
            <a:off x="1028700" y="2138201"/>
            <a:ext cx="6208454" cy="564770"/>
          </a:xfrm>
          <a:prstGeom prst="rect">
            <a:avLst/>
          </a:prstGeom>
        </p:spPr>
        <p:txBody>
          <a:bodyPr anchor="t" rtlCol="false" tIns="0" lIns="0" bIns="0" rIns="0">
            <a:spAutoFit/>
          </a:bodyPr>
          <a:lstStyle/>
          <a:p>
            <a:pPr algn="l">
              <a:lnSpc>
                <a:spcPts val="4446"/>
              </a:lnSpc>
              <a:spcBef>
                <a:spcPct val="0"/>
              </a:spcBef>
            </a:pPr>
            <a:r>
              <a:rPr lang="en-US" b="true" sz="3176">
                <a:solidFill>
                  <a:srgbClr val="FFFFFF"/>
                </a:solidFill>
                <a:latin typeface="Poppins Bold"/>
                <a:ea typeface="Poppins Bold"/>
                <a:cs typeface="Poppins Bold"/>
                <a:sym typeface="Poppins Bold"/>
              </a:rPr>
              <a:t>Major Cost Drivers</a:t>
            </a:r>
          </a:p>
        </p:txBody>
      </p:sp>
      <p:sp>
        <p:nvSpPr>
          <p:cNvPr name="TextBox 7" id="7"/>
          <p:cNvSpPr txBox="true"/>
          <p:nvPr/>
        </p:nvSpPr>
        <p:spPr>
          <a:xfrm rot="0">
            <a:off x="9503824" y="7881636"/>
            <a:ext cx="5135819" cy="1565313"/>
          </a:xfrm>
          <a:prstGeom prst="rect">
            <a:avLst/>
          </a:prstGeom>
        </p:spPr>
        <p:txBody>
          <a:bodyPr anchor="t" rtlCol="false" tIns="0" lIns="0" bIns="0" rIns="0">
            <a:spAutoFit/>
          </a:bodyPr>
          <a:lstStyle/>
          <a:p>
            <a:pPr algn="l">
              <a:lnSpc>
                <a:spcPts val="6013"/>
              </a:lnSpc>
            </a:pPr>
            <a:r>
              <a:rPr lang="en-US" sz="4970" b="true">
                <a:solidFill>
                  <a:srgbClr val="FFFFFF"/>
                </a:solidFill>
                <a:latin typeface="Poppins Bold"/>
                <a:ea typeface="Poppins Bold"/>
                <a:cs typeface="Poppins Bold"/>
                <a:sym typeface="Poppins Bold"/>
              </a:rPr>
              <a:t>DESIGN FOR MINIMUM COST</a:t>
            </a:r>
          </a:p>
        </p:txBody>
      </p:sp>
      <p:sp>
        <p:nvSpPr>
          <p:cNvPr name="TextBox 8" id="8"/>
          <p:cNvSpPr txBox="true"/>
          <p:nvPr/>
        </p:nvSpPr>
        <p:spPr>
          <a:xfrm rot="0">
            <a:off x="1109748" y="3514873"/>
            <a:ext cx="6794607" cy="403225"/>
          </a:xfrm>
          <a:prstGeom prst="rect">
            <a:avLst/>
          </a:prstGeom>
        </p:spPr>
        <p:txBody>
          <a:bodyPr anchor="t" rtlCol="false" tIns="0" lIns="0" bIns="0" rIns="0">
            <a:spAutoFit/>
          </a:bodyPr>
          <a:lstStyle/>
          <a:p>
            <a:pPr algn="l">
              <a:lnSpc>
                <a:spcPts val="3230"/>
              </a:lnSpc>
            </a:pPr>
            <a:r>
              <a:rPr lang="en-US" sz="1900">
                <a:solidFill>
                  <a:srgbClr val="FFFFFF"/>
                </a:solidFill>
                <a:latin typeface="Poppins"/>
                <a:ea typeface="Poppins"/>
                <a:cs typeface="Poppins"/>
                <a:sym typeface="Poppins"/>
              </a:rPr>
              <a:t>HYBRID SYSTEM- (less fuel means less thrust tho)</a:t>
            </a:r>
          </a:p>
        </p:txBody>
      </p:sp>
      <p:sp>
        <p:nvSpPr>
          <p:cNvPr name="TextBox 9" id="9"/>
          <p:cNvSpPr txBox="true"/>
          <p:nvPr/>
        </p:nvSpPr>
        <p:spPr>
          <a:xfrm rot="0">
            <a:off x="1028700" y="5868987"/>
            <a:ext cx="6794607" cy="495300"/>
          </a:xfrm>
          <a:prstGeom prst="rect">
            <a:avLst/>
          </a:prstGeom>
        </p:spPr>
        <p:txBody>
          <a:bodyPr anchor="t" rtlCol="false" tIns="0" lIns="0" bIns="0" rIns="0">
            <a:spAutoFit/>
          </a:bodyPr>
          <a:lstStyle/>
          <a:p>
            <a:pPr algn="l" marL="518158" indent="-259079" lvl="1">
              <a:lnSpc>
                <a:spcPts val="4079"/>
              </a:lnSpc>
              <a:buFont typeface="Arial"/>
              <a:buChar char="•"/>
            </a:pPr>
            <a:r>
              <a:rPr lang="en-US" sz="2399">
                <a:solidFill>
                  <a:srgbClr val="FFFFFF"/>
                </a:solidFill>
                <a:latin typeface="Poppins"/>
                <a:ea typeface="Poppins"/>
                <a:cs typeface="Poppins"/>
                <a:sym typeface="Poppins"/>
              </a:rPr>
              <a:t>Transportation Cost</a:t>
            </a:r>
          </a:p>
        </p:txBody>
      </p:sp>
      <p:sp>
        <p:nvSpPr>
          <p:cNvPr name="TextBox 10" id="10"/>
          <p:cNvSpPr txBox="true"/>
          <p:nvPr/>
        </p:nvSpPr>
        <p:spPr>
          <a:xfrm rot="0">
            <a:off x="1364141" y="3850957"/>
            <a:ext cx="6794607" cy="403225"/>
          </a:xfrm>
          <a:prstGeom prst="rect">
            <a:avLst/>
          </a:prstGeom>
        </p:spPr>
        <p:txBody>
          <a:bodyPr anchor="t" rtlCol="false" tIns="0" lIns="0" bIns="0" rIns="0">
            <a:spAutoFit/>
          </a:bodyPr>
          <a:lstStyle/>
          <a:p>
            <a:pPr algn="l">
              <a:lnSpc>
                <a:spcPts val="3230"/>
              </a:lnSpc>
            </a:pPr>
            <a:r>
              <a:rPr lang="en-US" sz="1900">
                <a:solidFill>
                  <a:srgbClr val="FFFFFF"/>
                </a:solidFill>
                <a:latin typeface="Poppins"/>
                <a:ea typeface="Poppins"/>
                <a:cs typeface="Poppins"/>
                <a:sym typeface="Poppins"/>
              </a:rPr>
              <a:t>We solve that by making use of the water ice we mine </a:t>
            </a:r>
          </a:p>
        </p:txBody>
      </p:sp>
      <p:sp>
        <p:nvSpPr>
          <p:cNvPr name="TextBox 11" id="11"/>
          <p:cNvSpPr txBox="true"/>
          <p:nvPr/>
        </p:nvSpPr>
        <p:spPr>
          <a:xfrm rot="0">
            <a:off x="1125407" y="4345622"/>
            <a:ext cx="7354547" cy="1084453"/>
          </a:xfrm>
          <a:prstGeom prst="rect">
            <a:avLst/>
          </a:prstGeom>
        </p:spPr>
        <p:txBody>
          <a:bodyPr anchor="t" rtlCol="false" tIns="0" lIns="0" bIns="0" rIns="0">
            <a:spAutoFit/>
          </a:bodyPr>
          <a:lstStyle/>
          <a:p>
            <a:pPr algn="l">
              <a:lnSpc>
                <a:spcPts val="1691"/>
              </a:lnSpc>
            </a:pPr>
            <a:r>
              <a:rPr lang="en-US" sz="1900">
                <a:solidFill>
                  <a:srgbClr val="FFFFFF"/>
                </a:solidFill>
                <a:latin typeface="Poppins"/>
                <a:ea typeface="Poppins"/>
                <a:cs typeface="Poppins"/>
                <a:sym typeface="Poppins"/>
              </a:rPr>
              <a:t>(kind of like a Space Pump-- lookout for this in our buisness proposal)</a:t>
            </a:r>
          </a:p>
          <a:p>
            <a:pPr algn="l">
              <a:lnSpc>
                <a:spcPts val="1691"/>
              </a:lnSpc>
            </a:pPr>
          </a:p>
          <a:p>
            <a:pPr algn="l">
              <a:lnSpc>
                <a:spcPts val="1691"/>
              </a:lnSpc>
            </a:pPr>
            <a:r>
              <a:rPr lang="en-US" sz="1900">
                <a:solidFill>
                  <a:srgbClr val="FFFFFF"/>
                </a:solidFill>
                <a:latin typeface="Poppins"/>
                <a:ea typeface="Poppins"/>
                <a:cs typeface="Poppins"/>
                <a:sym typeface="Poppins"/>
              </a:rPr>
              <a:t>     We reduce fuel cost for refining by using solar mirrors and a centrifugation process</a:t>
            </a:r>
          </a:p>
        </p:txBody>
      </p:sp>
      <p:sp>
        <p:nvSpPr>
          <p:cNvPr name="TextBox 12" id="12"/>
          <p:cNvSpPr txBox="true"/>
          <p:nvPr/>
        </p:nvSpPr>
        <p:spPr>
          <a:xfrm rot="0">
            <a:off x="1028700" y="6332946"/>
            <a:ext cx="7130048" cy="3941953"/>
          </a:xfrm>
          <a:prstGeom prst="rect">
            <a:avLst/>
          </a:prstGeom>
        </p:spPr>
        <p:txBody>
          <a:bodyPr anchor="t" rtlCol="false" tIns="0" lIns="0" bIns="0" rIns="0">
            <a:spAutoFit/>
          </a:bodyPr>
          <a:lstStyle/>
          <a:p>
            <a:pPr algn="l">
              <a:lnSpc>
                <a:spcPts val="3437"/>
              </a:lnSpc>
            </a:pPr>
            <a:r>
              <a:rPr lang="en-US" sz="2022">
                <a:solidFill>
                  <a:srgbClr val="FFFFFF"/>
                </a:solidFill>
                <a:latin typeface="Poppins"/>
                <a:ea typeface="Poppins"/>
                <a:cs typeface="Poppins"/>
                <a:sym typeface="Poppins"/>
              </a:rPr>
              <a:t>Launching from Earth is EXPENSIVE</a:t>
            </a:r>
          </a:p>
          <a:p>
            <a:pPr algn="l">
              <a:lnSpc>
                <a:spcPts val="2757"/>
              </a:lnSpc>
            </a:pPr>
            <a:r>
              <a:rPr lang="en-US" sz="1622">
                <a:solidFill>
                  <a:srgbClr val="FFFFFF"/>
                </a:solidFill>
                <a:latin typeface="Poppins"/>
                <a:ea typeface="Poppins"/>
                <a:cs typeface="Poppins"/>
                <a:sym typeface="Poppins"/>
              </a:rPr>
              <a:t>·Surface gravity: 9.81 m/s², Escape velocity: 11.2 km/s, air resistance</a:t>
            </a:r>
          </a:p>
          <a:p>
            <a:pPr algn="l">
              <a:lnSpc>
                <a:spcPts val="2757"/>
              </a:lnSpc>
            </a:pPr>
            <a:r>
              <a:rPr lang="en-US" sz="1622">
                <a:solidFill>
                  <a:srgbClr val="FFFFFF"/>
                </a:solidFill>
                <a:latin typeface="Poppins"/>
                <a:ea typeface="Poppins"/>
                <a:cs typeface="Poppins"/>
                <a:sym typeface="Poppins"/>
              </a:rPr>
              <a:t>·Rockets need enormous amounts of fuel to lift themselves and their payload.</a:t>
            </a:r>
          </a:p>
          <a:p>
            <a:pPr algn="l">
              <a:lnSpc>
                <a:spcPts val="3437"/>
              </a:lnSpc>
            </a:pPr>
            <a:r>
              <a:rPr lang="en-US" sz="2022">
                <a:solidFill>
                  <a:srgbClr val="FFFFFF"/>
                </a:solidFill>
                <a:latin typeface="Poppins"/>
                <a:ea typeface="Poppins"/>
                <a:cs typeface="Poppins"/>
                <a:sym typeface="Poppins"/>
              </a:rPr>
              <a:t> Launching from the Moon however-</a:t>
            </a:r>
          </a:p>
          <a:p>
            <a:pPr algn="l">
              <a:lnSpc>
                <a:spcPts val="2757"/>
              </a:lnSpc>
            </a:pPr>
            <a:r>
              <a:rPr lang="en-US" sz="1622">
                <a:solidFill>
                  <a:srgbClr val="FFFFFF"/>
                </a:solidFill>
                <a:latin typeface="Poppins"/>
                <a:ea typeface="Poppins"/>
                <a:cs typeface="Poppins"/>
                <a:sym typeface="Poppins"/>
              </a:rPr>
              <a:t>·Surface gravity: 1.62 m/s² (about one-sixth of Earth's), Escape velocity: 2.38 km/s, Virtually no atmosphere, so almost no atmospheric drag.</a:t>
            </a:r>
          </a:p>
          <a:p>
            <a:pPr algn="l">
              <a:lnSpc>
                <a:spcPts val="2757"/>
              </a:lnSpc>
            </a:pPr>
            <a:r>
              <a:rPr lang="en-US" sz="1622">
                <a:solidFill>
                  <a:srgbClr val="FFFFFF"/>
                </a:solidFill>
                <a:latin typeface="Poppins"/>
                <a:ea typeface="Poppins"/>
                <a:cs typeface="Poppins"/>
                <a:sym typeface="Poppins"/>
              </a:rPr>
              <a:t>·A rocket needs much less velocity change to escape the Moon's gravity.</a:t>
            </a:r>
          </a:p>
          <a:p>
            <a:pPr algn="l">
              <a:lnSpc>
                <a:spcPts val="2757"/>
              </a:lnSpc>
            </a:pPr>
          </a:p>
        </p:txBody>
      </p:sp>
      <p:sp>
        <p:nvSpPr>
          <p:cNvPr name="TextBox 13" id="13"/>
          <p:cNvSpPr txBox="true"/>
          <p:nvPr/>
        </p:nvSpPr>
        <p:spPr>
          <a:xfrm rot="0">
            <a:off x="9968567" y="3985894"/>
            <a:ext cx="6794607" cy="473075"/>
          </a:xfrm>
          <a:prstGeom prst="rect">
            <a:avLst/>
          </a:prstGeom>
        </p:spPr>
        <p:txBody>
          <a:bodyPr anchor="t" rtlCol="false" tIns="0" lIns="0" bIns="0" rIns="0">
            <a:spAutoFit/>
          </a:bodyPr>
          <a:lstStyle/>
          <a:p>
            <a:pPr algn="l" marL="496569" indent="-248284" lvl="1">
              <a:lnSpc>
                <a:spcPts val="3909"/>
              </a:lnSpc>
              <a:buFont typeface="Arial"/>
              <a:buChar char="•"/>
            </a:pPr>
            <a:r>
              <a:rPr lang="en-US" sz="2299">
                <a:solidFill>
                  <a:srgbClr val="FFFFFF"/>
                </a:solidFill>
                <a:latin typeface="Poppins"/>
                <a:ea typeface="Poppins"/>
                <a:cs typeface="Poppins"/>
                <a:sym typeface="Poppins"/>
              </a:rPr>
              <a:t>Making a Lunar Base will be Expensive</a:t>
            </a:r>
          </a:p>
        </p:txBody>
      </p:sp>
      <p:sp>
        <p:nvSpPr>
          <p:cNvPr name="TextBox 14" id="14"/>
          <p:cNvSpPr txBox="true"/>
          <p:nvPr/>
        </p:nvSpPr>
        <p:spPr>
          <a:xfrm rot="0">
            <a:off x="10122680" y="4617276"/>
            <a:ext cx="6794607" cy="812800"/>
          </a:xfrm>
          <a:prstGeom prst="rect">
            <a:avLst/>
          </a:prstGeom>
        </p:spPr>
        <p:txBody>
          <a:bodyPr anchor="t" rtlCol="false" tIns="0" lIns="0" bIns="0" rIns="0">
            <a:spAutoFit/>
          </a:bodyPr>
          <a:lstStyle/>
          <a:p>
            <a:pPr algn="l">
              <a:lnSpc>
                <a:spcPts val="3230"/>
              </a:lnSpc>
            </a:pPr>
            <a:r>
              <a:rPr lang="en-US" sz="1900">
                <a:solidFill>
                  <a:srgbClr val="FFFFFF"/>
                </a:solidFill>
                <a:latin typeface="Poppins"/>
                <a:ea typeface="Poppins"/>
                <a:cs typeface="Poppins"/>
                <a:sym typeface="Poppins"/>
              </a:rPr>
              <a:t>Hence we proposed integration of our refining systems in our carriers initially, until we get some capital flowing</a:t>
            </a:r>
          </a:p>
        </p:txBody>
      </p:sp>
      <p:sp>
        <p:nvSpPr>
          <p:cNvPr name="TextBox 15" id="15"/>
          <p:cNvSpPr txBox="true"/>
          <p:nvPr/>
        </p:nvSpPr>
        <p:spPr>
          <a:xfrm rot="0">
            <a:off x="9968567" y="827754"/>
            <a:ext cx="6794607" cy="473075"/>
          </a:xfrm>
          <a:prstGeom prst="rect">
            <a:avLst/>
          </a:prstGeom>
        </p:spPr>
        <p:txBody>
          <a:bodyPr anchor="t" rtlCol="false" tIns="0" lIns="0" bIns="0" rIns="0">
            <a:spAutoFit/>
          </a:bodyPr>
          <a:lstStyle/>
          <a:p>
            <a:pPr algn="l" marL="496569" indent="-248284" lvl="1">
              <a:lnSpc>
                <a:spcPts val="3909"/>
              </a:lnSpc>
              <a:buFont typeface="Arial"/>
              <a:buChar char="•"/>
            </a:pPr>
            <a:r>
              <a:rPr lang="en-US" sz="2299">
                <a:solidFill>
                  <a:srgbClr val="FFFFFF"/>
                </a:solidFill>
                <a:latin typeface="Poppins"/>
                <a:ea typeface="Poppins"/>
                <a:cs typeface="Poppins"/>
                <a:sym typeface="Poppins"/>
              </a:rPr>
              <a:t>Communication Cost</a:t>
            </a:r>
          </a:p>
        </p:txBody>
      </p:sp>
      <p:sp>
        <p:nvSpPr>
          <p:cNvPr name="TextBox 16" id="16"/>
          <p:cNvSpPr txBox="true"/>
          <p:nvPr/>
        </p:nvSpPr>
        <p:spPr>
          <a:xfrm rot="0">
            <a:off x="10122680" y="1263110"/>
            <a:ext cx="6794607" cy="1631950"/>
          </a:xfrm>
          <a:prstGeom prst="rect">
            <a:avLst/>
          </a:prstGeom>
        </p:spPr>
        <p:txBody>
          <a:bodyPr anchor="t" rtlCol="false" tIns="0" lIns="0" bIns="0" rIns="0">
            <a:spAutoFit/>
          </a:bodyPr>
          <a:lstStyle/>
          <a:p>
            <a:pPr algn="l">
              <a:lnSpc>
                <a:spcPts val="3230"/>
              </a:lnSpc>
            </a:pPr>
            <a:r>
              <a:rPr lang="en-US" sz="1900">
                <a:solidFill>
                  <a:srgbClr val="FFFFFF"/>
                </a:solidFill>
                <a:latin typeface="Poppins"/>
                <a:ea typeface="Poppins"/>
                <a:cs typeface="Poppins"/>
                <a:sym typeface="Poppins"/>
              </a:rPr>
              <a:t>Instead of sending multiple sattelites in space to keep track of our carriers and probes, we will integrate them within our carriers which will result in more targeted communication.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6782030" y="2665242"/>
            <a:ext cx="4342292" cy="434229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1007" y="0"/>
                  </a:moveTo>
                  <a:lnTo>
                    <a:pt x="771793" y="0"/>
                  </a:lnTo>
                  <a:cubicBezTo>
                    <a:pt x="794441" y="0"/>
                    <a:pt x="812800" y="18359"/>
                    <a:pt x="812800" y="41007"/>
                  </a:cubicBezTo>
                  <a:lnTo>
                    <a:pt x="812800" y="771793"/>
                  </a:lnTo>
                  <a:cubicBezTo>
                    <a:pt x="812800" y="794441"/>
                    <a:pt x="794441" y="812800"/>
                    <a:pt x="771793" y="812800"/>
                  </a:cubicBezTo>
                  <a:lnTo>
                    <a:pt x="41007" y="812800"/>
                  </a:lnTo>
                  <a:cubicBezTo>
                    <a:pt x="18359" y="812800"/>
                    <a:pt x="0" y="794441"/>
                    <a:pt x="0" y="771793"/>
                  </a:cubicBezTo>
                  <a:lnTo>
                    <a:pt x="0" y="41007"/>
                  </a:lnTo>
                  <a:cubicBezTo>
                    <a:pt x="0" y="18359"/>
                    <a:pt x="18359" y="0"/>
                    <a:pt x="41007" y="0"/>
                  </a:cubicBezTo>
                  <a:close/>
                </a:path>
              </a:pathLst>
            </a:custGeom>
            <a:blipFill>
              <a:blip r:embed="rId2"/>
              <a:stretch>
                <a:fillRect l="-18403" t="0" r="-18403" b="0"/>
              </a:stretch>
            </a:blipFill>
          </p:spPr>
        </p:sp>
      </p:grpSp>
      <p:sp>
        <p:nvSpPr>
          <p:cNvPr name="TextBox 4" id="4"/>
          <p:cNvSpPr txBox="true"/>
          <p:nvPr/>
        </p:nvSpPr>
        <p:spPr>
          <a:xfrm rot="0">
            <a:off x="565649" y="917345"/>
            <a:ext cx="7520191" cy="723870"/>
          </a:xfrm>
          <a:prstGeom prst="rect">
            <a:avLst/>
          </a:prstGeom>
        </p:spPr>
        <p:txBody>
          <a:bodyPr anchor="t" rtlCol="false" tIns="0" lIns="0" bIns="0" rIns="0">
            <a:spAutoFit/>
          </a:bodyPr>
          <a:lstStyle/>
          <a:p>
            <a:pPr algn="l">
              <a:lnSpc>
                <a:spcPts val="5055"/>
              </a:lnSpc>
            </a:pPr>
            <a:r>
              <a:rPr lang="en-US" sz="5266" b="true">
                <a:solidFill>
                  <a:srgbClr val="FFFFFF"/>
                </a:solidFill>
                <a:latin typeface="Poppins Bold"/>
                <a:ea typeface="Poppins Bold"/>
                <a:cs typeface="Poppins Bold"/>
                <a:sym typeface="Poppins Bold"/>
              </a:rPr>
              <a:t>What are we mining?</a:t>
            </a:r>
          </a:p>
        </p:txBody>
      </p:sp>
      <p:sp>
        <p:nvSpPr>
          <p:cNvPr name="TextBox 5" id="5"/>
          <p:cNvSpPr txBox="true"/>
          <p:nvPr/>
        </p:nvSpPr>
        <p:spPr>
          <a:xfrm rot="0">
            <a:off x="867306" y="2756670"/>
            <a:ext cx="5314325" cy="518405"/>
          </a:xfrm>
          <a:prstGeom prst="rect">
            <a:avLst/>
          </a:prstGeom>
        </p:spPr>
        <p:txBody>
          <a:bodyPr anchor="t" rtlCol="false" tIns="0" lIns="0" bIns="0" rIns="0">
            <a:spAutoFit/>
          </a:bodyPr>
          <a:lstStyle/>
          <a:p>
            <a:pPr algn="just">
              <a:lnSpc>
                <a:spcPts val="4233"/>
              </a:lnSpc>
            </a:pPr>
            <a:r>
              <a:rPr lang="en-US" sz="2490">
                <a:solidFill>
                  <a:srgbClr val="FFFFFF"/>
                </a:solidFill>
                <a:latin typeface="Poppins"/>
                <a:ea typeface="Poppins"/>
                <a:cs typeface="Poppins"/>
                <a:sym typeface="Poppins"/>
              </a:rPr>
              <a:t>Available Platinum, nickel &amp; iron</a:t>
            </a:r>
          </a:p>
        </p:txBody>
      </p:sp>
      <p:sp>
        <p:nvSpPr>
          <p:cNvPr name="TextBox 6" id="6"/>
          <p:cNvSpPr txBox="true"/>
          <p:nvPr/>
        </p:nvSpPr>
        <p:spPr>
          <a:xfrm rot="0">
            <a:off x="867306" y="1667630"/>
            <a:ext cx="2111947" cy="1044150"/>
          </a:xfrm>
          <a:prstGeom prst="rect">
            <a:avLst/>
          </a:prstGeom>
        </p:spPr>
        <p:txBody>
          <a:bodyPr anchor="t" rtlCol="false" tIns="0" lIns="0" bIns="0" rIns="0">
            <a:spAutoFit/>
          </a:bodyPr>
          <a:lstStyle/>
          <a:p>
            <a:pPr algn="l">
              <a:lnSpc>
                <a:spcPts val="4103"/>
              </a:lnSpc>
            </a:pPr>
            <a:r>
              <a:rPr lang="en-US" sz="2930" b="true">
                <a:solidFill>
                  <a:srgbClr val="FFFFFF"/>
                </a:solidFill>
                <a:latin typeface="Poppins Bold"/>
                <a:ea typeface="Poppins Bold"/>
                <a:cs typeface="Poppins Bold"/>
                <a:sym typeface="Poppins Bold"/>
              </a:rPr>
              <a:t>Majorly:</a:t>
            </a:r>
          </a:p>
          <a:p>
            <a:pPr algn="l">
              <a:lnSpc>
                <a:spcPts val="4103"/>
              </a:lnSpc>
              <a:spcBef>
                <a:spcPct val="0"/>
              </a:spcBef>
            </a:pPr>
            <a:r>
              <a:rPr lang="en-US" b="true" sz="2930">
                <a:solidFill>
                  <a:srgbClr val="FFFFFF"/>
                </a:solidFill>
                <a:latin typeface="Poppins Bold"/>
                <a:ea typeface="Poppins Bold"/>
                <a:cs typeface="Poppins Bold"/>
                <a:sym typeface="Poppins Bold"/>
              </a:rPr>
              <a:t>Ice Water</a:t>
            </a:r>
          </a:p>
        </p:txBody>
      </p:sp>
      <p:sp>
        <p:nvSpPr>
          <p:cNvPr name="TextBox 7" id="7"/>
          <p:cNvSpPr txBox="true"/>
          <p:nvPr/>
        </p:nvSpPr>
        <p:spPr>
          <a:xfrm rot="0">
            <a:off x="12112430" y="2220653"/>
            <a:ext cx="5672870" cy="678892"/>
          </a:xfrm>
          <a:prstGeom prst="rect">
            <a:avLst/>
          </a:prstGeom>
        </p:spPr>
        <p:txBody>
          <a:bodyPr anchor="t" rtlCol="false" tIns="0" lIns="0" bIns="0" rIns="0">
            <a:spAutoFit/>
          </a:bodyPr>
          <a:lstStyle/>
          <a:p>
            <a:pPr algn="l">
              <a:lnSpc>
                <a:spcPts val="4771"/>
              </a:lnSpc>
            </a:pPr>
            <a:r>
              <a:rPr lang="en-US" sz="4970" b="true">
                <a:solidFill>
                  <a:srgbClr val="FFFFFF"/>
                </a:solidFill>
                <a:latin typeface="Poppins Bold"/>
                <a:ea typeface="Poppins Bold"/>
                <a:cs typeface="Poppins Bold"/>
                <a:sym typeface="Poppins Bold"/>
              </a:rPr>
              <a:t>COSTUMER BASE</a:t>
            </a:r>
          </a:p>
        </p:txBody>
      </p:sp>
      <p:sp>
        <p:nvSpPr>
          <p:cNvPr name="TextBox 8" id="8"/>
          <p:cNvSpPr txBox="true"/>
          <p:nvPr/>
        </p:nvSpPr>
        <p:spPr>
          <a:xfrm rot="0">
            <a:off x="12288497" y="2785245"/>
            <a:ext cx="5320736" cy="3334190"/>
          </a:xfrm>
          <a:prstGeom prst="rect">
            <a:avLst/>
          </a:prstGeom>
        </p:spPr>
        <p:txBody>
          <a:bodyPr anchor="t" rtlCol="false" tIns="0" lIns="0" bIns="0" rIns="0">
            <a:spAutoFit/>
          </a:bodyPr>
          <a:lstStyle/>
          <a:p>
            <a:pPr algn="just">
              <a:lnSpc>
                <a:spcPts val="3218"/>
              </a:lnSpc>
            </a:pPr>
            <a:r>
              <a:rPr lang="en-US" sz="1893">
                <a:solidFill>
                  <a:srgbClr val="FFFFFF"/>
                </a:solidFill>
                <a:latin typeface="Poppins"/>
                <a:ea typeface="Poppins"/>
                <a:cs typeface="Poppins"/>
                <a:sym typeface="Poppins"/>
              </a:rPr>
              <a:t>Space Companies-- companies can reduce the weight of their probes and rockets by relying on our “Space Pumps”.</a:t>
            </a:r>
          </a:p>
          <a:p>
            <a:pPr algn="just">
              <a:lnSpc>
                <a:spcPts val="3388"/>
              </a:lnSpc>
            </a:pPr>
            <a:r>
              <a:rPr lang="en-US" sz="1993">
                <a:solidFill>
                  <a:srgbClr val="FFFFFF"/>
                </a:solidFill>
                <a:latin typeface="Poppins"/>
                <a:ea typeface="Poppins"/>
                <a:cs typeface="Poppins"/>
                <a:sym typeface="Poppins"/>
              </a:rPr>
              <a:t>Industrialists-- since we can mine a lot of Iron and Platinum cheaply in space, iron and platinum needed in space can be supplied by us as well as on earth as environmental concerns come into play.</a:t>
            </a:r>
          </a:p>
        </p:txBody>
      </p:sp>
      <p:sp>
        <p:nvSpPr>
          <p:cNvPr name="TextBox 9" id="9"/>
          <p:cNvSpPr txBox="true"/>
          <p:nvPr/>
        </p:nvSpPr>
        <p:spPr>
          <a:xfrm rot="0">
            <a:off x="1028700" y="5134569"/>
            <a:ext cx="5672870" cy="678892"/>
          </a:xfrm>
          <a:prstGeom prst="rect">
            <a:avLst/>
          </a:prstGeom>
        </p:spPr>
        <p:txBody>
          <a:bodyPr anchor="t" rtlCol="false" tIns="0" lIns="0" bIns="0" rIns="0">
            <a:spAutoFit/>
          </a:bodyPr>
          <a:lstStyle/>
          <a:p>
            <a:pPr algn="l">
              <a:lnSpc>
                <a:spcPts val="4771"/>
              </a:lnSpc>
            </a:pPr>
            <a:r>
              <a:rPr lang="en-US" sz="4970" b="true">
                <a:solidFill>
                  <a:srgbClr val="FFFFFF"/>
                </a:solidFill>
                <a:latin typeface="Poppins Bold"/>
                <a:ea typeface="Poppins Bold"/>
                <a:cs typeface="Poppins Bold"/>
                <a:sym typeface="Poppins Bold"/>
              </a:rPr>
              <a:t>USE:</a:t>
            </a:r>
          </a:p>
        </p:txBody>
      </p:sp>
      <p:sp>
        <p:nvSpPr>
          <p:cNvPr name="TextBox 10" id="10"/>
          <p:cNvSpPr txBox="true"/>
          <p:nvPr/>
        </p:nvSpPr>
        <p:spPr>
          <a:xfrm rot="0">
            <a:off x="566321" y="5759832"/>
            <a:ext cx="5996958" cy="1053150"/>
          </a:xfrm>
          <a:prstGeom prst="rect">
            <a:avLst/>
          </a:prstGeom>
        </p:spPr>
        <p:txBody>
          <a:bodyPr anchor="t" rtlCol="false" tIns="0" lIns="0" bIns="0" rIns="0">
            <a:spAutoFit/>
          </a:bodyPr>
          <a:lstStyle/>
          <a:p>
            <a:pPr algn="just">
              <a:lnSpc>
                <a:spcPts val="4238"/>
              </a:lnSpc>
            </a:pPr>
            <a:r>
              <a:rPr lang="en-US" sz="2493">
                <a:solidFill>
                  <a:srgbClr val="FFFFFF"/>
                </a:solidFill>
                <a:latin typeface="Poppins"/>
                <a:ea typeface="Poppins"/>
                <a:cs typeface="Poppins"/>
                <a:sym typeface="Poppins"/>
              </a:rPr>
              <a:t>Ice water → steam → sold as fuel to space companies</a:t>
            </a:r>
          </a:p>
        </p:txBody>
      </p:sp>
      <p:sp>
        <p:nvSpPr>
          <p:cNvPr name="TextBox 11" id="11"/>
          <p:cNvSpPr txBox="true"/>
          <p:nvPr/>
        </p:nvSpPr>
        <p:spPr>
          <a:xfrm rot="0">
            <a:off x="565649" y="6851081"/>
            <a:ext cx="7323708" cy="907186"/>
          </a:xfrm>
          <a:prstGeom prst="rect">
            <a:avLst/>
          </a:prstGeom>
        </p:spPr>
        <p:txBody>
          <a:bodyPr anchor="t" rtlCol="false" tIns="0" lIns="0" bIns="0" rIns="0">
            <a:spAutoFit/>
          </a:bodyPr>
          <a:lstStyle/>
          <a:p>
            <a:pPr algn="l" marL="0" indent="0" lvl="0">
              <a:lnSpc>
                <a:spcPts val="3547"/>
              </a:lnSpc>
              <a:spcBef>
                <a:spcPct val="0"/>
              </a:spcBef>
            </a:pPr>
            <a:r>
              <a:rPr lang="en-US" sz="2534">
                <a:solidFill>
                  <a:srgbClr val="FFFFFF"/>
                </a:solidFill>
                <a:latin typeface="Poppins"/>
                <a:ea typeface="Poppins"/>
                <a:cs typeface="Poppins"/>
                <a:sym typeface="Poppins"/>
              </a:rPr>
              <a:t>Become a leading supplier of iron and platinum</a:t>
            </a:r>
          </a:p>
        </p:txBody>
      </p:sp>
      <p:sp>
        <p:nvSpPr>
          <p:cNvPr name="TextBox 12" id="12"/>
          <p:cNvSpPr txBox="true"/>
          <p:nvPr/>
        </p:nvSpPr>
        <p:spPr>
          <a:xfrm rot="0">
            <a:off x="11686193" y="7083734"/>
            <a:ext cx="7000058" cy="723870"/>
          </a:xfrm>
          <a:prstGeom prst="rect">
            <a:avLst/>
          </a:prstGeom>
        </p:spPr>
        <p:txBody>
          <a:bodyPr anchor="t" rtlCol="false" tIns="0" lIns="0" bIns="0" rIns="0">
            <a:spAutoFit/>
          </a:bodyPr>
          <a:lstStyle/>
          <a:p>
            <a:pPr algn="l">
              <a:lnSpc>
                <a:spcPts val="5055"/>
              </a:lnSpc>
            </a:pPr>
            <a:r>
              <a:rPr lang="en-US" sz="5266" b="true">
                <a:solidFill>
                  <a:srgbClr val="FFFFFF"/>
                </a:solidFill>
                <a:latin typeface="Poppins Bold"/>
                <a:ea typeface="Poppins Bold"/>
                <a:cs typeface="Poppins Bold"/>
                <a:sym typeface="Poppins Bold"/>
              </a:rPr>
              <a:t>Making Money ~~ </a:t>
            </a:r>
          </a:p>
        </p:txBody>
      </p:sp>
      <p:sp>
        <p:nvSpPr>
          <p:cNvPr name="TextBox 13" id="13"/>
          <p:cNvSpPr txBox="true"/>
          <p:nvPr/>
        </p:nvSpPr>
        <p:spPr>
          <a:xfrm rot="0">
            <a:off x="12112430" y="7731404"/>
            <a:ext cx="4631439" cy="1420062"/>
          </a:xfrm>
          <a:prstGeom prst="rect">
            <a:avLst/>
          </a:prstGeom>
        </p:spPr>
        <p:txBody>
          <a:bodyPr anchor="t" rtlCol="false" tIns="0" lIns="0" bIns="0" rIns="0">
            <a:spAutoFit/>
          </a:bodyPr>
          <a:lstStyle/>
          <a:p>
            <a:pPr algn="l">
              <a:lnSpc>
                <a:spcPts val="3738"/>
              </a:lnSpc>
            </a:pPr>
            <a:r>
              <a:rPr lang="en-US" sz="2670" b="true">
                <a:solidFill>
                  <a:srgbClr val="FFFFFF"/>
                </a:solidFill>
                <a:latin typeface="Poppins Bold"/>
                <a:ea typeface="Poppins Bold"/>
                <a:cs typeface="Poppins Bold"/>
                <a:sym typeface="Poppins Bold"/>
              </a:rPr>
              <a:t>Space Pumps</a:t>
            </a:r>
          </a:p>
          <a:p>
            <a:pPr algn="l">
              <a:lnSpc>
                <a:spcPts val="3738"/>
              </a:lnSpc>
            </a:pPr>
            <a:r>
              <a:rPr lang="en-US" sz="2670" b="true">
                <a:solidFill>
                  <a:srgbClr val="FFFFFF"/>
                </a:solidFill>
                <a:latin typeface="Poppins Bold"/>
                <a:ea typeface="Poppins Bold"/>
                <a:cs typeface="Poppins Bold"/>
                <a:sym typeface="Poppins Bold"/>
              </a:rPr>
              <a:t>Orbital Manufacturing</a:t>
            </a:r>
          </a:p>
          <a:p>
            <a:pPr algn="l">
              <a:lnSpc>
                <a:spcPts val="3738"/>
              </a:lnSpc>
              <a:spcBef>
                <a:spcPct val="0"/>
              </a:spcBef>
            </a:pPr>
            <a:r>
              <a:rPr lang="en-US" b="true" sz="2670">
                <a:solidFill>
                  <a:srgbClr val="FFFFFF"/>
                </a:solidFill>
                <a:latin typeface="Poppins Bold"/>
                <a:ea typeface="Poppins Bold"/>
                <a:cs typeface="Poppins Bold"/>
                <a:sym typeface="Poppins Bold"/>
              </a:rPr>
              <a:t>Platinum Monopoly 😈</a:t>
            </a:r>
          </a:p>
        </p:txBody>
      </p:sp>
      <p:sp>
        <p:nvSpPr>
          <p:cNvPr name="TextBox 14" id="14"/>
          <p:cNvSpPr txBox="true"/>
          <p:nvPr/>
        </p:nvSpPr>
        <p:spPr>
          <a:xfrm rot="0">
            <a:off x="11926157" y="141603"/>
            <a:ext cx="6045416" cy="887097"/>
          </a:xfrm>
          <a:prstGeom prst="rect">
            <a:avLst/>
          </a:prstGeom>
        </p:spPr>
        <p:txBody>
          <a:bodyPr anchor="t" rtlCol="false" tIns="0" lIns="0" bIns="0" rIns="0">
            <a:spAutoFit/>
          </a:bodyPr>
          <a:lstStyle/>
          <a:p>
            <a:pPr algn="ctr">
              <a:lnSpc>
                <a:spcPts val="7279"/>
              </a:lnSpc>
              <a:spcBef>
                <a:spcPct val="0"/>
              </a:spcBef>
            </a:pPr>
            <a:r>
              <a:rPr lang="en-US" sz="5199">
                <a:solidFill>
                  <a:srgbClr val="FFFFFF"/>
                </a:solidFill>
                <a:latin typeface="Fredoka"/>
                <a:ea typeface="Fredoka"/>
                <a:cs typeface="Fredoka"/>
                <a:sym typeface="Fredoka"/>
              </a:rPr>
              <a:t>SubPart C</a:t>
            </a:r>
          </a:p>
        </p:txBody>
      </p:sp>
      <p:sp>
        <p:nvSpPr>
          <p:cNvPr name="TextBox 15" id="15"/>
          <p:cNvSpPr txBox="true"/>
          <p:nvPr/>
        </p:nvSpPr>
        <p:spPr>
          <a:xfrm rot="0">
            <a:off x="8953176" y="933450"/>
            <a:ext cx="9018397" cy="887097"/>
          </a:xfrm>
          <a:prstGeom prst="rect">
            <a:avLst/>
          </a:prstGeom>
        </p:spPr>
        <p:txBody>
          <a:bodyPr anchor="t" rtlCol="false" tIns="0" lIns="0" bIns="0" rIns="0">
            <a:spAutoFit/>
          </a:bodyPr>
          <a:lstStyle/>
          <a:p>
            <a:pPr algn="ctr">
              <a:lnSpc>
                <a:spcPts val="7279"/>
              </a:lnSpc>
              <a:spcBef>
                <a:spcPct val="0"/>
              </a:spcBef>
            </a:pPr>
            <a:r>
              <a:rPr lang="en-US" sz="5199">
                <a:solidFill>
                  <a:srgbClr val="FFFFFF"/>
                </a:solidFill>
                <a:latin typeface="Fredoka"/>
                <a:ea typeface="Fredoka"/>
                <a:cs typeface="Fredoka"/>
                <a:sym typeface="Fredoka"/>
              </a:rPr>
              <a:t>BUSINESS: Who pays for it?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5873361" y="1038900"/>
            <a:ext cx="281193" cy="281193"/>
          </a:xfrm>
          <a:custGeom>
            <a:avLst/>
            <a:gdLst/>
            <a:ahLst/>
            <a:cxnLst/>
            <a:rect r="r" b="b" t="t" l="l"/>
            <a:pathLst>
              <a:path h="281193" w="281193">
                <a:moveTo>
                  <a:pt x="0" y="0"/>
                </a:moveTo>
                <a:lnTo>
                  <a:pt x="281193" y="0"/>
                </a:lnTo>
                <a:lnTo>
                  <a:pt x="281193" y="281192"/>
                </a:lnTo>
                <a:lnTo>
                  <a:pt x="0" y="2811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86500" y="-353572"/>
            <a:ext cx="19660999" cy="5687409"/>
            <a:chOff x="0" y="0"/>
            <a:chExt cx="3680190" cy="1064582"/>
          </a:xfrm>
        </p:grpSpPr>
        <p:sp>
          <p:nvSpPr>
            <p:cNvPr name="Freeform 4" id="4"/>
            <p:cNvSpPr/>
            <p:nvPr/>
          </p:nvSpPr>
          <p:spPr>
            <a:xfrm flipH="false" flipV="false" rot="0">
              <a:off x="0" y="0"/>
              <a:ext cx="3680190" cy="1064582"/>
            </a:xfrm>
            <a:custGeom>
              <a:avLst/>
              <a:gdLst/>
              <a:ahLst/>
              <a:cxnLst/>
              <a:rect r="r" b="b" t="t" l="l"/>
              <a:pathLst>
                <a:path h="1064582" w="3680190">
                  <a:moveTo>
                    <a:pt x="9057" y="0"/>
                  </a:moveTo>
                  <a:lnTo>
                    <a:pt x="3671133" y="0"/>
                  </a:lnTo>
                  <a:cubicBezTo>
                    <a:pt x="3673535" y="0"/>
                    <a:pt x="3675838" y="954"/>
                    <a:pt x="3677537" y="2653"/>
                  </a:cubicBezTo>
                  <a:cubicBezTo>
                    <a:pt x="3679236" y="4351"/>
                    <a:pt x="3680190" y="6655"/>
                    <a:pt x="3680190" y="9057"/>
                  </a:cubicBezTo>
                  <a:lnTo>
                    <a:pt x="3680190" y="1055525"/>
                  </a:lnTo>
                  <a:cubicBezTo>
                    <a:pt x="3680190" y="1057927"/>
                    <a:pt x="3679236" y="1060231"/>
                    <a:pt x="3677537" y="1061929"/>
                  </a:cubicBezTo>
                  <a:cubicBezTo>
                    <a:pt x="3675838" y="1063628"/>
                    <a:pt x="3673535" y="1064582"/>
                    <a:pt x="3671133" y="1064582"/>
                  </a:cubicBezTo>
                  <a:lnTo>
                    <a:pt x="9057" y="1064582"/>
                  </a:lnTo>
                  <a:cubicBezTo>
                    <a:pt x="6655" y="1064582"/>
                    <a:pt x="4351" y="1063628"/>
                    <a:pt x="2653" y="1061929"/>
                  </a:cubicBezTo>
                  <a:cubicBezTo>
                    <a:pt x="954" y="1060231"/>
                    <a:pt x="0" y="1057927"/>
                    <a:pt x="0" y="1055525"/>
                  </a:cubicBezTo>
                  <a:lnTo>
                    <a:pt x="0" y="9057"/>
                  </a:lnTo>
                  <a:cubicBezTo>
                    <a:pt x="0" y="6655"/>
                    <a:pt x="954" y="4351"/>
                    <a:pt x="2653" y="2653"/>
                  </a:cubicBezTo>
                  <a:cubicBezTo>
                    <a:pt x="4351" y="954"/>
                    <a:pt x="6655" y="0"/>
                    <a:pt x="9057" y="0"/>
                  </a:cubicBezTo>
                  <a:close/>
                </a:path>
              </a:pathLst>
            </a:custGeom>
            <a:blipFill>
              <a:blip r:embed="rId4">
                <a:alphaModFix amt="69000"/>
              </a:blip>
              <a:stretch>
                <a:fillRect l="0" t="-65159" r="0" b="-65159"/>
              </a:stretch>
            </a:blipFill>
          </p:spPr>
        </p:sp>
      </p:grpSp>
      <p:sp>
        <p:nvSpPr>
          <p:cNvPr name="TextBox 5" id="5"/>
          <p:cNvSpPr txBox="true"/>
          <p:nvPr/>
        </p:nvSpPr>
        <p:spPr>
          <a:xfrm rot="0">
            <a:off x="1028700" y="2498589"/>
            <a:ext cx="13777068" cy="2082166"/>
          </a:xfrm>
          <a:prstGeom prst="rect">
            <a:avLst/>
          </a:prstGeom>
        </p:spPr>
        <p:txBody>
          <a:bodyPr anchor="t" rtlCol="false" tIns="0" lIns="0" bIns="0" rIns="0">
            <a:spAutoFit/>
          </a:bodyPr>
          <a:lstStyle/>
          <a:p>
            <a:pPr algn="l">
              <a:lnSpc>
                <a:spcPts val="7680"/>
              </a:lnSpc>
            </a:pPr>
            <a:r>
              <a:rPr lang="en-US" sz="8000" b="true">
                <a:solidFill>
                  <a:srgbClr val="FFFFFF"/>
                </a:solidFill>
                <a:latin typeface="Poppins Bold"/>
                <a:ea typeface="Poppins Bold"/>
                <a:cs typeface="Poppins Bold"/>
                <a:sym typeface="Poppins Bold"/>
              </a:rPr>
              <a:t>Bonus — “I’ve got a bad feeling about this”</a:t>
            </a:r>
          </a:p>
        </p:txBody>
      </p:sp>
      <p:grpSp>
        <p:nvGrpSpPr>
          <p:cNvPr name="Group 6" id="6"/>
          <p:cNvGrpSpPr/>
          <p:nvPr/>
        </p:nvGrpSpPr>
        <p:grpSpPr>
          <a:xfrm rot="0">
            <a:off x="653311" y="5143500"/>
            <a:ext cx="4994856" cy="4259747"/>
            <a:chOff x="0" y="0"/>
            <a:chExt cx="1197116" cy="1020933"/>
          </a:xfrm>
        </p:grpSpPr>
        <p:sp>
          <p:nvSpPr>
            <p:cNvPr name="Freeform 7" id="7"/>
            <p:cNvSpPr/>
            <p:nvPr/>
          </p:nvSpPr>
          <p:spPr>
            <a:xfrm flipH="false" flipV="false" rot="0">
              <a:off x="0" y="0"/>
              <a:ext cx="1197116" cy="1020933"/>
            </a:xfrm>
            <a:custGeom>
              <a:avLst/>
              <a:gdLst/>
              <a:ahLst/>
              <a:cxnLst/>
              <a:rect r="r" b="b" t="t" l="l"/>
              <a:pathLst>
                <a:path h="1020933" w="1197116">
                  <a:moveTo>
                    <a:pt x="35650" y="0"/>
                  </a:moveTo>
                  <a:lnTo>
                    <a:pt x="1161466" y="0"/>
                  </a:lnTo>
                  <a:cubicBezTo>
                    <a:pt x="1170921" y="0"/>
                    <a:pt x="1179989" y="3756"/>
                    <a:pt x="1186674" y="10441"/>
                  </a:cubicBezTo>
                  <a:cubicBezTo>
                    <a:pt x="1193360" y="17127"/>
                    <a:pt x="1197116" y="26195"/>
                    <a:pt x="1197116" y="35650"/>
                  </a:cubicBezTo>
                  <a:lnTo>
                    <a:pt x="1197116" y="985283"/>
                  </a:lnTo>
                  <a:cubicBezTo>
                    <a:pt x="1197116" y="994738"/>
                    <a:pt x="1193360" y="1003805"/>
                    <a:pt x="1186674" y="1010491"/>
                  </a:cubicBezTo>
                  <a:cubicBezTo>
                    <a:pt x="1179989" y="1017177"/>
                    <a:pt x="1170921" y="1020933"/>
                    <a:pt x="1161466" y="1020933"/>
                  </a:cubicBezTo>
                  <a:lnTo>
                    <a:pt x="35650" y="1020933"/>
                  </a:lnTo>
                  <a:cubicBezTo>
                    <a:pt x="15961" y="1020933"/>
                    <a:pt x="0" y="1004972"/>
                    <a:pt x="0" y="985283"/>
                  </a:cubicBezTo>
                  <a:lnTo>
                    <a:pt x="0" y="35650"/>
                  </a:lnTo>
                  <a:cubicBezTo>
                    <a:pt x="0" y="26195"/>
                    <a:pt x="3756" y="17127"/>
                    <a:pt x="10441" y="10441"/>
                  </a:cubicBezTo>
                  <a:cubicBezTo>
                    <a:pt x="17127" y="3756"/>
                    <a:pt x="26195" y="0"/>
                    <a:pt x="35650" y="0"/>
                  </a:cubicBezTo>
                  <a:close/>
                </a:path>
              </a:pathLst>
            </a:custGeom>
            <a:blipFill>
              <a:blip r:embed="rId5"/>
              <a:stretch>
                <a:fillRect l="-11710" t="0" r="-11710" b="0"/>
              </a:stretch>
            </a:blipFill>
          </p:spPr>
        </p:sp>
      </p:grpSp>
      <p:sp>
        <p:nvSpPr>
          <p:cNvPr name="TextBox 8" id="8"/>
          <p:cNvSpPr txBox="true"/>
          <p:nvPr/>
        </p:nvSpPr>
        <p:spPr>
          <a:xfrm rot="0">
            <a:off x="6329029" y="7469034"/>
            <a:ext cx="11464778" cy="1870783"/>
          </a:xfrm>
          <a:prstGeom prst="rect">
            <a:avLst/>
          </a:prstGeom>
        </p:spPr>
        <p:txBody>
          <a:bodyPr anchor="t" rtlCol="false" tIns="0" lIns="0" bIns="0" rIns="0">
            <a:spAutoFit/>
          </a:bodyPr>
          <a:lstStyle/>
          <a:p>
            <a:pPr algn="just">
              <a:lnSpc>
                <a:spcPts val="3741"/>
              </a:lnSpc>
            </a:pPr>
            <a:r>
              <a:rPr lang="en-US" sz="2200">
                <a:solidFill>
                  <a:srgbClr val="FFFFFF"/>
                </a:solidFill>
                <a:latin typeface="Poppins"/>
                <a:ea typeface="Poppins"/>
                <a:cs typeface="Poppins"/>
                <a:sym typeface="Poppins"/>
              </a:rPr>
              <a:t>Once we have m</a:t>
            </a:r>
            <a:r>
              <a:rPr lang="en-US" sz="2200">
                <a:solidFill>
                  <a:srgbClr val="FFFFFF"/>
                </a:solidFill>
                <a:latin typeface="Poppins"/>
                <a:ea typeface="Poppins"/>
                <a:cs typeface="Poppins"/>
                <a:sym typeface="Poppins"/>
              </a:rPr>
              <a:t>onopolized iron and platinum, the world countries could oppose such concentration of resources by us and hence we might get into legal troubles. Therefore we propose to start expansion as soon as we can to get our rovers on the most profitable asteroids, so we have some leverage.</a:t>
            </a:r>
          </a:p>
        </p:txBody>
      </p:sp>
      <p:sp>
        <p:nvSpPr>
          <p:cNvPr name="TextBox 9" id="9"/>
          <p:cNvSpPr txBox="true"/>
          <p:nvPr/>
        </p:nvSpPr>
        <p:spPr>
          <a:xfrm rot="0">
            <a:off x="6329029" y="5210012"/>
            <a:ext cx="11464778" cy="1870783"/>
          </a:xfrm>
          <a:prstGeom prst="rect">
            <a:avLst/>
          </a:prstGeom>
        </p:spPr>
        <p:txBody>
          <a:bodyPr anchor="t" rtlCol="false" tIns="0" lIns="0" bIns="0" rIns="0">
            <a:spAutoFit/>
          </a:bodyPr>
          <a:lstStyle/>
          <a:p>
            <a:pPr algn="just">
              <a:lnSpc>
                <a:spcPts val="3741"/>
              </a:lnSpc>
            </a:pPr>
            <a:r>
              <a:rPr lang="en-US" sz="2200">
                <a:solidFill>
                  <a:srgbClr val="FFFFFF"/>
                </a:solidFill>
                <a:latin typeface="Poppins"/>
                <a:ea typeface="Poppins"/>
                <a:cs typeface="Poppins"/>
                <a:sym typeface="Poppins"/>
              </a:rPr>
              <a:t>The influx of such amounts of iron and platinum directly in the market might cause it to crash. Therefore, we won’t supply it “ALL” to the market. We plan to keep just enough in the market that the prices decrease by a little and it is profitable to us only.</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0" t="0" r="0" b="0"/>
          <a:stretch>
            <a:fillRect/>
          </a:stretch>
        </p:blipFill>
        <p:spPr>
          <a:xfrm flipH="false" flipV="false" rot="0">
            <a:off x="2090057" y="0"/>
            <a:ext cx="14107886" cy="10287000"/>
          </a:xfrm>
          <a:prstGeom prst="rect">
            <a:avLst/>
          </a:prstGeom>
        </p:spPr>
      </p:pic>
    </p:spTree>
  </p:cSld>
  <p:clrMapOvr>
    <a:masterClrMapping/>
  </p:clrMapOvr>
  <p:timing>
    <p:tnLst>
      <p:par>
        <p:cTn dur="indefinite" restart="never" nodeType="tmRoot">
          <p:childTnLst>
            <p:video>
              <p:cMediaNode vol="0">
                <p:cTn fill="hold" display="false">
                  <p:stCondLst>
                    <p:cond delay="indefinite"/>
                  </p:stCondLst>
                </p:cTn>
                <p:tgtEl>
                  <p:spTgt spid="2"/>
                </p:tgtEl>
              </p:cMediaNode>
            </p:vide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DAHY_Lp08UU</dc:identifier>
  <dcterms:modified xsi:type="dcterms:W3CDTF">2011-08-01T06:04:30Z</dcterms:modified>
  <cp:revision>1</cp:revision>
  <dc:title>Copy of N</dc:title>
</cp:coreProperties>
</file>