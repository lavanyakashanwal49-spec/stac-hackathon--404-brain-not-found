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sldIdLst>
    <p:sldId id="270" r:id="rId3"/>
    <p:sldId id="256" r:id="rId4"/>
    <p:sldId id="257" r:id="rId5"/>
    <p:sldId id="258" r:id="rId6"/>
    <p:sldId id="268" r:id="rId7"/>
    <p:sldId id="259" r:id="rId8"/>
    <p:sldId id="260" r:id="rId9"/>
    <p:sldId id="261" r:id="rId10"/>
    <p:sldId id="262" r:id="rId11"/>
    <p:sldId id="263" r:id="rId12"/>
    <p:sldId id="264" r:id="rId13"/>
    <p:sldId id="265" r:id="rId14"/>
    <p:sldId id="266" r:id="rId15"/>
    <p:sldId id="267"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98" d="100"/>
          <a:sy n="98" d="100"/>
        </p:scale>
        <p:origin x="58"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8810832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183092"/>
            <a:ext cx="5486400" cy="762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04800" y="1066800"/>
            <a:ext cx="5486400" cy="301730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04800" y="4237567"/>
            <a:ext cx="1422400" cy="243417"/>
          </a:xfrm>
          <a:prstGeom prst="rect">
            <a:avLst/>
          </a:prstGeom>
        </p:spPr>
        <p:txBody>
          <a:bodyPr vert="horz" lIns="91440" tIns="45720" rIns="91440" bIns="45720" rtlCol="0" anchor="ctr"/>
          <a:lstStyle>
            <a:lvl1pPr algn="l">
              <a:defRPr sz="800">
                <a:solidFill>
                  <a:schemeClr val="tx1">
                    <a:tint val="75000"/>
                  </a:schemeClr>
                </a:solidFill>
              </a:defRPr>
            </a:lvl1pPr>
          </a:lstStyle>
          <a:p>
            <a:fld id="{1D8BD707-D9CF-40AE-B4C6-C98DA3205C09}" type="datetimeFigureOut">
              <a:rPr lang="en-US" smtClean="0"/>
              <a:pPr/>
              <a:t>10/25/2026</a:t>
            </a:fld>
            <a:endParaRPr lang="en-US"/>
          </a:p>
        </p:txBody>
      </p:sp>
      <p:sp>
        <p:nvSpPr>
          <p:cNvPr id="5" name="Footer Placeholder 4"/>
          <p:cNvSpPr>
            <a:spLocks noGrp="1"/>
          </p:cNvSpPr>
          <p:nvPr>
            <p:ph type="ftr" sz="quarter" idx="3"/>
          </p:nvPr>
        </p:nvSpPr>
        <p:spPr>
          <a:xfrm>
            <a:off x="2082800" y="4237567"/>
            <a:ext cx="1930400" cy="243417"/>
          </a:xfrm>
          <a:prstGeom prst="rect">
            <a:avLst/>
          </a:prstGeom>
        </p:spPr>
        <p:txBody>
          <a:bodyPr vert="horz" lIns="91440" tIns="45720" rIns="91440" bIns="45720" rtlCol="0" anchor="ctr"/>
          <a:lstStyle>
            <a:lvl1pPr algn="ctr">
              <a:defRPr sz="8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368800" y="4237567"/>
            <a:ext cx="1422400" cy="243417"/>
          </a:xfrm>
          <a:prstGeom prst="rect">
            <a:avLst/>
          </a:prstGeom>
        </p:spPr>
        <p:txBody>
          <a:bodyPr vert="horz" lIns="91440" tIns="45720" rIns="91440" bIns="45720" rtlCol="0" anchor="ctr"/>
          <a:lstStyle>
            <a:lvl1pPr algn="r">
              <a:defRPr sz="800">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1036613842"/>
      </p:ext>
    </p:extLst>
  </p:cSld>
  <p:clrMap bg1="lt1" tx1="dk1" bg2="lt2" tx2="dk2" accent1="accent1" accent2="accent2" accent3="accent3" accent4="accent4" accent5="accent5" accent6="accent6" hlink="hlink" folHlink="folHlink"/>
  <p:sldLayoutIdLst>
    <p:sldLayoutId id="2147483661" r:id="rId1"/>
  </p:sldLayoutIdLst>
  <p:txStyles>
    <p:titleStyle>
      <a:lvl1pPr algn="ctr" defTabSz="609630" rtl="0" eaLnBrk="1" latinLnBrk="0" hangingPunct="1">
        <a:spcBef>
          <a:spcPct val="0"/>
        </a:spcBef>
        <a:buNone/>
        <a:defRPr sz="2933" kern="1200">
          <a:solidFill>
            <a:schemeClr val="tx1"/>
          </a:solidFill>
          <a:latin typeface="+mj-lt"/>
          <a:ea typeface="+mj-ea"/>
          <a:cs typeface="+mj-cs"/>
        </a:defRPr>
      </a:lvl1pPr>
    </p:titleStyle>
    <p:body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p:bodyStyle>
    <p:otherStyle>
      <a:defPPr>
        <a:defRPr lang="en-US"/>
      </a:defPPr>
      <a:lvl1pPr marL="0" algn="l" defTabSz="609630" rtl="0" eaLnBrk="1" latinLnBrk="0" hangingPunct="1">
        <a:defRPr sz="1200" kern="1200">
          <a:solidFill>
            <a:schemeClr val="tx1"/>
          </a:solidFill>
          <a:latin typeface="+mn-lt"/>
          <a:ea typeface="+mn-ea"/>
          <a:cs typeface="+mn-cs"/>
        </a:defRPr>
      </a:lvl1pPr>
      <a:lvl2pPr marL="304815" algn="l" defTabSz="609630" rtl="0" eaLnBrk="1" latinLnBrk="0" hangingPunct="1">
        <a:defRPr sz="1200" kern="1200">
          <a:solidFill>
            <a:schemeClr val="tx1"/>
          </a:solidFill>
          <a:latin typeface="+mn-lt"/>
          <a:ea typeface="+mn-ea"/>
          <a:cs typeface="+mn-cs"/>
        </a:defRPr>
      </a:lvl2pPr>
      <a:lvl3pPr marL="609630" algn="l" defTabSz="609630" rtl="0" eaLnBrk="1" latinLnBrk="0" hangingPunct="1">
        <a:defRPr sz="1200" kern="1200">
          <a:solidFill>
            <a:schemeClr val="tx1"/>
          </a:solidFill>
          <a:latin typeface="+mn-lt"/>
          <a:ea typeface="+mn-ea"/>
          <a:cs typeface="+mn-cs"/>
        </a:defRPr>
      </a:lvl3pPr>
      <a:lvl4pPr marL="914446" algn="l" defTabSz="609630" rtl="0" eaLnBrk="1" latinLnBrk="0" hangingPunct="1">
        <a:defRPr sz="1200" kern="1200">
          <a:solidFill>
            <a:schemeClr val="tx1"/>
          </a:solidFill>
          <a:latin typeface="+mn-lt"/>
          <a:ea typeface="+mn-ea"/>
          <a:cs typeface="+mn-cs"/>
        </a:defRPr>
      </a:lvl4pPr>
      <a:lvl5pPr marL="1219261" algn="l" defTabSz="609630" rtl="0" eaLnBrk="1" latinLnBrk="0" hangingPunct="1">
        <a:defRPr sz="1200" kern="1200">
          <a:solidFill>
            <a:schemeClr val="tx1"/>
          </a:solidFill>
          <a:latin typeface="+mn-lt"/>
          <a:ea typeface="+mn-ea"/>
          <a:cs typeface="+mn-cs"/>
        </a:defRPr>
      </a:lvl5pPr>
      <a:lvl6pPr marL="1524076" algn="l" defTabSz="609630" rtl="0" eaLnBrk="1" latinLnBrk="0" hangingPunct="1">
        <a:defRPr sz="1200" kern="1200">
          <a:solidFill>
            <a:schemeClr val="tx1"/>
          </a:solidFill>
          <a:latin typeface="+mn-lt"/>
          <a:ea typeface="+mn-ea"/>
          <a:cs typeface="+mn-cs"/>
        </a:defRPr>
      </a:lvl6pPr>
      <a:lvl7pPr marL="1828891" algn="l" defTabSz="609630" rtl="0" eaLnBrk="1" latinLnBrk="0" hangingPunct="1">
        <a:defRPr sz="1200" kern="1200">
          <a:solidFill>
            <a:schemeClr val="tx1"/>
          </a:solidFill>
          <a:latin typeface="+mn-lt"/>
          <a:ea typeface="+mn-ea"/>
          <a:cs typeface="+mn-cs"/>
        </a:defRPr>
      </a:lvl7pPr>
      <a:lvl8pPr marL="2133707" algn="l" defTabSz="609630" rtl="0" eaLnBrk="1" latinLnBrk="0" hangingPunct="1">
        <a:defRPr sz="1200" kern="1200">
          <a:solidFill>
            <a:schemeClr val="tx1"/>
          </a:solidFill>
          <a:latin typeface="+mn-lt"/>
          <a:ea typeface="+mn-ea"/>
          <a:cs typeface="+mn-cs"/>
        </a:defRPr>
      </a:lvl8pPr>
      <a:lvl9pPr marL="2438522" algn="l" defTabSz="609630" rtl="0" eaLnBrk="1" latinLnBrk="0" hangingPunct="1">
        <a:defRPr sz="1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2.xml"/><Relationship Id="rId5" Type="http://schemas.openxmlformats.org/officeDocument/2006/relationships/image" Target="../media/image5.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svg"/><Relationship Id="rId1" Type="http://schemas.openxmlformats.org/officeDocument/2006/relationships/slideLayout" Target="../slideLayouts/slideLayout12.xml"/><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5.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50C19"/>
        </a:solidFill>
        <a:effectLst/>
      </p:bgPr>
    </p:bg>
    <p:spTree>
      <p:nvGrpSpPr>
        <p:cNvPr id="1" name=""/>
        <p:cNvGrpSpPr/>
        <p:nvPr/>
      </p:nvGrpSpPr>
      <p:grpSpPr>
        <a:xfrm>
          <a:off x="0" y="0"/>
          <a:ext cx="0" cy="0"/>
          <a:chOff x="0" y="0"/>
          <a:chExt cx="0" cy="0"/>
        </a:xfrm>
      </p:grpSpPr>
      <p:sp>
        <p:nvSpPr>
          <p:cNvPr id="2" name="Oval 1"/>
          <p:cNvSpPr/>
          <p:nvPr/>
        </p:nvSpPr>
        <p:spPr>
          <a:xfrm>
            <a:off x="548640" y="640080"/>
            <a:ext cx="36576" cy="36576"/>
          </a:xfrm>
          <a:prstGeom prst="ellipse">
            <a:avLst/>
          </a:prstGeom>
          <a:solidFill>
            <a:srgbClr val="49CD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Oval 2"/>
          <p:cNvSpPr/>
          <p:nvPr/>
        </p:nvSpPr>
        <p:spPr>
          <a:xfrm>
            <a:off x="1371600" y="1645920"/>
            <a:ext cx="27432" cy="27432"/>
          </a:xfrm>
          <a:prstGeom prst="ellipse">
            <a:avLst/>
          </a:prstGeom>
          <a:solidFill>
            <a:srgbClr val="49CD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 name="Oval 3"/>
          <p:cNvSpPr/>
          <p:nvPr/>
        </p:nvSpPr>
        <p:spPr>
          <a:xfrm>
            <a:off x="3108960" y="502920"/>
            <a:ext cx="32004" cy="32004"/>
          </a:xfrm>
          <a:prstGeom prst="ellipse">
            <a:avLst/>
          </a:prstGeom>
          <a:solidFill>
            <a:srgbClr val="49CD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 name="Oval 4"/>
          <p:cNvSpPr/>
          <p:nvPr/>
        </p:nvSpPr>
        <p:spPr>
          <a:xfrm>
            <a:off x="4663440" y="1188720"/>
            <a:ext cx="36576" cy="36576"/>
          </a:xfrm>
          <a:prstGeom prst="ellipse">
            <a:avLst/>
          </a:prstGeom>
          <a:solidFill>
            <a:srgbClr val="49CD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6" name="Oval 5"/>
          <p:cNvSpPr/>
          <p:nvPr/>
        </p:nvSpPr>
        <p:spPr>
          <a:xfrm>
            <a:off x="6766560" y="548640"/>
            <a:ext cx="27432" cy="27432"/>
          </a:xfrm>
          <a:prstGeom prst="ellipse">
            <a:avLst/>
          </a:prstGeom>
          <a:solidFill>
            <a:srgbClr val="49CD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7" name="Oval 6"/>
          <p:cNvSpPr/>
          <p:nvPr/>
        </p:nvSpPr>
        <p:spPr>
          <a:xfrm>
            <a:off x="8412480" y="1097280"/>
            <a:ext cx="36576" cy="36576"/>
          </a:xfrm>
          <a:prstGeom prst="ellipse">
            <a:avLst/>
          </a:prstGeom>
          <a:solidFill>
            <a:srgbClr val="49CD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8" name="Oval 7"/>
          <p:cNvSpPr/>
          <p:nvPr/>
        </p:nvSpPr>
        <p:spPr>
          <a:xfrm>
            <a:off x="10881360" y="640080"/>
            <a:ext cx="36576" cy="36576"/>
          </a:xfrm>
          <a:prstGeom prst="ellipse">
            <a:avLst/>
          </a:prstGeom>
          <a:solidFill>
            <a:srgbClr val="49CD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9" name="Oval 8"/>
          <p:cNvSpPr/>
          <p:nvPr/>
        </p:nvSpPr>
        <p:spPr>
          <a:xfrm>
            <a:off x="11521440" y="1828800"/>
            <a:ext cx="27432" cy="27432"/>
          </a:xfrm>
          <a:prstGeom prst="ellipse">
            <a:avLst/>
          </a:prstGeom>
          <a:solidFill>
            <a:srgbClr val="49CD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0" name="Oval 9"/>
          <p:cNvSpPr/>
          <p:nvPr/>
        </p:nvSpPr>
        <p:spPr>
          <a:xfrm>
            <a:off x="731520" y="3840480"/>
            <a:ext cx="32004" cy="32004"/>
          </a:xfrm>
          <a:prstGeom prst="ellipse">
            <a:avLst/>
          </a:prstGeom>
          <a:solidFill>
            <a:srgbClr val="49CD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1" name="Oval 10"/>
          <p:cNvSpPr/>
          <p:nvPr/>
        </p:nvSpPr>
        <p:spPr>
          <a:xfrm>
            <a:off x="2011680" y="5120640"/>
            <a:ext cx="36576" cy="36576"/>
          </a:xfrm>
          <a:prstGeom prst="ellipse">
            <a:avLst/>
          </a:prstGeom>
          <a:solidFill>
            <a:srgbClr val="49CD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2" name="Oval 11"/>
          <p:cNvSpPr/>
          <p:nvPr/>
        </p:nvSpPr>
        <p:spPr>
          <a:xfrm>
            <a:off x="4480560" y="5943600"/>
            <a:ext cx="27432" cy="27432"/>
          </a:xfrm>
          <a:prstGeom prst="ellipse">
            <a:avLst/>
          </a:prstGeom>
          <a:solidFill>
            <a:srgbClr val="49CD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3" name="Oval 12"/>
          <p:cNvSpPr/>
          <p:nvPr/>
        </p:nvSpPr>
        <p:spPr>
          <a:xfrm>
            <a:off x="8046720" y="5212080"/>
            <a:ext cx="32004" cy="32004"/>
          </a:xfrm>
          <a:prstGeom prst="ellipse">
            <a:avLst/>
          </a:prstGeom>
          <a:solidFill>
            <a:srgbClr val="49CD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4" name="Oval 13"/>
          <p:cNvSpPr/>
          <p:nvPr/>
        </p:nvSpPr>
        <p:spPr>
          <a:xfrm>
            <a:off x="10607040" y="4389120"/>
            <a:ext cx="36576" cy="36576"/>
          </a:xfrm>
          <a:prstGeom prst="ellipse">
            <a:avLst/>
          </a:prstGeom>
          <a:solidFill>
            <a:srgbClr val="49CD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5" name="Oval 14"/>
          <p:cNvSpPr/>
          <p:nvPr/>
        </p:nvSpPr>
        <p:spPr>
          <a:xfrm>
            <a:off x="11430000" y="5577840"/>
            <a:ext cx="27432" cy="27432"/>
          </a:xfrm>
          <a:prstGeom prst="ellipse">
            <a:avLst/>
          </a:prstGeom>
          <a:solidFill>
            <a:srgbClr val="49CD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6" name="Oval 15"/>
          <p:cNvSpPr/>
          <p:nvPr/>
        </p:nvSpPr>
        <p:spPr>
          <a:xfrm>
            <a:off x="5760720" y="3566160"/>
            <a:ext cx="27432" cy="27432"/>
          </a:xfrm>
          <a:prstGeom prst="ellipse">
            <a:avLst/>
          </a:prstGeom>
          <a:solidFill>
            <a:srgbClr val="49CD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Oval 16"/>
          <p:cNvSpPr/>
          <p:nvPr/>
        </p:nvSpPr>
        <p:spPr>
          <a:xfrm>
            <a:off x="9601200" y="3108960"/>
            <a:ext cx="32004" cy="32004"/>
          </a:xfrm>
          <a:prstGeom prst="ellipse">
            <a:avLst/>
          </a:prstGeom>
          <a:solidFill>
            <a:srgbClr val="49CD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8" name="Oval 17"/>
          <p:cNvSpPr/>
          <p:nvPr/>
        </p:nvSpPr>
        <p:spPr>
          <a:xfrm>
            <a:off x="7589520" y="3017520"/>
            <a:ext cx="5212080" cy="5212080"/>
          </a:xfrm>
          <a:prstGeom prst="ellipse">
            <a:avLst/>
          </a:prstGeom>
          <a:solidFill>
            <a:srgbClr val="224D91"/>
          </a:solidFill>
          <a:ln w="25400">
            <a:solidFill>
              <a:srgbClr val="49CDEB"/>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9" name="Oval 18"/>
          <p:cNvSpPr/>
          <p:nvPr/>
        </p:nvSpPr>
        <p:spPr>
          <a:xfrm>
            <a:off x="7754112" y="3182112"/>
            <a:ext cx="4882896" cy="4882896"/>
          </a:xfrm>
          <a:prstGeom prst="ellipse">
            <a:avLst/>
          </a:prstGeom>
          <a:noFill/>
          <a:ln w="17780">
            <a:solidFill>
              <a:srgbClr val="49CDEB"/>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0" name="Oval 19"/>
          <p:cNvSpPr/>
          <p:nvPr/>
        </p:nvSpPr>
        <p:spPr>
          <a:xfrm>
            <a:off x="7909560" y="3337560"/>
            <a:ext cx="4572000" cy="4572000"/>
          </a:xfrm>
          <a:prstGeom prst="ellipse">
            <a:avLst/>
          </a:prstGeom>
          <a:noFill/>
          <a:ln w="8890">
            <a:solidFill>
              <a:srgbClr val="49CDEB"/>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1" name="Oval 20"/>
          <p:cNvSpPr/>
          <p:nvPr/>
        </p:nvSpPr>
        <p:spPr>
          <a:xfrm>
            <a:off x="6995160" y="3931920"/>
            <a:ext cx="6035040" cy="1143000"/>
          </a:xfrm>
          <a:prstGeom prst="ellipse">
            <a:avLst/>
          </a:prstGeom>
          <a:noFill/>
          <a:ln w="19050">
            <a:solidFill>
              <a:srgbClr val="49CDEB"/>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2" name="TextBox 21"/>
          <p:cNvSpPr txBox="1"/>
          <p:nvPr/>
        </p:nvSpPr>
        <p:spPr>
          <a:xfrm>
            <a:off x="777240" y="502920"/>
            <a:ext cx="6217920" cy="320040"/>
          </a:xfrm>
          <a:prstGeom prst="rect">
            <a:avLst/>
          </a:prstGeom>
          <a:noFill/>
        </p:spPr>
        <p:txBody>
          <a:bodyPr wrap="square" lIns="18288" tIns="9144" rIns="18288" bIns="9144"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500" b="1" i="0" u="none" strike="noStrike" kern="1200" cap="none" spc="0" normalizeH="0" baseline="0" noProof="0">
                <a:ln>
                  <a:noFill/>
                </a:ln>
                <a:solidFill>
                  <a:srgbClr val="49CDEB"/>
                </a:solidFill>
                <a:effectLst/>
                <a:uLnTx/>
                <a:uFillTx/>
                <a:latin typeface="Aptos Display"/>
                <a:ea typeface="+mn-ea"/>
                <a:cs typeface="+mn-cs"/>
              </a:rPr>
              <a:t>STACWARS  •  HACKATHON</a:t>
            </a:r>
          </a:p>
        </p:txBody>
      </p:sp>
      <p:sp>
        <p:nvSpPr>
          <p:cNvPr id="23" name="TextBox 22"/>
          <p:cNvSpPr txBox="1"/>
          <p:nvPr/>
        </p:nvSpPr>
        <p:spPr>
          <a:xfrm>
            <a:off x="749808" y="1078992"/>
            <a:ext cx="7406640" cy="914400"/>
          </a:xfrm>
          <a:prstGeom prst="rect">
            <a:avLst/>
          </a:prstGeom>
          <a:noFill/>
        </p:spPr>
        <p:txBody>
          <a:bodyPr wrap="square" lIns="18288" tIns="9144" rIns="18288" bIns="9144"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4800" b="1" i="0" u="none" strike="noStrike" kern="1200" cap="none" spc="0" normalizeH="0" baseline="0" noProof="0">
                <a:ln>
                  <a:noFill/>
                </a:ln>
                <a:solidFill>
                  <a:srgbClr val="F6F9FF"/>
                </a:solidFill>
                <a:effectLst/>
                <a:uLnTx/>
                <a:uFillTx/>
                <a:latin typeface="Aptos Display"/>
                <a:ea typeface="+mn-ea"/>
                <a:cs typeface="+mn-cs"/>
              </a:rPr>
              <a:t>STACWARS</a:t>
            </a:r>
          </a:p>
        </p:txBody>
      </p:sp>
      <p:sp>
        <p:nvSpPr>
          <p:cNvPr id="24" name="TextBox 23"/>
          <p:cNvSpPr txBox="1"/>
          <p:nvPr/>
        </p:nvSpPr>
        <p:spPr>
          <a:xfrm>
            <a:off x="804672" y="1993392"/>
            <a:ext cx="6309360" cy="502920"/>
          </a:xfrm>
          <a:prstGeom prst="rect">
            <a:avLst/>
          </a:prstGeom>
          <a:noFill/>
        </p:spPr>
        <p:txBody>
          <a:bodyPr wrap="square" lIns="18288" tIns="9144" rIns="18288" bIns="9144"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2000" b="1" i="0" u="none" strike="noStrike" kern="1200" cap="none" spc="0" normalizeH="0" baseline="0" noProof="0">
                <a:ln>
                  <a:noFill/>
                </a:ln>
                <a:solidFill>
                  <a:srgbClr val="49CDEB"/>
                </a:solidFill>
                <a:effectLst/>
                <a:uLnTx/>
                <a:uFillTx/>
                <a:latin typeface="Aptos Display"/>
                <a:ea typeface="+mn-ea"/>
                <a:cs typeface="+mn-cs"/>
              </a:rPr>
              <a:t>HACKATHON PROJECT REPORT</a:t>
            </a:r>
          </a:p>
        </p:txBody>
      </p:sp>
      <p:sp>
        <p:nvSpPr>
          <p:cNvPr id="25" name="Rectangle 24"/>
          <p:cNvSpPr/>
          <p:nvPr/>
        </p:nvSpPr>
        <p:spPr>
          <a:xfrm>
            <a:off x="822960" y="2651760"/>
            <a:ext cx="1325880" cy="41148"/>
          </a:xfrm>
          <a:prstGeom prst="rect">
            <a:avLst/>
          </a:prstGeom>
          <a:solidFill>
            <a:srgbClr val="49CD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6" name="TextBox 25"/>
          <p:cNvSpPr txBox="1"/>
          <p:nvPr/>
        </p:nvSpPr>
        <p:spPr>
          <a:xfrm>
            <a:off x="804672" y="2971800"/>
            <a:ext cx="6309360" cy="365760"/>
          </a:xfrm>
          <a:prstGeom prst="rect">
            <a:avLst/>
          </a:prstGeom>
          <a:noFill/>
        </p:spPr>
        <p:txBody>
          <a:bodyPr wrap="square" lIns="18288" tIns="9144" rIns="18288" bIns="9144"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a:ln>
                  <a:noFill/>
                </a:ln>
                <a:solidFill>
                  <a:srgbClr val="AEC1D8"/>
                </a:solidFill>
                <a:effectLst/>
                <a:uLnTx/>
                <a:uFillTx/>
                <a:latin typeface="Aptos Display"/>
                <a:ea typeface="+mn-ea"/>
                <a:cs typeface="+mn-cs"/>
              </a:rPr>
              <a:t>PRESENTED BY</a:t>
            </a:r>
          </a:p>
        </p:txBody>
      </p:sp>
      <p:sp>
        <p:nvSpPr>
          <p:cNvPr id="27" name="TextBox 26"/>
          <p:cNvSpPr txBox="1"/>
          <p:nvPr/>
        </p:nvSpPr>
        <p:spPr>
          <a:xfrm>
            <a:off x="768096" y="3401568"/>
            <a:ext cx="6583680" cy="777240"/>
          </a:xfrm>
          <a:prstGeom prst="rect">
            <a:avLst/>
          </a:prstGeom>
          <a:noFill/>
        </p:spPr>
        <p:txBody>
          <a:bodyPr wrap="square" lIns="18288" tIns="9144" rIns="18288" bIns="9144"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2900" b="1" i="0" u="none" strike="noStrike" kern="1200" cap="none" spc="0" normalizeH="0" baseline="0" noProof="0">
                <a:ln>
                  <a:noFill/>
                </a:ln>
                <a:solidFill>
                  <a:srgbClr val="F6F9FF"/>
                </a:solidFill>
                <a:effectLst/>
                <a:uLnTx/>
                <a:uFillTx/>
                <a:latin typeface="Aptos Display"/>
                <a:ea typeface="+mn-ea"/>
                <a:cs typeface="+mn-cs"/>
              </a:rPr>
              <a:t>404: Brain not Found</a:t>
            </a:r>
          </a:p>
        </p:txBody>
      </p:sp>
      <p:sp>
        <p:nvSpPr>
          <p:cNvPr id="28" name="TextBox 27"/>
          <p:cNvSpPr txBox="1"/>
          <p:nvPr/>
        </p:nvSpPr>
        <p:spPr>
          <a:xfrm>
            <a:off x="804672" y="4058059"/>
            <a:ext cx="5669280" cy="1018740"/>
          </a:xfrm>
          <a:prstGeom prst="rect">
            <a:avLst/>
          </a:prstGeom>
          <a:noFill/>
        </p:spPr>
        <p:txBody>
          <a:bodyPr wrap="square" lIns="18288" tIns="9144" rIns="18288" bIns="9144"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300" b="1" dirty="0">
                <a:solidFill>
                  <a:srgbClr val="AEC1D8"/>
                </a:solidFill>
                <a:latin typeface="Aptos Display"/>
              </a:rPr>
              <a:t>YOGITA</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AEC1D8"/>
                </a:solidFill>
                <a:effectLst/>
                <a:uLnTx/>
                <a:uFillTx/>
                <a:latin typeface="Aptos Display"/>
                <a:ea typeface="+mn-ea"/>
                <a:cs typeface="+mn-cs"/>
              </a:rPr>
              <a:t>PREET MIDHA</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300" b="1" dirty="0">
                <a:solidFill>
                  <a:srgbClr val="AEC1D8"/>
                </a:solidFill>
                <a:latin typeface="Aptos Display"/>
              </a:rPr>
              <a:t>NIMISHA SHELKE</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AEC1D8"/>
                </a:solidFill>
                <a:effectLst/>
                <a:uLnTx/>
                <a:uFillTx/>
                <a:latin typeface="Aptos Display"/>
                <a:ea typeface="+mn-ea"/>
                <a:cs typeface="+mn-cs"/>
              </a:rPr>
              <a:t>NARAYNI PATIL</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300" b="1" dirty="0">
                <a:solidFill>
                  <a:srgbClr val="AEC1D8"/>
                </a:solidFill>
                <a:latin typeface="Aptos Display"/>
              </a:rPr>
              <a:t>LAVANYA KASHANWAL</a:t>
            </a:r>
            <a:endParaRPr kumimoji="0" sz="1300" b="1" i="0" u="none" strike="noStrike" kern="1200" cap="none" spc="0" normalizeH="0" baseline="0" noProof="0" dirty="0">
              <a:ln>
                <a:noFill/>
              </a:ln>
              <a:solidFill>
                <a:srgbClr val="AEC1D8"/>
              </a:solidFill>
              <a:effectLst/>
              <a:uLnTx/>
              <a:uFillTx/>
              <a:latin typeface="Aptos Display"/>
              <a:ea typeface="+mn-ea"/>
              <a:cs typeface="+mn-cs"/>
            </a:endParaRPr>
          </a:p>
        </p:txBody>
      </p:sp>
      <p:sp>
        <p:nvSpPr>
          <p:cNvPr id="29" name="TextBox 28"/>
          <p:cNvSpPr txBox="1"/>
          <p:nvPr/>
        </p:nvSpPr>
        <p:spPr>
          <a:xfrm>
            <a:off x="804672" y="5956333"/>
            <a:ext cx="6766560" cy="203133"/>
          </a:xfrm>
          <a:prstGeom prst="rect">
            <a:avLst/>
          </a:prstGeom>
          <a:noFill/>
        </p:spPr>
        <p:txBody>
          <a:bodyPr wrap="square" lIns="18288" tIns="9144" rIns="18288" bIns="9144"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dirty="0">
                <a:ln>
                  <a:noFill/>
                </a:ln>
                <a:solidFill>
                  <a:srgbClr val="49CDEB"/>
                </a:solidFill>
                <a:effectLst/>
                <a:uLnTx/>
                <a:uFillTx/>
                <a:latin typeface="Aptos Display"/>
                <a:ea typeface="+mn-ea"/>
                <a:cs typeface="+mn-cs"/>
              </a:rPr>
              <a:t>SAME TEAM. DIFFERENT </a:t>
            </a:r>
            <a:r>
              <a:rPr kumimoji="0" lang="en-US" sz="1200" b="1" i="0" u="none" strike="noStrike" kern="1200" cap="none" spc="0" normalizeH="0" baseline="0" noProof="0" dirty="0">
                <a:ln>
                  <a:noFill/>
                </a:ln>
                <a:solidFill>
                  <a:srgbClr val="49CDEB"/>
                </a:solidFill>
                <a:effectLst/>
                <a:uLnTx/>
                <a:uFillTx/>
                <a:latin typeface="Aptos Display"/>
                <a:ea typeface="+mn-ea"/>
                <a:cs typeface="+mn-cs"/>
              </a:rPr>
              <a:t>MISSIONS</a:t>
            </a:r>
            <a:r>
              <a:rPr kumimoji="0" sz="1200" b="1" i="0" u="none" strike="noStrike" kern="1200" cap="none" spc="0" normalizeH="0" baseline="0" noProof="0" dirty="0">
                <a:ln>
                  <a:noFill/>
                </a:ln>
                <a:solidFill>
                  <a:srgbClr val="49CDEB"/>
                </a:solidFill>
                <a:effectLst/>
                <a:uLnTx/>
                <a:uFillTx/>
                <a:latin typeface="Aptos Display"/>
                <a:ea typeface="+mn-ea"/>
                <a:cs typeface="+mn-cs"/>
              </a:rPr>
              <a:t>.</a:t>
            </a:r>
          </a:p>
        </p:txBody>
      </p:sp>
      <p:sp>
        <p:nvSpPr>
          <p:cNvPr id="30" name="TextBox 29"/>
          <p:cNvSpPr txBox="1"/>
          <p:nvPr/>
        </p:nvSpPr>
        <p:spPr>
          <a:xfrm>
            <a:off x="10195560" y="438912"/>
            <a:ext cx="1234440" cy="274320"/>
          </a:xfrm>
          <a:prstGeom prst="rect">
            <a:avLst/>
          </a:prstGeom>
          <a:noFill/>
        </p:spPr>
        <p:txBody>
          <a:bodyPr wrap="square" lIns="18288" tIns="9144" rIns="18288" bIns="9144" anchor="ctr">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AEC1D8"/>
                </a:solidFill>
                <a:effectLst/>
                <a:uLnTx/>
                <a:uFillTx/>
                <a:latin typeface="Aptos Display"/>
                <a:ea typeface="+mn-ea"/>
                <a:cs typeface="+mn-cs"/>
              </a:rPr>
              <a:t>TEAM 404</a:t>
            </a:r>
          </a:p>
        </p:txBody>
      </p:sp>
    </p:spTree>
    <p:extLst>
      <p:ext uri="{BB962C8B-B14F-4D97-AF65-F5344CB8AC3E}">
        <p14:creationId xmlns:p14="http://schemas.microsoft.com/office/powerpoint/2010/main" val="9057594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D192D"/>
        </a:solidFill>
        <a:effectLst/>
      </p:bgPr>
    </p:bg>
    <p:spTree>
      <p:nvGrpSpPr>
        <p:cNvPr id="1" name=""/>
        <p:cNvGrpSpPr/>
        <p:nvPr/>
      </p:nvGrpSpPr>
      <p:grpSpPr>
        <a:xfrm>
          <a:off x="0" y="0"/>
          <a:ext cx="0" cy="0"/>
          <a:chOff x="0" y="0"/>
          <a:chExt cx="0" cy="0"/>
        </a:xfrm>
      </p:grpSpPr>
      <p:sp>
        <p:nvSpPr>
          <p:cNvPr id="2" name="Rectangle 1"/>
          <p:cNvSpPr/>
          <p:nvPr/>
        </p:nvSpPr>
        <p:spPr>
          <a:xfrm>
            <a:off x="0" y="6748272"/>
            <a:ext cx="12191695" cy="109728"/>
          </a:xfrm>
          <a:prstGeom prst="rect">
            <a:avLst/>
          </a:prstGeom>
          <a:solidFill>
            <a:srgbClr val="42D3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47472"/>
            <a:ext cx="9875520" cy="256032"/>
          </a:xfrm>
          <a:prstGeom prst="rect">
            <a:avLst/>
          </a:prstGeom>
          <a:noFill/>
        </p:spPr>
        <p:txBody>
          <a:bodyPr wrap="square" lIns="18288" tIns="18288" rIns="18288" bIns="18288" anchor="t">
            <a:spAutoFit/>
          </a:bodyPr>
          <a:lstStyle/>
          <a:p>
            <a:pPr algn="l"/>
            <a:r>
              <a:rPr sz="1000" b="1">
                <a:solidFill>
                  <a:srgbClr val="42D3E6"/>
                </a:solidFill>
                <a:latin typeface="Aptos"/>
              </a:rPr>
              <a:t>404: BRAIN NOT FOUND  •  OPERATION EMBER ASCENT</a:t>
            </a:r>
          </a:p>
        </p:txBody>
      </p:sp>
      <p:sp>
        <p:nvSpPr>
          <p:cNvPr id="4" name="TextBox 3"/>
          <p:cNvSpPr txBox="1"/>
          <p:nvPr/>
        </p:nvSpPr>
        <p:spPr>
          <a:xfrm>
            <a:off x="594360" y="713232"/>
            <a:ext cx="10972800" cy="594360"/>
          </a:xfrm>
          <a:prstGeom prst="rect">
            <a:avLst/>
          </a:prstGeom>
          <a:noFill/>
        </p:spPr>
        <p:txBody>
          <a:bodyPr wrap="square" lIns="18288" tIns="18288" rIns="18288" bIns="18288" anchor="t">
            <a:spAutoFit/>
          </a:bodyPr>
          <a:lstStyle/>
          <a:p>
            <a:pPr algn="l"/>
            <a:r>
              <a:rPr sz="2800" b="1">
                <a:solidFill>
                  <a:srgbClr val="F5F8FC"/>
                </a:solidFill>
                <a:latin typeface="Aptos"/>
              </a:rPr>
              <a:t>A 1 kg payload reached a 4 km-class apogee</a:t>
            </a:r>
          </a:p>
        </p:txBody>
      </p:sp>
      <p:sp>
        <p:nvSpPr>
          <p:cNvPr id="5" name="TextBox 4"/>
          <p:cNvSpPr txBox="1"/>
          <p:nvPr/>
        </p:nvSpPr>
        <p:spPr>
          <a:xfrm>
            <a:off x="612648" y="1353312"/>
            <a:ext cx="10789920" cy="384048"/>
          </a:xfrm>
          <a:prstGeom prst="rect">
            <a:avLst/>
          </a:prstGeom>
          <a:noFill/>
        </p:spPr>
        <p:txBody>
          <a:bodyPr wrap="square" lIns="18288" tIns="18288" rIns="18288" bIns="18288" anchor="t">
            <a:spAutoFit/>
          </a:bodyPr>
          <a:lstStyle/>
          <a:p>
            <a:pPr algn="l"/>
            <a:r>
              <a:rPr sz="1200" b="0">
                <a:solidFill>
                  <a:srgbClr val="B3C2D3"/>
                </a:solidFill>
                <a:latin typeface="Aptos"/>
              </a:rPr>
              <a:t>Two-stage sounding rocket simulated in OpenRocket under Mustafar’s extreme atmospheric conditions</a:t>
            </a:r>
          </a:p>
        </p:txBody>
      </p:sp>
      <p:sp>
        <p:nvSpPr>
          <p:cNvPr id="6" name="TextBox 5"/>
          <p:cNvSpPr txBox="1"/>
          <p:nvPr/>
        </p:nvSpPr>
        <p:spPr>
          <a:xfrm>
            <a:off x="11064240" y="365760"/>
            <a:ext cx="502920" cy="274320"/>
          </a:xfrm>
          <a:prstGeom prst="rect">
            <a:avLst/>
          </a:prstGeom>
          <a:noFill/>
        </p:spPr>
        <p:txBody>
          <a:bodyPr wrap="square" lIns="18288" tIns="18288" rIns="18288" bIns="18288" anchor="t">
            <a:spAutoFit/>
          </a:bodyPr>
          <a:lstStyle/>
          <a:p>
            <a:pPr algn="r"/>
            <a:r>
              <a:rPr sz="1000" b="1">
                <a:solidFill>
                  <a:srgbClr val="B3C2D3"/>
                </a:solidFill>
                <a:latin typeface="Aptos"/>
              </a:rPr>
              <a:t>01</a:t>
            </a:r>
          </a:p>
        </p:txBody>
      </p:sp>
      <p:sp>
        <p:nvSpPr>
          <p:cNvPr id="7" name="TextBox 6"/>
          <p:cNvSpPr txBox="1"/>
          <p:nvPr/>
        </p:nvSpPr>
        <p:spPr>
          <a:xfrm>
            <a:off x="685800" y="1965960"/>
            <a:ext cx="2423160" cy="566928"/>
          </a:xfrm>
          <a:prstGeom prst="rect">
            <a:avLst/>
          </a:prstGeom>
          <a:noFill/>
        </p:spPr>
        <p:txBody>
          <a:bodyPr wrap="square" lIns="18288" tIns="18288" rIns="18288" bIns="18288" anchor="t">
            <a:spAutoFit/>
          </a:bodyPr>
          <a:lstStyle/>
          <a:p>
            <a:pPr algn="ctr"/>
            <a:r>
              <a:rPr sz="2700" b="1">
                <a:solidFill>
                  <a:srgbClr val="42D3E6"/>
                </a:solidFill>
                <a:latin typeface="Aptos"/>
              </a:rPr>
              <a:t>4,052 m</a:t>
            </a:r>
          </a:p>
        </p:txBody>
      </p:sp>
      <p:sp>
        <p:nvSpPr>
          <p:cNvPr id="8" name="TextBox 7"/>
          <p:cNvSpPr txBox="1"/>
          <p:nvPr/>
        </p:nvSpPr>
        <p:spPr>
          <a:xfrm>
            <a:off x="685800" y="2532888"/>
            <a:ext cx="2423160" cy="438912"/>
          </a:xfrm>
          <a:prstGeom prst="rect">
            <a:avLst/>
          </a:prstGeom>
          <a:noFill/>
        </p:spPr>
        <p:txBody>
          <a:bodyPr wrap="square" lIns="18288" tIns="18288" rIns="18288" bIns="18288" anchor="t">
            <a:spAutoFit/>
          </a:bodyPr>
          <a:lstStyle/>
          <a:p>
            <a:pPr algn="ctr"/>
            <a:r>
              <a:rPr sz="1100" b="1">
                <a:solidFill>
                  <a:srgbClr val="B3C2D3"/>
                </a:solidFill>
                <a:latin typeface="Aptos"/>
              </a:rPr>
              <a:t>SIMULATED APOGEE</a:t>
            </a:r>
          </a:p>
        </p:txBody>
      </p:sp>
      <p:sp>
        <p:nvSpPr>
          <p:cNvPr id="9" name="TextBox 8"/>
          <p:cNvSpPr txBox="1"/>
          <p:nvPr/>
        </p:nvSpPr>
        <p:spPr>
          <a:xfrm>
            <a:off x="3337560" y="1965960"/>
            <a:ext cx="2423160" cy="566928"/>
          </a:xfrm>
          <a:prstGeom prst="rect">
            <a:avLst/>
          </a:prstGeom>
          <a:noFill/>
        </p:spPr>
        <p:txBody>
          <a:bodyPr wrap="square" lIns="18288" tIns="18288" rIns="18288" bIns="18288" anchor="t">
            <a:spAutoFit/>
          </a:bodyPr>
          <a:lstStyle/>
          <a:p>
            <a:pPr algn="ctr"/>
            <a:r>
              <a:rPr sz="2700" b="1">
                <a:solidFill>
                  <a:srgbClr val="42D3E6"/>
                </a:solidFill>
                <a:latin typeface="Aptos"/>
              </a:rPr>
              <a:t>174 m/s</a:t>
            </a:r>
          </a:p>
        </p:txBody>
      </p:sp>
      <p:sp>
        <p:nvSpPr>
          <p:cNvPr id="10" name="TextBox 9"/>
          <p:cNvSpPr txBox="1"/>
          <p:nvPr/>
        </p:nvSpPr>
        <p:spPr>
          <a:xfrm>
            <a:off x="3337560" y="2532888"/>
            <a:ext cx="2423160" cy="438912"/>
          </a:xfrm>
          <a:prstGeom prst="rect">
            <a:avLst/>
          </a:prstGeom>
          <a:noFill/>
        </p:spPr>
        <p:txBody>
          <a:bodyPr wrap="square" lIns="18288" tIns="18288" rIns="18288" bIns="18288" anchor="t">
            <a:spAutoFit/>
          </a:bodyPr>
          <a:lstStyle/>
          <a:p>
            <a:pPr algn="ctr"/>
            <a:r>
              <a:rPr sz="1100" b="1">
                <a:solidFill>
                  <a:srgbClr val="B3C2D3"/>
                </a:solidFill>
                <a:latin typeface="Aptos"/>
              </a:rPr>
              <a:t>PEAK VELOCITY</a:t>
            </a:r>
          </a:p>
        </p:txBody>
      </p:sp>
      <p:sp>
        <p:nvSpPr>
          <p:cNvPr id="11" name="TextBox 10"/>
          <p:cNvSpPr txBox="1"/>
          <p:nvPr/>
        </p:nvSpPr>
        <p:spPr>
          <a:xfrm>
            <a:off x="5989320" y="1965960"/>
            <a:ext cx="2423160" cy="566928"/>
          </a:xfrm>
          <a:prstGeom prst="rect">
            <a:avLst/>
          </a:prstGeom>
          <a:noFill/>
        </p:spPr>
        <p:txBody>
          <a:bodyPr wrap="square" lIns="18288" tIns="18288" rIns="18288" bIns="18288" anchor="t">
            <a:spAutoFit/>
          </a:bodyPr>
          <a:lstStyle/>
          <a:p>
            <a:pPr algn="ctr"/>
            <a:r>
              <a:rPr sz="2700" b="1">
                <a:solidFill>
                  <a:srgbClr val="42D3E6"/>
                </a:solidFill>
                <a:latin typeface="Aptos"/>
              </a:rPr>
              <a:t>42.5 s</a:t>
            </a:r>
          </a:p>
        </p:txBody>
      </p:sp>
      <p:sp>
        <p:nvSpPr>
          <p:cNvPr id="12" name="TextBox 11"/>
          <p:cNvSpPr txBox="1"/>
          <p:nvPr/>
        </p:nvSpPr>
        <p:spPr>
          <a:xfrm>
            <a:off x="5989320" y="2532888"/>
            <a:ext cx="2423160" cy="438912"/>
          </a:xfrm>
          <a:prstGeom prst="rect">
            <a:avLst/>
          </a:prstGeom>
          <a:noFill/>
        </p:spPr>
        <p:txBody>
          <a:bodyPr wrap="square" lIns="18288" tIns="18288" rIns="18288" bIns="18288" anchor="t">
            <a:spAutoFit/>
          </a:bodyPr>
          <a:lstStyle/>
          <a:p>
            <a:pPr algn="ctr"/>
            <a:r>
              <a:rPr sz="1100" b="1">
                <a:solidFill>
                  <a:srgbClr val="B3C2D3"/>
                </a:solidFill>
                <a:latin typeface="Aptos"/>
              </a:rPr>
              <a:t>TIME TO APOGEE</a:t>
            </a:r>
          </a:p>
        </p:txBody>
      </p:sp>
      <p:sp>
        <p:nvSpPr>
          <p:cNvPr id="13" name="TextBox 12"/>
          <p:cNvSpPr txBox="1"/>
          <p:nvPr/>
        </p:nvSpPr>
        <p:spPr>
          <a:xfrm>
            <a:off x="8641080" y="1965960"/>
            <a:ext cx="2423160" cy="566928"/>
          </a:xfrm>
          <a:prstGeom prst="rect">
            <a:avLst/>
          </a:prstGeom>
          <a:noFill/>
        </p:spPr>
        <p:txBody>
          <a:bodyPr wrap="square" lIns="18288" tIns="18288" rIns="18288" bIns="18288" anchor="t">
            <a:spAutoFit/>
          </a:bodyPr>
          <a:lstStyle/>
          <a:p>
            <a:pPr algn="ctr"/>
            <a:r>
              <a:rPr sz="2700" b="1">
                <a:solidFill>
                  <a:srgbClr val="42D3E6"/>
                </a:solidFill>
                <a:latin typeface="Aptos"/>
              </a:rPr>
              <a:t>6.04 m/s</a:t>
            </a:r>
          </a:p>
        </p:txBody>
      </p:sp>
      <p:sp>
        <p:nvSpPr>
          <p:cNvPr id="14" name="TextBox 13"/>
          <p:cNvSpPr txBox="1"/>
          <p:nvPr/>
        </p:nvSpPr>
        <p:spPr>
          <a:xfrm>
            <a:off x="8641080" y="2532888"/>
            <a:ext cx="2423160" cy="438912"/>
          </a:xfrm>
          <a:prstGeom prst="rect">
            <a:avLst/>
          </a:prstGeom>
          <a:noFill/>
        </p:spPr>
        <p:txBody>
          <a:bodyPr wrap="square" lIns="18288" tIns="18288" rIns="18288" bIns="18288" anchor="t">
            <a:spAutoFit/>
          </a:bodyPr>
          <a:lstStyle/>
          <a:p>
            <a:pPr algn="ctr"/>
            <a:r>
              <a:rPr sz="1100" b="1">
                <a:solidFill>
                  <a:srgbClr val="B3C2D3"/>
                </a:solidFill>
                <a:latin typeface="Aptos"/>
              </a:rPr>
              <a:t>DESCENT SPEED</a:t>
            </a:r>
          </a:p>
        </p:txBody>
      </p:sp>
      <p:sp>
        <p:nvSpPr>
          <p:cNvPr id="15" name="Rounded Rectangle 14"/>
          <p:cNvSpPr/>
          <p:nvPr/>
        </p:nvSpPr>
        <p:spPr>
          <a:xfrm>
            <a:off x="685800" y="3337560"/>
            <a:ext cx="5257800" cy="2240280"/>
          </a:xfrm>
          <a:prstGeom prst="roundRect">
            <a:avLst/>
          </a:prstGeom>
          <a:solidFill>
            <a:srgbClr val="182942"/>
          </a:solidFill>
          <a:ln>
            <a:solidFill>
              <a:srgbClr val="2D42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86968" y="3502152"/>
            <a:ext cx="4855464" cy="347472"/>
          </a:xfrm>
          <a:prstGeom prst="rect">
            <a:avLst/>
          </a:prstGeom>
          <a:noFill/>
        </p:spPr>
        <p:txBody>
          <a:bodyPr wrap="square" lIns="18288" tIns="18288" rIns="18288" bIns="18288" anchor="t">
            <a:spAutoFit/>
          </a:bodyPr>
          <a:lstStyle/>
          <a:p>
            <a:pPr algn="l"/>
            <a:r>
              <a:rPr sz="1500" b="1">
                <a:solidFill>
                  <a:srgbClr val="42D3E6"/>
                </a:solidFill>
                <a:latin typeface="Aptos"/>
              </a:rPr>
              <a:t>DESIGN THAT MET THE MISSION</a:t>
            </a:r>
          </a:p>
        </p:txBody>
      </p:sp>
      <p:sp>
        <p:nvSpPr>
          <p:cNvPr id="17" name="TextBox 16"/>
          <p:cNvSpPr txBox="1"/>
          <p:nvPr/>
        </p:nvSpPr>
        <p:spPr>
          <a:xfrm>
            <a:off x="886968" y="3959352"/>
            <a:ext cx="4855464" cy="1490472"/>
          </a:xfrm>
          <a:prstGeom prst="rect">
            <a:avLst/>
          </a:prstGeom>
          <a:noFill/>
        </p:spPr>
        <p:txBody>
          <a:bodyPr wrap="square" lIns="18288" tIns="18288" rIns="18288" bIns="18288" anchor="t">
            <a:spAutoFit/>
          </a:bodyPr>
          <a:lstStyle/>
          <a:p>
            <a:pPr algn="l"/>
            <a:r>
              <a:rPr sz="1500" b="0">
                <a:solidFill>
                  <a:srgbClr val="F5F8FC"/>
                </a:solidFill>
                <a:latin typeface="Aptos"/>
              </a:rPr>
              <a:t>• Two-stage H73-6 booster + I218-14 sustainer
• 1.0 kg scientific payload
• 54.5 cm long; 5 cm maximum diameter
• Positive static stability margin: +0.131 cal</a:t>
            </a:r>
          </a:p>
        </p:txBody>
      </p:sp>
      <p:sp>
        <p:nvSpPr>
          <p:cNvPr id="18" name="Rounded Rectangle 17"/>
          <p:cNvSpPr/>
          <p:nvPr/>
        </p:nvSpPr>
        <p:spPr>
          <a:xfrm>
            <a:off x="6217920" y="3337560"/>
            <a:ext cx="5257800" cy="2240280"/>
          </a:xfrm>
          <a:prstGeom prst="roundRect">
            <a:avLst/>
          </a:prstGeom>
          <a:solidFill>
            <a:srgbClr val="182942"/>
          </a:solidFill>
          <a:ln>
            <a:solidFill>
              <a:srgbClr val="2D42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19088" y="3502152"/>
            <a:ext cx="4855464" cy="347472"/>
          </a:xfrm>
          <a:prstGeom prst="rect">
            <a:avLst/>
          </a:prstGeom>
          <a:noFill/>
        </p:spPr>
        <p:txBody>
          <a:bodyPr wrap="square" lIns="18288" tIns="18288" rIns="18288" bIns="18288" anchor="t">
            <a:spAutoFit/>
          </a:bodyPr>
          <a:lstStyle/>
          <a:p>
            <a:pPr algn="l"/>
            <a:r>
              <a:rPr sz="1500" b="1">
                <a:solidFill>
                  <a:srgbClr val="FFAE42"/>
                </a:solidFill>
                <a:latin typeface="Aptos"/>
              </a:rPr>
              <a:t>KEY DISCOVERY</a:t>
            </a:r>
          </a:p>
        </p:txBody>
      </p:sp>
      <p:sp>
        <p:nvSpPr>
          <p:cNvPr id="20" name="TextBox 19"/>
          <p:cNvSpPr txBox="1"/>
          <p:nvPr/>
        </p:nvSpPr>
        <p:spPr>
          <a:xfrm>
            <a:off x="6419088" y="3959352"/>
            <a:ext cx="4855464" cy="1490472"/>
          </a:xfrm>
          <a:prstGeom prst="rect">
            <a:avLst/>
          </a:prstGeom>
          <a:noFill/>
        </p:spPr>
        <p:txBody>
          <a:bodyPr wrap="square" lIns="18288" tIns="18288" rIns="18288" bIns="18288" anchor="t">
            <a:spAutoFit/>
          </a:bodyPr>
          <a:lstStyle/>
          <a:p>
            <a:pPr algn="l"/>
            <a:r>
              <a:rPr sz="1500" b="0">
                <a:solidFill>
                  <a:srgbClr val="F5F8FC"/>
                </a:solidFill>
                <a:latin typeface="Aptos"/>
              </a:rPr>
              <a:t>The calibrated Mustafar model reached over twice the Earth-standard simulated apogee: 4,052 m vs 1,820 m. Lower gravity and thinner air were the main performance advantages.</a:t>
            </a:r>
          </a:p>
        </p:txBody>
      </p:sp>
      <p:sp>
        <p:nvSpPr>
          <p:cNvPr id="21" name="TextBox 20"/>
          <p:cNvSpPr txBox="1"/>
          <p:nvPr/>
        </p:nvSpPr>
        <p:spPr>
          <a:xfrm>
            <a:off x="731520" y="5989320"/>
            <a:ext cx="10881360" cy="320040"/>
          </a:xfrm>
          <a:prstGeom prst="rect">
            <a:avLst/>
          </a:prstGeom>
          <a:noFill/>
        </p:spPr>
        <p:txBody>
          <a:bodyPr wrap="square" lIns="18288" tIns="18288" rIns="18288" bIns="18288" anchor="t">
            <a:spAutoFit/>
          </a:bodyPr>
          <a:lstStyle/>
          <a:p>
            <a:pPr algn="l"/>
            <a:r>
              <a:rPr sz="1400" b="1">
                <a:solidFill>
                  <a:srgbClr val="5CDCA0"/>
                </a:solidFill>
                <a:latin typeface="Aptos"/>
              </a:rPr>
              <a:t>RESULT: The simulated flight met the report’s target altitude and recovery requirements.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D192D"/>
        </a:solidFill>
        <a:effectLst/>
      </p:bgPr>
    </p:bg>
    <p:spTree>
      <p:nvGrpSpPr>
        <p:cNvPr id="1" name=""/>
        <p:cNvGrpSpPr/>
        <p:nvPr/>
      </p:nvGrpSpPr>
      <p:grpSpPr>
        <a:xfrm>
          <a:off x="0" y="0"/>
          <a:ext cx="0" cy="0"/>
          <a:chOff x="0" y="0"/>
          <a:chExt cx="0" cy="0"/>
        </a:xfrm>
      </p:grpSpPr>
      <p:sp>
        <p:nvSpPr>
          <p:cNvPr id="2" name="Rectangle 1"/>
          <p:cNvSpPr/>
          <p:nvPr/>
        </p:nvSpPr>
        <p:spPr>
          <a:xfrm>
            <a:off x="0" y="6748272"/>
            <a:ext cx="12191695" cy="109728"/>
          </a:xfrm>
          <a:prstGeom prst="rect">
            <a:avLst/>
          </a:prstGeom>
          <a:solidFill>
            <a:srgbClr val="42D3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47472"/>
            <a:ext cx="9875520" cy="256032"/>
          </a:xfrm>
          <a:prstGeom prst="rect">
            <a:avLst/>
          </a:prstGeom>
          <a:noFill/>
        </p:spPr>
        <p:txBody>
          <a:bodyPr wrap="square" lIns="18288" tIns="18288" rIns="18288" bIns="18288" anchor="t">
            <a:spAutoFit/>
          </a:bodyPr>
          <a:lstStyle/>
          <a:p>
            <a:pPr algn="l"/>
            <a:r>
              <a:rPr sz="1000" b="1">
                <a:solidFill>
                  <a:srgbClr val="42D3E6"/>
                </a:solidFill>
                <a:latin typeface="Aptos"/>
              </a:rPr>
              <a:t>OPERATION EMBER ASCENT  •  ENVIRONMENT COMPARISON</a:t>
            </a:r>
          </a:p>
        </p:txBody>
      </p:sp>
      <p:sp>
        <p:nvSpPr>
          <p:cNvPr id="4" name="TextBox 3"/>
          <p:cNvSpPr txBox="1"/>
          <p:nvPr/>
        </p:nvSpPr>
        <p:spPr>
          <a:xfrm>
            <a:off x="594360" y="713232"/>
            <a:ext cx="10972800" cy="594360"/>
          </a:xfrm>
          <a:prstGeom prst="rect">
            <a:avLst/>
          </a:prstGeom>
          <a:noFill/>
        </p:spPr>
        <p:txBody>
          <a:bodyPr wrap="square" lIns="18288" tIns="18288" rIns="18288" bIns="18288" anchor="t">
            <a:spAutoFit/>
          </a:bodyPr>
          <a:lstStyle/>
          <a:p>
            <a:pPr algn="l"/>
            <a:r>
              <a:rPr sz="2800" b="1">
                <a:solidFill>
                  <a:srgbClr val="F5F8FC"/>
                </a:solidFill>
                <a:latin typeface="Aptos"/>
              </a:rPr>
              <a:t>Mustafar’s thin air boosts ascent—but complicates recovery</a:t>
            </a:r>
          </a:p>
        </p:txBody>
      </p:sp>
      <p:sp>
        <p:nvSpPr>
          <p:cNvPr id="5" name="TextBox 4"/>
          <p:cNvSpPr txBox="1"/>
          <p:nvPr/>
        </p:nvSpPr>
        <p:spPr>
          <a:xfrm>
            <a:off x="612648" y="1353312"/>
            <a:ext cx="10789920" cy="384048"/>
          </a:xfrm>
          <a:prstGeom prst="rect">
            <a:avLst/>
          </a:prstGeom>
          <a:noFill/>
        </p:spPr>
        <p:txBody>
          <a:bodyPr wrap="square" lIns="18288" tIns="18288" rIns="18288" bIns="18288" anchor="t">
            <a:spAutoFit/>
          </a:bodyPr>
          <a:lstStyle/>
          <a:p>
            <a:pPr algn="l"/>
            <a:r>
              <a:rPr sz="1200" b="0">
                <a:solidFill>
                  <a:srgbClr val="B3C2D3"/>
                </a:solidFill>
                <a:latin typeface="Aptos"/>
              </a:rPr>
              <a:t>Simulation comparison: Earth-standard settings versus the full Mustafar environment</a:t>
            </a:r>
          </a:p>
        </p:txBody>
      </p:sp>
      <p:sp>
        <p:nvSpPr>
          <p:cNvPr id="6" name="TextBox 5"/>
          <p:cNvSpPr txBox="1"/>
          <p:nvPr/>
        </p:nvSpPr>
        <p:spPr>
          <a:xfrm>
            <a:off x="11064240" y="365760"/>
            <a:ext cx="502920" cy="274320"/>
          </a:xfrm>
          <a:prstGeom prst="rect">
            <a:avLst/>
          </a:prstGeom>
          <a:noFill/>
        </p:spPr>
        <p:txBody>
          <a:bodyPr wrap="square" lIns="18288" tIns="18288" rIns="18288" bIns="18288" anchor="t">
            <a:spAutoFit/>
          </a:bodyPr>
          <a:lstStyle/>
          <a:p>
            <a:pPr algn="r"/>
            <a:r>
              <a:rPr sz="1000" b="1">
                <a:solidFill>
                  <a:srgbClr val="B3C2D3"/>
                </a:solidFill>
                <a:latin typeface="Aptos"/>
              </a:rPr>
              <a:t>02</a:t>
            </a:r>
          </a:p>
        </p:txBody>
      </p:sp>
      <p:sp>
        <p:nvSpPr>
          <p:cNvPr id="7" name="Rounded Rectangle 6"/>
          <p:cNvSpPr/>
          <p:nvPr/>
        </p:nvSpPr>
        <p:spPr>
          <a:xfrm>
            <a:off x="731520" y="1874519"/>
            <a:ext cx="2761488" cy="438912"/>
          </a:xfrm>
          <a:prstGeom prst="roundRect">
            <a:avLst/>
          </a:prstGeom>
          <a:solidFill>
            <a:srgbClr val="233C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22960" y="1947672"/>
            <a:ext cx="2578608" cy="274320"/>
          </a:xfrm>
          <a:prstGeom prst="rect">
            <a:avLst/>
          </a:prstGeom>
          <a:noFill/>
        </p:spPr>
        <p:txBody>
          <a:bodyPr wrap="square" lIns="18288" tIns="18288" rIns="18288" bIns="18288" anchor="t">
            <a:spAutoFit/>
          </a:bodyPr>
          <a:lstStyle/>
          <a:p>
            <a:pPr algn="l"/>
            <a:r>
              <a:rPr sz="1000" b="1">
                <a:solidFill>
                  <a:srgbClr val="42D3E6"/>
                </a:solidFill>
                <a:latin typeface="Aptos"/>
              </a:rPr>
              <a:t>MEASURE</a:t>
            </a:r>
          </a:p>
        </p:txBody>
      </p:sp>
      <p:sp>
        <p:nvSpPr>
          <p:cNvPr id="9" name="Rounded Rectangle 8"/>
          <p:cNvSpPr/>
          <p:nvPr/>
        </p:nvSpPr>
        <p:spPr>
          <a:xfrm>
            <a:off x="3566160" y="1874519"/>
            <a:ext cx="1984248" cy="438912"/>
          </a:xfrm>
          <a:prstGeom prst="roundRect">
            <a:avLst/>
          </a:prstGeom>
          <a:solidFill>
            <a:srgbClr val="233C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657600" y="1947672"/>
            <a:ext cx="1801368" cy="274320"/>
          </a:xfrm>
          <a:prstGeom prst="rect">
            <a:avLst/>
          </a:prstGeom>
          <a:noFill/>
        </p:spPr>
        <p:txBody>
          <a:bodyPr wrap="square" lIns="18288" tIns="18288" rIns="18288" bIns="18288" anchor="t">
            <a:spAutoFit/>
          </a:bodyPr>
          <a:lstStyle/>
          <a:p>
            <a:pPr algn="l"/>
            <a:r>
              <a:rPr sz="1000" b="1">
                <a:solidFill>
                  <a:srgbClr val="42D3E6"/>
                </a:solidFill>
                <a:latin typeface="Aptos"/>
              </a:rPr>
              <a:t>EARTH MODEL</a:t>
            </a:r>
          </a:p>
        </p:txBody>
      </p:sp>
      <p:sp>
        <p:nvSpPr>
          <p:cNvPr id="11" name="Rounded Rectangle 10"/>
          <p:cNvSpPr/>
          <p:nvPr/>
        </p:nvSpPr>
        <p:spPr>
          <a:xfrm>
            <a:off x="5623559" y="1874519"/>
            <a:ext cx="1984248" cy="438912"/>
          </a:xfrm>
          <a:prstGeom prst="roundRect">
            <a:avLst/>
          </a:prstGeom>
          <a:solidFill>
            <a:srgbClr val="233C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714999" y="1947672"/>
            <a:ext cx="1801368" cy="274320"/>
          </a:xfrm>
          <a:prstGeom prst="rect">
            <a:avLst/>
          </a:prstGeom>
          <a:noFill/>
        </p:spPr>
        <p:txBody>
          <a:bodyPr wrap="square" lIns="18288" tIns="18288" rIns="18288" bIns="18288" anchor="t">
            <a:spAutoFit/>
          </a:bodyPr>
          <a:lstStyle/>
          <a:p>
            <a:pPr algn="l"/>
            <a:r>
              <a:rPr sz="1000" b="1">
                <a:solidFill>
                  <a:srgbClr val="42D3E6"/>
                </a:solidFill>
                <a:latin typeface="Aptos"/>
              </a:rPr>
              <a:t>MUSTAFAR</a:t>
            </a:r>
          </a:p>
        </p:txBody>
      </p:sp>
      <p:sp>
        <p:nvSpPr>
          <p:cNvPr id="13" name="Rounded Rectangle 12"/>
          <p:cNvSpPr/>
          <p:nvPr/>
        </p:nvSpPr>
        <p:spPr>
          <a:xfrm>
            <a:off x="7680960" y="1874519"/>
            <a:ext cx="3584448" cy="438912"/>
          </a:xfrm>
          <a:prstGeom prst="roundRect">
            <a:avLst/>
          </a:prstGeom>
          <a:solidFill>
            <a:srgbClr val="233C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772400" y="1947672"/>
            <a:ext cx="3401568" cy="274320"/>
          </a:xfrm>
          <a:prstGeom prst="rect">
            <a:avLst/>
          </a:prstGeom>
          <a:noFill/>
        </p:spPr>
        <p:txBody>
          <a:bodyPr wrap="square" lIns="18288" tIns="18288" rIns="18288" bIns="18288" anchor="t">
            <a:spAutoFit/>
          </a:bodyPr>
          <a:lstStyle/>
          <a:p>
            <a:pPr algn="l"/>
            <a:r>
              <a:rPr sz="1000" b="1">
                <a:solidFill>
                  <a:srgbClr val="42D3E6"/>
                </a:solidFill>
                <a:latin typeface="Aptos"/>
              </a:rPr>
              <a:t>WHAT IT REVEALS</a:t>
            </a:r>
          </a:p>
        </p:txBody>
      </p:sp>
      <p:sp>
        <p:nvSpPr>
          <p:cNvPr id="15" name="Rounded Rectangle 14"/>
          <p:cNvSpPr/>
          <p:nvPr/>
        </p:nvSpPr>
        <p:spPr>
          <a:xfrm>
            <a:off x="731520" y="2404872"/>
            <a:ext cx="2761488" cy="502920"/>
          </a:xfrm>
          <a:prstGeom prst="roundRect">
            <a:avLst/>
          </a:prstGeom>
          <a:solidFill>
            <a:srgbClr val="1829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2960" y="2496312"/>
            <a:ext cx="2578608" cy="329184"/>
          </a:xfrm>
          <a:prstGeom prst="rect">
            <a:avLst/>
          </a:prstGeom>
          <a:noFill/>
        </p:spPr>
        <p:txBody>
          <a:bodyPr wrap="square" lIns="18288" tIns="18288" rIns="18288" bIns="18288" anchor="t">
            <a:spAutoFit/>
          </a:bodyPr>
          <a:lstStyle/>
          <a:p>
            <a:pPr algn="l"/>
            <a:r>
              <a:rPr sz="1200" b="1">
                <a:solidFill>
                  <a:srgbClr val="42D3E6"/>
                </a:solidFill>
                <a:latin typeface="Aptos"/>
              </a:rPr>
              <a:t>Apogee</a:t>
            </a:r>
          </a:p>
        </p:txBody>
      </p:sp>
      <p:sp>
        <p:nvSpPr>
          <p:cNvPr id="17" name="Rounded Rectangle 16"/>
          <p:cNvSpPr/>
          <p:nvPr/>
        </p:nvSpPr>
        <p:spPr>
          <a:xfrm>
            <a:off x="3566160" y="2404872"/>
            <a:ext cx="1984248" cy="502920"/>
          </a:xfrm>
          <a:prstGeom prst="roundRect">
            <a:avLst/>
          </a:prstGeom>
          <a:solidFill>
            <a:srgbClr val="1829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657600" y="2496312"/>
            <a:ext cx="1801368" cy="329184"/>
          </a:xfrm>
          <a:prstGeom prst="rect">
            <a:avLst/>
          </a:prstGeom>
          <a:noFill/>
        </p:spPr>
        <p:txBody>
          <a:bodyPr wrap="square" lIns="18288" tIns="18288" rIns="18288" bIns="18288" anchor="t">
            <a:spAutoFit/>
          </a:bodyPr>
          <a:lstStyle/>
          <a:p>
            <a:pPr algn="l"/>
            <a:r>
              <a:rPr sz="1200" b="0">
                <a:solidFill>
                  <a:srgbClr val="F5F8FC"/>
                </a:solidFill>
                <a:latin typeface="Aptos"/>
              </a:rPr>
              <a:t>1,820 m</a:t>
            </a:r>
          </a:p>
        </p:txBody>
      </p:sp>
      <p:sp>
        <p:nvSpPr>
          <p:cNvPr id="19" name="Rounded Rectangle 18"/>
          <p:cNvSpPr/>
          <p:nvPr/>
        </p:nvSpPr>
        <p:spPr>
          <a:xfrm>
            <a:off x="5623559" y="2404872"/>
            <a:ext cx="1984248" cy="502920"/>
          </a:xfrm>
          <a:prstGeom prst="roundRect">
            <a:avLst/>
          </a:prstGeom>
          <a:solidFill>
            <a:srgbClr val="1829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714999" y="2496312"/>
            <a:ext cx="1801368" cy="329184"/>
          </a:xfrm>
          <a:prstGeom prst="rect">
            <a:avLst/>
          </a:prstGeom>
          <a:noFill/>
        </p:spPr>
        <p:txBody>
          <a:bodyPr wrap="square" lIns="18288" tIns="18288" rIns="18288" bIns="18288" anchor="t">
            <a:spAutoFit/>
          </a:bodyPr>
          <a:lstStyle/>
          <a:p>
            <a:pPr algn="l"/>
            <a:r>
              <a:rPr sz="1200" b="0">
                <a:solidFill>
                  <a:srgbClr val="F5F8FC"/>
                </a:solidFill>
                <a:latin typeface="Aptos"/>
              </a:rPr>
              <a:t>4,052 m</a:t>
            </a:r>
          </a:p>
        </p:txBody>
      </p:sp>
      <p:sp>
        <p:nvSpPr>
          <p:cNvPr id="21" name="Rounded Rectangle 20"/>
          <p:cNvSpPr/>
          <p:nvPr/>
        </p:nvSpPr>
        <p:spPr>
          <a:xfrm>
            <a:off x="7680960" y="2404872"/>
            <a:ext cx="3584448" cy="502920"/>
          </a:xfrm>
          <a:prstGeom prst="roundRect">
            <a:avLst/>
          </a:prstGeom>
          <a:solidFill>
            <a:srgbClr val="1829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772400" y="2496312"/>
            <a:ext cx="3401568" cy="329184"/>
          </a:xfrm>
          <a:prstGeom prst="rect">
            <a:avLst/>
          </a:prstGeom>
          <a:noFill/>
        </p:spPr>
        <p:txBody>
          <a:bodyPr wrap="square" lIns="18288" tIns="18288" rIns="18288" bIns="18288" anchor="t">
            <a:spAutoFit/>
          </a:bodyPr>
          <a:lstStyle/>
          <a:p>
            <a:pPr algn="l"/>
            <a:r>
              <a:rPr sz="1100" b="0">
                <a:solidFill>
                  <a:srgbClr val="F5F8FC"/>
                </a:solidFill>
                <a:latin typeface="Aptos"/>
              </a:rPr>
              <a:t>More than 2× altitude</a:t>
            </a:r>
          </a:p>
        </p:txBody>
      </p:sp>
      <p:sp>
        <p:nvSpPr>
          <p:cNvPr id="23" name="Rounded Rectangle 22"/>
          <p:cNvSpPr/>
          <p:nvPr/>
        </p:nvSpPr>
        <p:spPr>
          <a:xfrm>
            <a:off x="731520" y="3017520"/>
            <a:ext cx="2761488" cy="502920"/>
          </a:xfrm>
          <a:prstGeom prst="roundRect">
            <a:avLst/>
          </a:prstGeom>
          <a:solidFill>
            <a:srgbClr val="1422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22960" y="3108960"/>
            <a:ext cx="2578608" cy="329184"/>
          </a:xfrm>
          <a:prstGeom prst="rect">
            <a:avLst/>
          </a:prstGeom>
          <a:noFill/>
        </p:spPr>
        <p:txBody>
          <a:bodyPr wrap="square" lIns="18288" tIns="18288" rIns="18288" bIns="18288" anchor="t">
            <a:spAutoFit/>
          </a:bodyPr>
          <a:lstStyle/>
          <a:p>
            <a:pPr algn="l"/>
            <a:r>
              <a:rPr sz="1200" b="1">
                <a:solidFill>
                  <a:srgbClr val="42D3E6"/>
                </a:solidFill>
                <a:latin typeface="Aptos"/>
              </a:rPr>
              <a:t>Peak velocity</a:t>
            </a:r>
          </a:p>
        </p:txBody>
      </p:sp>
      <p:sp>
        <p:nvSpPr>
          <p:cNvPr id="25" name="Rounded Rectangle 24"/>
          <p:cNvSpPr/>
          <p:nvPr/>
        </p:nvSpPr>
        <p:spPr>
          <a:xfrm>
            <a:off x="3566160" y="3017520"/>
            <a:ext cx="1984248" cy="502920"/>
          </a:xfrm>
          <a:prstGeom prst="roundRect">
            <a:avLst/>
          </a:prstGeom>
          <a:solidFill>
            <a:srgbClr val="1422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657600" y="3108960"/>
            <a:ext cx="1801368" cy="329184"/>
          </a:xfrm>
          <a:prstGeom prst="rect">
            <a:avLst/>
          </a:prstGeom>
          <a:noFill/>
        </p:spPr>
        <p:txBody>
          <a:bodyPr wrap="square" lIns="18288" tIns="18288" rIns="18288" bIns="18288" anchor="t">
            <a:spAutoFit/>
          </a:bodyPr>
          <a:lstStyle/>
          <a:p>
            <a:pPr algn="l"/>
            <a:r>
              <a:rPr sz="1200" b="0">
                <a:solidFill>
                  <a:srgbClr val="F5F8FC"/>
                </a:solidFill>
                <a:latin typeface="Aptos"/>
              </a:rPr>
              <a:t>132 m/s</a:t>
            </a:r>
          </a:p>
        </p:txBody>
      </p:sp>
      <p:sp>
        <p:nvSpPr>
          <p:cNvPr id="27" name="Rounded Rectangle 26"/>
          <p:cNvSpPr/>
          <p:nvPr/>
        </p:nvSpPr>
        <p:spPr>
          <a:xfrm>
            <a:off x="5623559" y="3017520"/>
            <a:ext cx="1984248" cy="502920"/>
          </a:xfrm>
          <a:prstGeom prst="roundRect">
            <a:avLst/>
          </a:prstGeom>
          <a:solidFill>
            <a:srgbClr val="1422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714999" y="3108960"/>
            <a:ext cx="1801368" cy="329184"/>
          </a:xfrm>
          <a:prstGeom prst="rect">
            <a:avLst/>
          </a:prstGeom>
          <a:noFill/>
        </p:spPr>
        <p:txBody>
          <a:bodyPr wrap="square" lIns="18288" tIns="18288" rIns="18288" bIns="18288" anchor="t">
            <a:spAutoFit/>
          </a:bodyPr>
          <a:lstStyle/>
          <a:p>
            <a:pPr algn="l"/>
            <a:r>
              <a:rPr sz="1200" b="0">
                <a:solidFill>
                  <a:srgbClr val="F5F8FC"/>
                </a:solidFill>
                <a:latin typeface="Aptos"/>
              </a:rPr>
              <a:t>174 m/s</a:t>
            </a:r>
          </a:p>
        </p:txBody>
      </p:sp>
      <p:sp>
        <p:nvSpPr>
          <p:cNvPr id="29" name="Rounded Rectangle 28"/>
          <p:cNvSpPr/>
          <p:nvPr/>
        </p:nvSpPr>
        <p:spPr>
          <a:xfrm>
            <a:off x="7680960" y="3017520"/>
            <a:ext cx="3584448" cy="502920"/>
          </a:xfrm>
          <a:prstGeom prst="roundRect">
            <a:avLst/>
          </a:prstGeom>
          <a:solidFill>
            <a:srgbClr val="1422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772400" y="3108960"/>
            <a:ext cx="3401568" cy="329184"/>
          </a:xfrm>
          <a:prstGeom prst="rect">
            <a:avLst/>
          </a:prstGeom>
          <a:noFill/>
        </p:spPr>
        <p:txBody>
          <a:bodyPr wrap="square" lIns="18288" tIns="18288" rIns="18288" bIns="18288" anchor="t">
            <a:spAutoFit/>
          </a:bodyPr>
          <a:lstStyle/>
          <a:p>
            <a:pPr algn="l"/>
            <a:r>
              <a:rPr sz="1100" b="0">
                <a:solidFill>
                  <a:srgbClr val="F5F8FC"/>
                </a:solidFill>
                <a:latin typeface="Aptos"/>
              </a:rPr>
              <a:t>Lower drag supports faster ascent</a:t>
            </a:r>
          </a:p>
        </p:txBody>
      </p:sp>
      <p:sp>
        <p:nvSpPr>
          <p:cNvPr id="31" name="Rounded Rectangle 30"/>
          <p:cNvSpPr/>
          <p:nvPr/>
        </p:nvSpPr>
        <p:spPr>
          <a:xfrm>
            <a:off x="731520" y="3630168"/>
            <a:ext cx="2761488" cy="502920"/>
          </a:xfrm>
          <a:prstGeom prst="roundRect">
            <a:avLst/>
          </a:prstGeom>
          <a:solidFill>
            <a:srgbClr val="1829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22960" y="3721607"/>
            <a:ext cx="2578608" cy="329184"/>
          </a:xfrm>
          <a:prstGeom prst="rect">
            <a:avLst/>
          </a:prstGeom>
          <a:noFill/>
        </p:spPr>
        <p:txBody>
          <a:bodyPr wrap="square" lIns="18288" tIns="18288" rIns="18288" bIns="18288" anchor="t">
            <a:spAutoFit/>
          </a:bodyPr>
          <a:lstStyle/>
          <a:p>
            <a:pPr algn="l"/>
            <a:r>
              <a:rPr sz="1200" b="1">
                <a:solidFill>
                  <a:srgbClr val="42D3E6"/>
                </a:solidFill>
                <a:latin typeface="Aptos"/>
              </a:rPr>
              <a:t>Stability margin</a:t>
            </a:r>
          </a:p>
        </p:txBody>
      </p:sp>
      <p:sp>
        <p:nvSpPr>
          <p:cNvPr id="33" name="Rounded Rectangle 32"/>
          <p:cNvSpPr/>
          <p:nvPr/>
        </p:nvSpPr>
        <p:spPr>
          <a:xfrm>
            <a:off x="3566160" y="3630168"/>
            <a:ext cx="1984248" cy="502920"/>
          </a:xfrm>
          <a:prstGeom prst="roundRect">
            <a:avLst/>
          </a:prstGeom>
          <a:solidFill>
            <a:srgbClr val="1829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3657600" y="3721607"/>
            <a:ext cx="1801368" cy="329184"/>
          </a:xfrm>
          <a:prstGeom prst="rect">
            <a:avLst/>
          </a:prstGeom>
          <a:noFill/>
        </p:spPr>
        <p:txBody>
          <a:bodyPr wrap="square" lIns="18288" tIns="18288" rIns="18288" bIns="18288" anchor="t">
            <a:spAutoFit/>
          </a:bodyPr>
          <a:lstStyle/>
          <a:p>
            <a:pPr algn="l"/>
            <a:r>
              <a:rPr sz="1200" b="0">
                <a:solidFill>
                  <a:srgbClr val="F5F8FC"/>
                </a:solidFill>
                <a:latin typeface="Aptos"/>
              </a:rPr>
              <a:t>+0.21 cal</a:t>
            </a:r>
          </a:p>
        </p:txBody>
      </p:sp>
      <p:sp>
        <p:nvSpPr>
          <p:cNvPr id="35" name="Rounded Rectangle 34"/>
          <p:cNvSpPr/>
          <p:nvPr/>
        </p:nvSpPr>
        <p:spPr>
          <a:xfrm>
            <a:off x="5623559" y="3630168"/>
            <a:ext cx="1984248" cy="502920"/>
          </a:xfrm>
          <a:prstGeom prst="roundRect">
            <a:avLst/>
          </a:prstGeom>
          <a:solidFill>
            <a:srgbClr val="1829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5714999" y="3721607"/>
            <a:ext cx="1801368" cy="329184"/>
          </a:xfrm>
          <a:prstGeom prst="rect">
            <a:avLst/>
          </a:prstGeom>
          <a:noFill/>
        </p:spPr>
        <p:txBody>
          <a:bodyPr wrap="square" lIns="18288" tIns="18288" rIns="18288" bIns="18288" anchor="t">
            <a:spAutoFit/>
          </a:bodyPr>
          <a:lstStyle/>
          <a:p>
            <a:pPr algn="l"/>
            <a:r>
              <a:rPr sz="1200" b="0">
                <a:solidFill>
                  <a:srgbClr val="F5F8FC"/>
                </a:solidFill>
                <a:latin typeface="Aptos"/>
              </a:rPr>
              <a:t>+0.131 cal</a:t>
            </a:r>
          </a:p>
        </p:txBody>
      </p:sp>
      <p:sp>
        <p:nvSpPr>
          <p:cNvPr id="37" name="Rounded Rectangle 36"/>
          <p:cNvSpPr/>
          <p:nvPr/>
        </p:nvSpPr>
        <p:spPr>
          <a:xfrm>
            <a:off x="7680960" y="3630168"/>
            <a:ext cx="3584448" cy="502920"/>
          </a:xfrm>
          <a:prstGeom prst="roundRect">
            <a:avLst/>
          </a:prstGeom>
          <a:solidFill>
            <a:srgbClr val="1829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7772400" y="3721607"/>
            <a:ext cx="3401568" cy="329184"/>
          </a:xfrm>
          <a:prstGeom prst="rect">
            <a:avLst/>
          </a:prstGeom>
          <a:noFill/>
        </p:spPr>
        <p:txBody>
          <a:bodyPr wrap="square" lIns="18288" tIns="18288" rIns="18288" bIns="18288" anchor="t">
            <a:spAutoFit/>
          </a:bodyPr>
          <a:lstStyle/>
          <a:p>
            <a:pPr algn="l"/>
            <a:r>
              <a:rPr sz="1100" b="0">
                <a:solidFill>
                  <a:srgbClr val="F5F8FC"/>
                </a:solidFill>
                <a:latin typeface="Aptos"/>
              </a:rPr>
              <a:t>Stability margin narrows</a:t>
            </a:r>
          </a:p>
        </p:txBody>
      </p:sp>
      <p:sp>
        <p:nvSpPr>
          <p:cNvPr id="39" name="Rounded Rectangle 38"/>
          <p:cNvSpPr/>
          <p:nvPr/>
        </p:nvSpPr>
        <p:spPr>
          <a:xfrm>
            <a:off x="731520" y="4242816"/>
            <a:ext cx="2761488" cy="502920"/>
          </a:xfrm>
          <a:prstGeom prst="roundRect">
            <a:avLst/>
          </a:prstGeom>
          <a:solidFill>
            <a:srgbClr val="1422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822960" y="4334256"/>
            <a:ext cx="2578608" cy="329184"/>
          </a:xfrm>
          <a:prstGeom prst="rect">
            <a:avLst/>
          </a:prstGeom>
          <a:noFill/>
        </p:spPr>
        <p:txBody>
          <a:bodyPr wrap="square" lIns="18288" tIns="18288" rIns="18288" bIns="18288" anchor="t">
            <a:spAutoFit/>
          </a:bodyPr>
          <a:lstStyle/>
          <a:p>
            <a:pPr algn="l"/>
            <a:r>
              <a:rPr sz="1200" b="1">
                <a:solidFill>
                  <a:srgbClr val="42D3E6"/>
                </a:solidFill>
                <a:latin typeface="Aptos"/>
              </a:rPr>
              <a:t>Descent rate</a:t>
            </a:r>
          </a:p>
        </p:txBody>
      </p:sp>
      <p:sp>
        <p:nvSpPr>
          <p:cNvPr id="41" name="Rounded Rectangle 40"/>
          <p:cNvSpPr/>
          <p:nvPr/>
        </p:nvSpPr>
        <p:spPr>
          <a:xfrm>
            <a:off x="3566160" y="4242816"/>
            <a:ext cx="1984248" cy="502920"/>
          </a:xfrm>
          <a:prstGeom prst="roundRect">
            <a:avLst/>
          </a:prstGeom>
          <a:solidFill>
            <a:srgbClr val="1422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3657600" y="4334256"/>
            <a:ext cx="1801368" cy="329184"/>
          </a:xfrm>
          <a:prstGeom prst="rect">
            <a:avLst/>
          </a:prstGeom>
          <a:noFill/>
        </p:spPr>
        <p:txBody>
          <a:bodyPr wrap="square" lIns="18288" tIns="18288" rIns="18288" bIns="18288" anchor="t">
            <a:spAutoFit/>
          </a:bodyPr>
          <a:lstStyle/>
          <a:p>
            <a:pPr algn="l"/>
            <a:r>
              <a:rPr sz="1200" b="0">
                <a:solidFill>
                  <a:srgbClr val="F5F8FC"/>
                </a:solidFill>
                <a:latin typeface="Aptos"/>
              </a:rPr>
              <a:t>4.15 m/s</a:t>
            </a:r>
          </a:p>
        </p:txBody>
      </p:sp>
      <p:sp>
        <p:nvSpPr>
          <p:cNvPr id="43" name="Rounded Rectangle 42"/>
          <p:cNvSpPr/>
          <p:nvPr/>
        </p:nvSpPr>
        <p:spPr>
          <a:xfrm>
            <a:off x="5623559" y="4242816"/>
            <a:ext cx="1984248" cy="502920"/>
          </a:xfrm>
          <a:prstGeom prst="roundRect">
            <a:avLst/>
          </a:prstGeom>
          <a:solidFill>
            <a:srgbClr val="1422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5714999" y="4334256"/>
            <a:ext cx="1801368" cy="329184"/>
          </a:xfrm>
          <a:prstGeom prst="rect">
            <a:avLst/>
          </a:prstGeom>
          <a:noFill/>
        </p:spPr>
        <p:txBody>
          <a:bodyPr wrap="square" lIns="18288" tIns="18288" rIns="18288" bIns="18288" anchor="t">
            <a:spAutoFit/>
          </a:bodyPr>
          <a:lstStyle/>
          <a:p>
            <a:pPr algn="l"/>
            <a:r>
              <a:rPr sz="1200" b="0">
                <a:solidFill>
                  <a:srgbClr val="F5F8FC"/>
                </a:solidFill>
                <a:latin typeface="Aptos"/>
              </a:rPr>
              <a:t>6.04 m/s</a:t>
            </a:r>
          </a:p>
        </p:txBody>
      </p:sp>
      <p:sp>
        <p:nvSpPr>
          <p:cNvPr id="45" name="Rounded Rectangle 44"/>
          <p:cNvSpPr/>
          <p:nvPr/>
        </p:nvSpPr>
        <p:spPr>
          <a:xfrm>
            <a:off x="7680960" y="4242816"/>
            <a:ext cx="3584448" cy="502920"/>
          </a:xfrm>
          <a:prstGeom prst="roundRect">
            <a:avLst/>
          </a:prstGeom>
          <a:solidFill>
            <a:srgbClr val="1422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7772400" y="4334256"/>
            <a:ext cx="3401568" cy="329184"/>
          </a:xfrm>
          <a:prstGeom prst="rect">
            <a:avLst/>
          </a:prstGeom>
          <a:noFill/>
        </p:spPr>
        <p:txBody>
          <a:bodyPr wrap="square" lIns="18288" tIns="18288" rIns="18288" bIns="18288" anchor="t">
            <a:spAutoFit/>
          </a:bodyPr>
          <a:lstStyle/>
          <a:p>
            <a:pPr algn="l"/>
            <a:r>
              <a:rPr sz="1100" b="0">
                <a:solidFill>
                  <a:srgbClr val="F5F8FC"/>
                </a:solidFill>
                <a:latin typeface="Aptos"/>
              </a:rPr>
              <a:t>Thin air weakens parachute braking</a:t>
            </a:r>
          </a:p>
        </p:txBody>
      </p:sp>
      <p:sp>
        <p:nvSpPr>
          <p:cNvPr id="47" name="Rounded Rectangle 46"/>
          <p:cNvSpPr/>
          <p:nvPr/>
        </p:nvSpPr>
        <p:spPr>
          <a:xfrm>
            <a:off x="731520" y="4855464"/>
            <a:ext cx="2761488" cy="502920"/>
          </a:xfrm>
          <a:prstGeom prst="roundRect">
            <a:avLst/>
          </a:prstGeom>
          <a:solidFill>
            <a:srgbClr val="1829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822960" y="4946904"/>
            <a:ext cx="2578608" cy="329184"/>
          </a:xfrm>
          <a:prstGeom prst="rect">
            <a:avLst/>
          </a:prstGeom>
          <a:noFill/>
        </p:spPr>
        <p:txBody>
          <a:bodyPr wrap="square" lIns="18288" tIns="18288" rIns="18288" bIns="18288" anchor="t">
            <a:spAutoFit/>
          </a:bodyPr>
          <a:lstStyle/>
          <a:p>
            <a:pPr algn="l"/>
            <a:r>
              <a:rPr sz="1200" b="1">
                <a:solidFill>
                  <a:srgbClr val="42D3E6"/>
                </a:solidFill>
                <a:latin typeface="Aptos"/>
              </a:rPr>
              <a:t>Downrange drift</a:t>
            </a:r>
          </a:p>
        </p:txBody>
      </p:sp>
      <p:sp>
        <p:nvSpPr>
          <p:cNvPr id="49" name="Rounded Rectangle 48"/>
          <p:cNvSpPr/>
          <p:nvPr/>
        </p:nvSpPr>
        <p:spPr>
          <a:xfrm>
            <a:off x="3566160" y="4855464"/>
            <a:ext cx="1984248" cy="502920"/>
          </a:xfrm>
          <a:prstGeom prst="roundRect">
            <a:avLst/>
          </a:prstGeom>
          <a:solidFill>
            <a:srgbClr val="1829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3657600" y="4946904"/>
            <a:ext cx="1801368" cy="329184"/>
          </a:xfrm>
          <a:prstGeom prst="rect">
            <a:avLst/>
          </a:prstGeom>
          <a:noFill/>
        </p:spPr>
        <p:txBody>
          <a:bodyPr wrap="square" lIns="18288" tIns="18288" rIns="18288" bIns="18288" anchor="t">
            <a:spAutoFit/>
          </a:bodyPr>
          <a:lstStyle/>
          <a:p>
            <a:pPr algn="l"/>
            <a:r>
              <a:rPr sz="1200" b="0">
                <a:solidFill>
                  <a:srgbClr val="F5F8FC"/>
                </a:solidFill>
                <a:latin typeface="Aptos"/>
              </a:rPr>
              <a:t>45 m</a:t>
            </a:r>
          </a:p>
        </p:txBody>
      </p:sp>
      <p:sp>
        <p:nvSpPr>
          <p:cNvPr id="51" name="Rounded Rectangle 50"/>
          <p:cNvSpPr/>
          <p:nvPr/>
        </p:nvSpPr>
        <p:spPr>
          <a:xfrm>
            <a:off x="5623559" y="4855464"/>
            <a:ext cx="1984248" cy="502920"/>
          </a:xfrm>
          <a:prstGeom prst="roundRect">
            <a:avLst/>
          </a:prstGeom>
          <a:solidFill>
            <a:srgbClr val="1829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5714999" y="4946904"/>
            <a:ext cx="1801368" cy="329184"/>
          </a:xfrm>
          <a:prstGeom prst="rect">
            <a:avLst/>
          </a:prstGeom>
          <a:noFill/>
        </p:spPr>
        <p:txBody>
          <a:bodyPr wrap="square" lIns="18288" tIns="18288" rIns="18288" bIns="18288" anchor="t">
            <a:spAutoFit/>
          </a:bodyPr>
          <a:lstStyle/>
          <a:p>
            <a:pPr algn="l"/>
            <a:r>
              <a:rPr sz="1200" b="0">
                <a:solidFill>
                  <a:srgbClr val="F5F8FC"/>
                </a:solidFill>
                <a:latin typeface="Aptos"/>
              </a:rPr>
              <a:t>10 m</a:t>
            </a:r>
          </a:p>
        </p:txBody>
      </p:sp>
      <p:sp>
        <p:nvSpPr>
          <p:cNvPr id="53" name="Rounded Rectangle 52"/>
          <p:cNvSpPr/>
          <p:nvPr/>
        </p:nvSpPr>
        <p:spPr>
          <a:xfrm>
            <a:off x="7680960" y="4855464"/>
            <a:ext cx="3584448" cy="502920"/>
          </a:xfrm>
          <a:prstGeom prst="roundRect">
            <a:avLst/>
          </a:prstGeom>
          <a:solidFill>
            <a:srgbClr val="1829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7772400" y="4946904"/>
            <a:ext cx="3401568" cy="329184"/>
          </a:xfrm>
          <a:prstGeom prst="rect">
            <a:avLst/>
          </a:prstGeom>
          <a:noFill/>
        </p:spPr>
        <p:txBody>
          <a:bodyPr wrap="square" lIns="18288" tIns="18288" rIns="18288" bIns="18288" anchor="t">
            <a:spAutoFit/>
          </a:bodyPr>
          <a:lstStyle/>
          <a:p>
            <a:pPr algn="l"/>
            <a:r>
              <a:rPr sz="1100" b="0">
                <a:solidFill>
                  <a:srgbClr val="F5F8FC"/>
                </a:solidFill>
                <a:latin typeface="Aptos"/>
              </a:rPr>
              <a:t>Different wind/flight response in model</a:t>
            </a:r>
          </a:p>
        </p:txBody>
      </p:sp>
      <p:sp>
        <p:nvSpPr>
          <p:cNvPr id="55" name="Rounded Rectangle 54"/>
          <p:cNvSpPr/>
          <p:nvPr/>
        </p:nvSpPr>
        <p:spPr>
          <a:xfrm>
            <a:off x="731520" y="5440680"/>
            <a:ext cx="5257800" cy="822960"/>
          </a:xfrm>
          <a:prstGeom prst="roundRect">
            <a:avLst/>
          </a:prstGeom>
          <a:solidFill>
            <a:srgbClr val="182942"/>
          </a:solidFill>
          <a:ln>
            <a:solidFill>
              <a:srgbClr val="2D42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932688" y="5605272"/>
            <a:ext cx="4855464" cy="347472"/>
          </a:xfrm>
          <a:prstGeom prst="rect">
            <a:avLst/>
          </a:prstGeom>
          <a:noFill/>
        </p:spPr>
        <p:txBody>
          <a:bodyPr wrap="square" lIns="18288" tIns="18288" rIns="18288" bIns="18288" anchor="t">
            <a:spAutoFit/>
          </a:bodyPr>
          <a:lstStyle/>
          <a:p>
            <a:pPr algn="l"/>
            <a:r>
              <a:rPr sz="1500" b="1">
                <a:solidFill>
                  <a:srgbClr val="FFAE42"/>
                </a:solidFill>
                <a:latin typeface="Aptos"/>
              </a:rPr>
              <a:t>ENVIRONMENT USED</a:t>
            </a:r>
          </a:p>
        </p:txBody>
      </p:sp>
      <p:sp>
        <p:nvSpPr>
          <p:cNvPr id="57" name="TextBox 56"/>
          <p:cNvSpPr txBox="1"/>
          <p:nvPr/>
        </p:nvSpPr>
        <p:spPr>
          <a:xfrm>
            <a:off x="932688" y="5907024"/>
            <a:ext cx="4855464" cy="73152"/>
          </a:xfrm>
          <a:prstGeom prst="rect">
            <a:avLst/>
          </a:prstGeom>
          <a:noFill/>
        </p:spPr>
        <p:txBody>
          <a:bodyPr wrap="square" lIns="18288" tIns="18288" rIns="18288" bIns="18288" anchor="t">
            <a:spAutoFit/>
          </a:bodyPr>
          <a:lstStyle/>
          <a:p>
            <a:pPr algn="l"/>
            <a:r>
              <a:rPr sz="1100" b="0" dirty="0">
                <a:solidFill>
                  <a:srgbClr val="F5F8FC"/>
                </a:solidFill>
                <a:latin typeface="Aptos"/>
              </a:rPr>
              <a:t>g = 6.50 m/s²  •  density = 0.374 kg/m³  •  temperature = 700 K</a:t>
            </a:r>
          </a:p>
        </p:txBody>
      </p:sp>
      <p:sp>
        <p:nvSpPr>
          <p:cNvPr id="58" name="Rounded Rectangle 57"/>
          <p:cNvSpPr/>
          <p:nvPr/>
        </p:nvSpPr>
        <p:spPr>
          <a:xfrm>
            <a:off x="6217920" y="5440680"/>
            <a:ext cx="5257800" cy="822960"/>
          </a:xfrm>
          <a:prstGeom prst="roundRect">
            <a:avLst/>
          </a:prstGeom>
          <a:solidFill>
            <a:srgbClr val="182942"/>
          </a:solidFill>
          <a:ln>
            <a:solidFill>
              <a:srgbClr val="2D42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6419088" y="5605272"/>
            <a:ext cx="4855464" cy="347472"/>
          </a:xfrm>
          <a:prstGeom prst="rect">
            <a:avLst/>
          </a:prstGeom>
          <a:noFill/>
        </p:spPr>
        <p:txBody>
          <a:bodyPr wrap="square" lIns="18288" tIns="18288" rIns="18288" bIns="18288" anchor="t">
            <a:spAutoFit/>
          </a:bodyPr>
          <a:lstStyle/>
          <a:p>
            <a:pPr algn="l"/>
            <a:r>
              <a:rPr sz="1500" b="1">
                <a:solidFill>
                  <a:srgbClr val="5CDCA0"/>
                </a:solidFill>
                <a:latin typeface="Aptos"/>
              </a:rPr>
              <a:t>ENGINEERING TAKEAWAY</a:t>
            </a:r>
          </a:p>
        </p:txBody>
      </p:sp>
      <p:sp>
        <p:nvSpPr>
          <p:cNvPr id="60" name="TextBox 59"/>
          <p:cNvSpPr txBox="1"/>
          <p:nvPr/>
        </p:nvSpPr>
        <p:spPr>
          <a:xfrm>
            <a:off x="6460236" y="5870448"/>
            <a:ext cx="4855464" cy="73152"/>
          </a:xfrm>
          <a:prstGeom prst="rect">
            <a:avLst/>
          </a:prstGeom>
          <a:noFill/>
        </p:spPr>
        <p:txBody>
          <a:bodyPr wrap="square" lIns="18288" tIns="18288" rIns="18288" bIns="18288" anchor="t">
            <a:spAutoFit/>
          </a:bodyPr>
          <a:lstStyle/>
          <a:p>
            <a:pPr algn="l"/>
            <a:r>
              <a:rPr sz="1100" b="0" dirty="0">
                <a:solidFill>
                  <a:srgbClr val="F5F8FC"/>
                </a:solidFill>
                <a:latin typeface="Aptos"/>
              </a:rPr>
              <a:t>Parachute sizing and directional stability must be tuned for the local atmosphere.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D192D"/>
        </a:solidFill>
        <a:effectLst/>
      </p:bgPr>
    </p:bg>
    <p:spTree>
      <p:nvGrpSpPr>
        <p:cNvPr id="1" name=""/>
        <p:cNvGrpSpPr/>
        <p:nvPr/>
      </p:nvGrpSpPr>
      <p:grpSpPr>
        <a:xfrm>
          <a:off x="0" y="0"/>
          <a:ext cx="0" cy="0"/>
          <a:chOff x="0" y="0"/>
          <a:chExt cx="0" cy="0"/>
        </a:xfrm>
      </p:grpSpPr>
      <p:sp>
        <p:nvSpPr>
          <p:cNvPr id="2" name="Rectangle 1"/>
          <p:cNvSpPr/>
          <p:nvPr/>
        </p:nvSpPr>
        <p:spPr>
          <a:xfrm>
            <a:off x="0" y="6748272"/>
            <a:ext cx="12191695" cy="109728"/>
          </a:xfrm>
          <a:prstGeom prst="rect">
            <a:avLst/>
          </a:prstGeom>
          <a:solidFill>
            <a:srgbClr val="42D3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47472"/>
            <a:ext cx="9875520" cy="256032"/>
          </a:xfrm>
          <a:prstGeom prst="rect">
            <a:avLst/>
          </a:prstGeom>
          <a:noFill/>
        </p:spPr>
        <p:txBody>
          <a:bodyPr wrap="square" lIns="18288" tIns="18288" rIns="18288" bIns="18288" anchor="t">
            <a:spAutoFit/>
          </a:bodyPr>
          <a:lstStyle/>
          <a:p>
            <a:pPr algn="l"/>
            <a:r>
              <a:rPr sz="1000" b="1">
                <a:solidFill>
                  <a:srgbClr val="42D3E6"/>
                </a:solidFill>
                <a:latin typeface="Aptos"/>
              </a:rPr>
              <a:t>STAC PS3  •  EXOPLANET TRANSIT ANALYSIS</a:t>
            </a:r>
          </a:p>
        </p:txBody>
      </p:sp>
      <p:sp>
        <p:nvSpPr>
          <p:cNvPr id="4" name="TextBox 3"/>
          <p:cNvSpPr txBox="1"/>
          <p:nvPr/>
        </p:nvSpPr>
        <p:spPr>
          <a:xfrm>
            <a:off x="594360" y="713232"/>
            <a:ext cx="10972800" cy="594360"/>
          </a:xfrm>
          <a:prstGeom prst="rect">
            <a:avLst/>
          </a:prstGeom>
          <a:noFill/>
        </p:spPr>
        <p:txBody>
          <a:bodyPr wrap="square" lIns="18288" tIns="18288" rIns="18288" bIns="18288" anchor="t">
            <a:spAutoFit/>
          </a:bodyPr>
          <a:lstStyle/>
          <a:p>
            <a:pPr algn="l"/>
            <a:r>
              <a:rPr sz="2800" b="1">
                <a:solidFill>
                  <a:srgbClr val="F5F8FC"/>
                </a:solidFill>
                <a:latin typeface="Aptos"/>
              </a:rPr>
              <a:t>Periodic brightness dips reveal three candidate planets</a:t>
            </a:r>
          </a:p>
        </p:txBody>
      </p:sp>
      <p:sp>
        <p:nvSpPr>
          <p:cNvPr id="5" name="TextBox 4"/>
          <p:cNvSpPr txBox="1"/>
          <p:nvPr/>
        </p:nvSpPr>
        <p:spPr>
          <a:xfrm>
            <a:off x="612648" y="1353312"/>
            <a:ext cx="10789920" cy="384048"/>
          </a:xfrm>
          <a:prstGeom prst="rect">
            <a:avLst/>
          </a:prstGeom>
          <a:noFill/>
        </p:spPr>
        <p:txBody>
          <a:bodyPr wrap="square" lIns="18288" tIns="18288" rIns="18288" bIns="18288" anchor="t">
            <a:spAutoFit/>
          </a:bodyPr>
          <a:lstStyle/>
          <a:p>
            <a:pPr algn="l"/>
            <a:r>
              <a:rPr sz="1200" b="0">
                <a:solidFill>
                  <a:srgbClr val="B3C2D3"/>
                </a:solidFill>
                <a:latin typeface="Aptos"/>
              </a:rPr>
              <a:t>Transit depth estimates planetary size; repeat timing estimates orbital period</a:t>
            </a:r>
          </a:p>
        </p:txBody>
      </p:sp>
      <p:sp>
        <p:nvSpPr>
          <p:cNvPr id="6" name="TextBox 5"/>
          <p:cNvSpPr txBox="1"/>
          <p:nvPr/>
        </p:nvSpPr>
        <p:spPr>
          <a:xfrm>
            <a:off x="11064240" y="365760"/>
            <a:ext cx="502920" cy="274320"/>
          </a:xfrm>
          <a:prstGeom prst="rect">
            <a:avLst/>
          </a:prstGeom>
          <a:noFill/>
        </p:spPr>
        <p:txBody>
          <a:bodyPr wrap="square" lIns="18288" tIns="18288" rIns="18288" bIns="18288" anchor="t">
            <a:spAutoFit/>
          </a:bodyPr>
          <a:lstStyle/>
          <a:p>
            <a:pPr algn="r"/>
            <a:r>
              <a:rPr sz="1000" b="1">
                <a:solidFill>
                  <a:srgbClr val="B3C2D3"/>
                </a:solidFill>
                <a:latin typeface="Aptos"/>
              </a:rPr>
              <a:t>03</a:t>
            </a:r>
          </a:p>
        </p:txBody>
      </p:sp>
      <p:sp>
        <p:nvSpPr>
          <p:cNvPr id="7" name="Rounded Rectangle 6"/>
          <p:cNvSpPr/>
          <p:nvPr/>
        </p:nvSpPr>
        <p:spPr>
          <a:xfrm>
            <a:off x="731520" y="1828800"/>
            <a:ext cx="1847088" cy="438912"/>
          </a:xfrm>
          <a:prstGeom prst="roundRect">
            <a:avLst/>
          </a:prstGeom>
          <a:solidFill>
            <a:srgbClr val="233C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04672" y="1901952"/>
            <a:ext cx="1719072" cy="274320"/>
          </a:xfrm>
          <a:prstGeom prst="rect">
            <a:avLst/>
          </a:prstGeom>
          <a:noFill/>
        </p:spPr>
        <p:txBody>
          <a:bodyPr wrap="square" lIns="18288" tIns="18288" rIns="18288" bIns="18288" anchor="t">
            <a:spAutoFit/>
          </a:bodyPr>
          <a:lstStyle/>
          <a:p>
            <a:pPr algn="l"/>
            <a:r>
              <a:rPr sz="900" b="1">
                <a:solidFill>
                  <a:srgbClr val="42D3E6"/>
                </a:solidFill>
                <a:latin typeface="Aptos"/>
              </a:rPr>
              <a:t>SYSTEM</a:t>
            </a:r>
          </a:p>
        </p:txBody>
      </p:sp>
      <p:sp>
        <p:nvSpPr>
          <p:cNvPr id="9" name="Rounded Rectangle 8"/>
          <p:cNvSpPr/>
          <p:nvPr/>
        </p:nvSpPr>
        <p:spPr>
          <a:xfrm>
            <a:off x="2651760" y="1828800"/>
            <a:ext cx="1892807" cy="438912"/>
          </a:xfrm>
          <a:prstGeom prst="roundRect">
            <a:avLst/>
          </a:prstGeom>
          <a:solidFill>
            <a:srgbClr val="233C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724912" y="1901952"/>
            <a:ext cx="1764792" cy="274320"/>
          </a:xfrm>
          <a:prstGeom prst="rect">
            <a:avLst/>
          </a:prstGeom>
          <a:noFill/>
        </p:spPr>
        <p:txBody>
          <a:bodyPr wrap="square" lIns="18288" tIns="18288" rIns="18288" bIns="18288" anchor="t">
            <a:spAutoFit/>
          </a:bodyPr>
          <a:lstStyle/>
          <a:p>
            <a:pPr algn="l"/>
            <a:r>
              <a:rPr sz="900" b="1">
                <a:solidFill>
                  <a:srgbClr val="42D3E6"/>
                </a:solidFill>
                <a:latin typeface="Aptos"/>
              </a:rPr>
              <a:t>PERIOD</a:t>
            </a:r>
          </a:p>
        </p:txBody>
      </p:sp>
      <p:sp>
        <p:nvSpPr>
          <p:cNvPr id="11" name="Rounded Rectangle 10"/>
          <p:cNvSpPr/>
          <p:nvPr/>
        </p:nvSpPr>
        <p:spPr>
          <a:xfrm>
            <a:off x="4617720" y="1828800"/>
            <a:ext cx="1755648" cy="438912"/>
          </a:xfrm>
          <a:prstGeom prst="roundRect">
            <a:avLst/>
          </a:prstGeom>
          <a:solidFill>
            <a:srgbClr val="233C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690872" y="1901952"/>
            <a:ext cx="1627632" cy="274320"/>
          </a:xfrm>
          <a:prstGeom prst="rect">
            <a:avLst/>
          </a:prstGeom>
          <a:noFill/>
        </p:spPr>
        <p:txBody>
          <a:bodyPr wrap="square" lIns="18288" tIns="18288" rIns="18288" bIns="18288" anchor="t">
            <a:spAutoFit/>
          </a:bodyPr>
          <a:lstStyle/>
          <a:p>
            <a:pPr algn="l"/>
            <a:r>
              <a:rPr sz="900" b="1">
                <a:solidFill>
                  <a:srgbClr val="42D3E6"/>
                </a:solidFill>
                <a:latin typeface="Aptos"/>
              </a:rPr>
              <a:t>TRANSIT DEPTH</a:t>
            </a:r>
          </a:p>
        </p:txBody>
      </p:sp>
      <p:sp>
        <p:nvSpPr>
          <p:cNvPr id="13" name="Rounded Rectangle 12"/>
          <p:cNvSpPr/>
          <p:nvPr/>
        </p:nvSpPr>
        <p:spPr>
          <a:xfrm>
            <a:off x="6446520" y="1828800"/>
            <a:ext cx="1938528" cy="438912"/>
          </a:xfrm>
          <a:prstGeom prst="roundRect">
            <a:avLst/>
          </a:prstGeom>
          <a:solidFill>
            <a:srgbClr val="233C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519672" y="1901952"/>
            <a:ext cx="1810512" cy="274320"/>
          </a:xfrm>
          <a:prstGeom prst="rect">
            <a:avLst/>
          </a:prstGeom>
          <a:noFill/>
        </p:spPr>
        <p:txBody>
          <a:bodyPr wrap="square" lIns="18288" tIns="18288" rIns="18288" bIns="18288" anchor="t">
            <a:spAutoFit/>
          </a:bodyPr>
          <a:lstStyle/>
          <a:p>
            <a:pPr algn="l"/>
            <a:r>
              <a:rPr sz="900" b="1">
                <a:solidFill>
                  <a:srgbClr val="42D3E6"/>
                </a:solidFill>
                <a:latin typeface="Aptos"/>
              </a:rPr>
              <a:t>PLANET RADIUS</a:t>
            </a:r>
          </a:p>
        </p:txBody>
      </p:sp>
      <p:sp>
        <p:nvSpPr>
          <p:cNvPr id="15" name="Rounded Rectangle 14"/>
          <p:cNvSpPr/>
          <p:nvPr/>
        </p:nvSpPr>
        <p:spPr>
          <a:xfrm>
            <a:off x="8458200" y="1828800"/>
            <a:ext cx="2304288" cy="438912"/>
          </a:xfrm>
          <a:prstGeom prst="roundRect">
            <a:avLst/>
          </a:prstGeom>
          <a:solidFill>
            <a:srgbClr val="233C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531352" y="1901952"/>
            <a:ext cx="2176272" cy="274320"/>
          </a:xfrm>
          <a:prstGeom prst="rect">
            <a:avLst/>
          </a:prstGeom>
          <a:noFill/>
        </p:spPr>
        <p:txBody>
          <a:bodyPr wrap="square" lIns="18288" tIns="18288" rIns="18288" bIns="18288" anchor="t">
            <a:spAutoFit/>
          </a:bodyPr>
          <a:lstStyle/>
          <a:p>
            <a:pPr algn="l"/>
            <a:r>
              <a:rPr sz="900" b="1">
                <a:solidFill>
                  <a:srgbClr val="42D3E6"/>
                </a:solidFill>
                <a:latin typeface="Aptos"/>
              </a:rPr>
              <a:t>INFERRED CLASS</a:t>
            </a:r>
          </a:p>
        </p:txBody>
      </p:sp>
      <p:sp>
        <p:nvSpPr>
          <p:cNvPr id="17" name="Rounded Rectangle 16"/>
          <p:cNvSpPr/>
          <p:nvPr/>
        </p:nvSpPr>
        <p:spPr>
          <a:xfrm>
            <a:off x="731520" y="2359152"/>
            <a:ext cx="1847088" cy="548640"/>
          </a:xfrm>
          <a:prstGeom prst="roundRect">
            <a:avLst/>
          </a:prstGeom>
          <a:solidFill>
            <a:srgbClr val="1829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04672" y="2468880"/>
            <a:ext cx="1719072" cy="329184"/>
          </a:xfrm>
          <a:prstGeom prst="rect">
            <a:avLst/>
          </a:prstGeom>
          <a:noFill/>
        </p:spPr>
        <p:txBody>
          <a:bodyPr wrap="square" lIns="18288" tIns="18288" rIns="18288" bIns="18288" anchor="t">
            <a:spAutoFit/>
          </a:bodyPr>
          <a:lstStyle/>
          <a:p>
            <a:pPr algn="l"/>
            <a:r>
              <a:rPr sz="1200" b="1">
                <a:solidFill>
                  <a:srgbClr val="42D3E6"/>
                </a:solidFill>
                <a:latin typeface="Aptos"/>
              </a:rPr>
              <a:t>STAC-1 b</a:t>
            </a:r>
          </a:p>
        </p:txBody>
      </p:sp>
      <p:sp>
        <p:nvSpPr>
          <p:cNvPr id="19" name="Rounded Rectangle 18"/>
          <p:cNvSpPr/>
          <p:nvPr/>
        </p:nvSpPr>
        <p:spPr>
          <a:xfrm>
            <a:off x="2651760" y="2359152"/>
            <a:ext cx="1892807" cy="548640"/>
          </a:xfrm>
          <a:prstGeom prst="roundRect">
            <a:avLst/>
          </a:prstGeom>
          <a:solidFill>
            <a:srgbClr val="1829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724912" y="2468880"/>
            <a:ext cx="1764792" cy="329184"/>
          </a:xfrm>
          <a:prstGeom prst="rect">
            <a:avLst/>
          </a:prstGeom>
          <a:noFill/>
        </p:spPr>
        <p:txBody>
          <a:bodyPr wrap="square" lIns="18288" tIns="18288" rIns="18288" bIns="18288" anchor="t">
            <a:spAutoFit/>
          </a:bodyPr>
          <a:lstStyle/>
          <a:p>
            <a:pPr algn="l"/>
            <a:r>
              <a:rPr sz="1200" b="0">
                <a:solidFill>
                  <a:srgbClr val="F5F8FC"/>
                </a:solidFill>
                <a:latin typeface="Aptos"/>
              </a:rPr>
              <a:t>4.25 days</a:t>
            </a:r>
          </a:p>
        </p:txBody>
      </p:sp>
      <p:sp>
        <p:nvSpPr>
          <p:cNvPr id="21" name="Rounded Rectangle 20"/>
          <p:cNvSpPr/>
          <p:nvPr/>
        </p:nvSpPr>
        <p:spPr>
          <a:xfrm>
            <a:off x="4617720" y="2359152"/>
            <a:ext cx="1755648" cy="548640"/>
          </a:xfrm>
          <a:prstGeom prst="roundRect">
            <a:avLst/>
          </a:prstGeom>
          <a:solidFill>
            <a:srgbClr val="1829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690872" y="2468880"/>
            <a:ext cx="1627632" cy="329184"/>
          </a:xfrm>
          <a:prstGeom prst="rect">
            <a:avLst/>
          </a:prstGeom>
          <a:noFill/>
        </p:spPr>
        <p:txBody>
          <a:bodyPr wrap="square" lIns="18288" tIns="18288" rIns="18288" bIns="18288" anchor="t">
            <a:spAutoFit/>
          </a:bodyPr>
          <a:lstStyle/>
          <a:p>
            <a:pPr algn="l"/>
            <a:r>
              <a:rPr sz="1200" b="0">
                <a:solidFill>
                  <a:srgbClr val="F5F8FC"/>
                </a:solidFill>
                <a:latin typeface="Aptos"/>
              </a:rPr>
              <a:t>0.30%</a:t>
            </a:r>
          </a:p>
        </p:txBody>
      </p:sp>
      <p:sp>
        <p:nvSpPr>
          <p:cNvPr id="23" name="Rounded Rectangle 22"/>
          <p:cNvSpPr/>
          <p:nvPr/>
        </p:nvSpPr>
        <p:spPr>
          <a:xfrm>
            <a:off x="6446520" y="2359152"/>
            <a:ext cx="1938528" cy="548640"/>
          </a:xfrm>
          <a:prstGeom prst="roundRect">
            <a:avLst/>
          </a:prstGeom>
          <a:solidFill>
            <a:srgbClr val="1829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519672" y="2468880"/>
            <a:ext cx="1810512" cy="329184"/>
          </a:xfrm>
          <a:prstGeom prst="rect">
            <a:avLst/>
          </a:prstGeom>
          <a:noFill/>
        </p:spPr>
        <p:txBody>
          <a:bodyPr wrap="square" lIns="18288" tIns="18288" rIns="18288" bIns="18288" anchor="t">
            <a:spAutoFit/>
          </a:bodyPr>
          <a:lstStyle/>
          <a:p>
            <a:pPr algn="l"/>
            <a:r>
              <a:rPr sz="1200" b="0">
                <a:solidFill>
                  <a:srgbClr val="F5F8FC"/>
                </a:solidFill>
                <a:latin typeface="Aptos"/>
              </a:rPr>
              <a:t>5.98 R⊕</a:t>
            </a:r>
          </a:p>
        </p:txBody>
      </p:sp>
      <p:sp>
        <p:nvSpPr>
          <p:cNvPr id="25" name="Rounded Rectangle 24"/>
          <p:cNvSpPr/>
          <p:nvPr/>
        </p:nvSpPr>
        <p:spPr>
          <a:xfrm>
            <a:off x="8458200" y="2359152"/>
            <a:ext cx="2304288" cy="548640"/>
          </a:xfrm>
          <a:prstGeom prst="roundRect">
            <a:avLst/>
          </a:prstGeom>
          <a:solidFill>
            <a:srgbClr val="1829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531352" y="2468880"/>
            <a:ext cx="2176272" cy="329184"/>
          </a:xfrm>
          <a:prstGeom prst="rect">
            <a:avLst/>
          </a:prstGeom>
          <a:noFill/>
        </p:spPr>
        <p:txBody>
          <a:bodyPr wrap="square" lIns="18288" tIns="18288" rIns="18288" bIns="18288" anchor="t">
            <a:spAutoFit/>
          </a:bodyPr>
          <a:lstStyle/>
          <a:p>
            <a:pPr algn="l"/>
            <a:r>
              <a:rPr sz="1000" b="0">
                <a:solidFill>
                  <a:srgbClr val="F5F8FC"/>
                </a:solidFill>
                <a:latin typeface="Aptos"/>
              </a:rPr>
              <a:t>Neptune-sized</a:t>
            </a:r>
          </a:p>
        </p:txBody>
      </p:sp>
      <p:sp>
        <p:nvSpPr>
          <p:cNvPr id="27" name="Rounded Rectangle 26"/>
          <p:cNvSpPr/>
          <p:nvPr/>
        </p:nvSpPr>
        <p:spPr>
          <a:xfrm>
            <a:off x="731520" y="3017520"/>
            <a:ext cx="1847088" cy="548640"/>
          </a:xfrm>
          <a:prstGeom prst="roundRect">
            <a:avLst/>
          </a:prstGeom>
          <a:solidFill>
            <a:srgbClr val="1422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04672" y="3127248"/>
            <a:ext cx="1719072" cy="329184"/>
          </a:xfrm>
          <a:prstGeom prst="rect">
            <a:avLst/>
          </a:prstGeom>
          <a:noFill/>
        </p:spPr>
        <p:txBody>
          <a:bodyPr wrap="square" lIns="18288" tIns="18288" rIns="18288" bIns="18288" anchor="t">
            <a:spAutoFit/>
          </a:bodyPr>
          <a:lstStyle/>
          <a:p>
            <a:pPr algn="l"/>
            <a:r>
              <a:rPr sz="1200" b="1">
                <a:solidFill>
                  <a:srgbClr val="42D3E6"/>
                </a:solidFill>
                <a:latin typeface="Aptos"/>
              </a:rPr>
              <a:t>STAC-2 b</a:t>
            </a:r>
          </a:p>
        </p:txBody>
      </p:sp>
      <p:sp>
        <p:nvSpPr>
          <p:cNvPr id="29" name="Rounded Rectangle 28"/>
          <p:cNvSpPr/>
          <p:nvPr/>
        </p:nvSpPr>
        <p:spPr>
          <a:xfrm>
            <a:off x="2651760" y="3017520"/>
            <a:ext cx="1892807" cy="548640"/>
          </a:xfrm>
          <a:prstGeom prst="roundRect">
            <a:avLst/>
          </a:prstGeom>
          <a:solidFill>
            <a:srgbClr val="1422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2724912" y="3127248"/>
            <a:ext cx="1764792" cy="329184"/>
          </a:xfrm>
          <a:prstGeom prst="rect">
            <a:avLst/>
          </a:prstGeom>
          <a:noFill/>
        </p:spPr>
        <p:txBody>
          <a:bodyPr wrap="square" lIns="18288" tIns="18288" rIns="18288" bIns="18288" anchor="t">
            <a:spAutoFit/>
          </a:bodyPr>
          <a:lstStyle/>
          <a:p>
            <a:pPr algn="l"/>
            <a:r>
              <a:rPr sz="1200" b="0">
                <a:solidFill>
                  <a:srgbClr val="F5F8FC"/>
                </a:solidFill>
                <a:latin typeface="Aptos"/>
              </a:rPr>
              <a:t>80 days</a:t>
            </a:r>
          </a:p>
        </p:txBody>
      </p:sp>
      <p:sp>
        <p:nvSpPr>
          <p:cNvPr id="31" name="Rounded Rectangle 30"/>
          <p:cNvSpPr/>
          <p:nvPr/>
        </p:nvSpPr>
        <p:spPr>
          <a:xfrm>
            <a:off x="4617720" y="3017520"/>
            <a:ext cx="1755648" cy="548640"/>
          </a:xfrm>
          <a:prstGeom prst="roundRect">
            <a:avLst/>
          </a:prstGeom>
          <a:solidFill>
            <a:srgbClr val="1422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690872" y="3127248"/>
            <a:ext cx="1627632" cy="329184"/>
          </a:xfrm>
          <a:prstGeom prst="rect">
            <a:avLst/>
          </a:prstGeom>
          <a:noFill/>
        </p:spPr>
        <p:txBody>
          <a:bodyPr wrap="square" lIns="18288" tIns="18288" rIns="18288" bIns="18288" anchor="t">
            <a:spAutoFit/>
          </a:bodyPr>
          <a:lstStyle/>
          <a:p>
            <a:pPr algn="l"/>
            <a:r>
              <a:rPr sz="1200" b="0">
                <a:solidFill>
                  <a:srgbClr val="F5F8FC"/>
                </a:solidFill>
                <a:latin typeface="Aptos"/>
              </a:rPr>
              <a:t>0.10%</a:t>
            </a:r>
          </a:p>
        </p:txBody>
      </p:sp>
      <p:sp>
        <p:nvSpPr>
          <p:cNvPr id="33" name="Rounded Rectangle 32"/>
          <p:cNvSpPr/>
          <p:nvPr/>
        </p:nvSpPr>
        <p:spPr>
          <a:xfrm>
            <a:off x="6446520" y="3017520"/>
            <a:ext cx="1938528" cy="548640"/>
          </a:xfrm>
          <a:prstGeom prst="roundRect">
            <a:avLst/>
          </a:prstGeom>
          <a:solidFill>
            <a:srgbClr val="1422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519672" y="3127248"/>
            <a:ext cx="1810512" cy="329184"/>
          </a:xfrm>
          <a:prstGeom prst="rect">
            <a:avLst/>
          </a:prstGeom>
          <a:noFill/>
        </p:spPr>
        <p:txBody>
          <a:bodyPr wrap="square" lIns="18288" tIns="18288" rIns="18288" bIns="18288" anchor="t">
            <a:spAutoFit/>
          </a:bodyPr>
          <a:lstStyle/>
          <a:p>
            <a:pPr algn="l"/>
            <a:r>
              <a:rPr sz="1200" b="0">
                <a:solidFill>
                  <a:srgbClr val="F5F8FC"/>
                </a:solidFill>
                <a:latin typeface="Aptos"/>
              </a:rPr>
              <a:t>2.76 R⊕</a:t>
            </a:r>
          </a:p>
        </p:txBody>
      </p:sp>
      <p:sp>
        <p:nvSpPr>
          <p:cNvPr id="35" name="Rounded Rectangle 34"/>
          <p:cNvSpPr/>
          <p:nvPr/>
        </p:nvSpPr>
        <p:spPr>
          <a:xfrm>
            <a:off x="8458200" y="3017520"/>
            <a:ext cx="2304288" cy="548640"/>
          </a:xfrm>
          <a:prstGeom prst="roundRect">
            <a:avLst/>
          </a:prstGeom>
          <a:solidFill>
            <a:srgbClr val="1422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531352" y="3127248"/>
            <a:ext cx="2176272" cy="329184"/>
          </a:xfrm>
          <a:prstGeom prst="rect">
            <a:avLst/>
          </a:prstGeom>
          <a:noFill/>
        </p:spPr>
        <p:txBody>
          <a:bodyPr wrap="square" lIns="18288" tIns="18288" rIns="18288" bIns="18288" anchor="t">
            <a:spAutoFit/>
          </a:bodyPr>
          <a:lstStyle/>
          <a:p>
            <a:pPr algn="l"/>
            <a:r>
              <a:rPr sz="1000" b="0">
                <a:solidFill>
                  <a:srgbClr val="F5F8FC"/>
                </a:solidFill>
                <a:latin typeface="Aptos"/>
              </a:rPr>
              <a:t>Super-Earth / mini-Neptune</a:t>
            </a:r>
          </a:p>
        </p:txBody>
      </p:sp>
      <p:sp>
        <p:nvSpPr>
          <p:cNvPr id="37" name="Rounded Rectangle 36"/>
          <p:cNvSpPr/>
          <p:nvPr/>
        </p:nvSpPr>
        <p:spPr>
          <a:xfrm>
            <a:off x="731520" y="3675887"/>
            <a:ext cx="1847088" cy="548640"/>
          </a:xfrm>
          <a:prstGeom prst="roundRect">
            <a:avLst/>
          </a:prstGeom>
          <a:solidFill>
            <a:srgbClr val="1829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804672" y="3785615"/>
            <a:ext cx="1719072" cy="329184"/>
          </a:xfrm>
          <a:prstGeom prst="rect">
            <a:avLst/>
          </a:prstGeom>
          <a:noFill/>
        </p:spPr>
        <p:txBody>
          <a:bodyPr wrap="square" lIns="18288" tIns="18288" rIns="18288" bIns="18288" anchor="t">
            <a:spAutoFit/>
          </a:bodyPr>
          <a:lstStyle/>
          <a:p>
            <a:pPr algn="l"/>
            <a:r>
              <a:rPr sz="1200" b="1">
                <a:solidFill>
                  <a:srgbClr val="42D3E6"/>
                </a:solidFill>
                <a:latin typeface="Aptos"/>
              </a:rPr>
              <a:t>STAC-3 b</a:t>
            </a:r>
          </a:p>
        </p:txBody>
      </p:sp>
      <p:sp>
        <p:nvSpPr>
          <p:cNvPr id="39" name="Rounded Rectangle 38"/>
          <p:cNvSpPr/>
          <p:nvPr/>
        </p:nvSpPr>
        <p:spPr>
          <a:xfrm>
            <a:off x="2651760" y="3675887"/>
            <a:ext cx="1892807" cy="548640"/>
          </a:xfrm>
          <a:prstGeom prst="roundRect">
            <a:avLst/>
          </a:prstGeom>
          <a:solidFill>
            <a:srgbClr val="1829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2724912" y="3785615"/>
            <a:ext cx="1764792" cy="329184"/>
          </a:xfrm>
          <a:prstGeom prst="rect">
            <a:avLst/>
          </a:prstGeom>
          <a:noFill/>
        </p:spPr>
        <p:txBody>
          <a:bodyPr wrap="square" lIns="18288" tIns="18288" rIns="18288" bIns="18288" anchor="t">
            <a:spAutoFit/>
          </a:bodyPr>
          <a:lstStyle/>
          <a:p>
            <a:pPr algn="l"/>
            <a:r>
              <a:rPr sz="1200" b="0">
                <a:solidFill>
                  <a:srgbClr val="F5F8FC"/>
                </a:solidFill>
                <a:latin typeface="Aptos"/>
              </a:rPr>
              <a:t>37.5 days*</a:t>
            </a:r>
          </a:p>
        </p:txBody>
      </p:sp>
      <p:sp>
        <p:nvSpPr>
          <p:cNvPr id="41" name="Rounded Rectangle 40"/>
          <p:cNvSpPr/>
          <p:nvPr/>
        </p:nvSpPr>
        <p:spPr>
          <a:xfrm>
            <a:off x="4617720" y="3675887"/>
            <a:ext cx="1755648" cy="548640"/>
          </a:xfrm>
          <a:prstGeom prst="roundRect">
            <a:avLst/>
          </a:prstGeom>
          <a:solidFill>
            <a:srgbClr val="1829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4690872" y="3785615"/>
            <a:ext cx="1627632" cy="329184"/>
          </a:xfrm>
          <a:prstGeom prst="rect">
            <a:avLst/>
          </a:prstGeom>
          <a:noFill/>
        </p:spPr>
        <p:txBody>
          <a:bodyPr wrap="square" lIns="18288" tIns="18288" rIns="18288" bIns="18288" anchor="t">
            <a:spAutoFit/>
          </a:bodyPr>
          <a:lstStyle/>
          <a:p>
            <a:pPr algn="l"/>
            <a:r>
              <a:rPr sz="1200" b="0">
                <a:solidFill>
                  <a:srgbClr val="F5F8FC"/>
                </a:solidFill>
                <a:latin typeface="Aptos"/>
              </a:rPr>
              <a:t>~0.09%</a:t>
            </a:r>
          </a:p>
        </p:txBody>
      </p:sp>
      <p:sp>
        <p:nvSpPr>
          <p:cNvPr id="43" name="Rounded Rectangle 42"/>
          <p:cNvSpPr/>
          <p:nvPr/>
        </p:nvSpPr>
        <p:spPr>
          <a:xfrm>
            <a:off x="6446520" y="3675887"/>
            <a:ext cx="1938528" cy="548640"/>
          </a:xfrm>
          <a:prstGeom prst="roundRect">
            <a:avLst/>
          </a:prstGeom>
          <a:solidFill>
            <a:srgbClr val="1829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6519672" y="3785615"/>
            <a:ext cx="1810512" cy="329184"/>
          </a:xfrm>
          <a:prstGeom prst="rect">
            <a:avLst/>
          </a:prstGeom>
          <a:noFill/>
        </p:spPr>
        <p:txBody>
          <a:bodyPr wrap="square" lIns="18288" tIns="18288" rIns="18288" bIns="18288" anchor="t">
            <a:spAutoFit/>
          </a:bodyPr>
          <a:lstStyle/>
          <a:p>
            <a:pPr algn="l"/>
            <a:r>
              <a:rPr sz="1200" b="0">
                <a:solidFill>
                  <a:srgbClr val="F5F8FC"/>
                </a:solidFill>
                <a:latin typeface="Aptos"/>
              </a:rPr>
              <a:t>1.64 R⊕</a:t>
            </a:r>
          </a:p>
        </p:txBody>
      </p:sp>
      <p:sp>
        <p:nvSpPr>
          <p:cNvPr id="45" name="Rounded Rectangle 44"/>
          <p:cNvSpPr/>
          <p:nvPr/>
        </p:nvSpPr>
        <p:spPr>
          <a:xfrm>
            <a:off x="8458200" y="3675887"/>
            <a:ext cx="2304288" cy="548640"/>
          </a:xfrm>
          <a:prstGeom prst="roundRect">
            <a:avLst/>
          </a:prstGeom>
          <a:solidFill>
            <a:srgbClr val="1829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8531352" y="3785615"/>
            <a:ext cx="2176272" cy="329184"/>
          </a:xfrm>
          <a:prstGeom prst="rect">
            <a:avLst/>
          </a:prstGeom>
          <a:noFill/>
        </p:spPr>
        <p:txBody>
          <a:bodyPr wrap="square" lIns="18288" tIns="18288" rIns="18288" bIns="18288" anchor="t">
            <a:spAutoFit/>
          </a:bodyPr>
          <a:lstStyle/>
          <a:p>
            <a:pPr algn="l"/>
            <a:r>
              <a:rPr sz="1000" b="0">
                <a:solidFill>
                  <a:srgbClr val="F5F8FC"/>
                </a:solidFill>
                <a:latin typeface="Aptos"/>
              </a:rPr>
              <a:t>Super-Earth</a:t>
            </a:r>
          </a:p>
        </p:txBody>
      </p:sp>
      <p:sp>
        <p:nvSpPr>
          <p:cNvPr id="47" name="Rounded Rectangle 46"/>
          <p:cNvSpPr/>
          <p:nvPr/>
        </p:nvSpPr>
        <p:spPr>
          <a:xfrm>
            <a:off x="731520" y="4325112"/>
            <a:ext cx="5257800" cy="1417320"/>
          </a:xfrm>
          <a:prstGeom prst="roundRect">
            <a:avLst/>
          </a:prstGeom>
          <a:solidFill>
            <a:srgbClr val="182942"/>
          </a:solidFill>
          <a:ln>
            <a:solidFill>
              <a:srgbClr val="2D42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932688" y="4489704"/>
            <a:ext cx="4855464" cy="347472"/>
          </a:xfrm>
          <a:prstGeom prst="rect">
            <a:avLst/>
          </a:prstGeom>
          <a:noFill/>
        </p:spPr>
        <p:txBody>
          <a:bodyPr wrap="square" lIns="18288" tIns="18288" rIns="18288" bIns="18288" anchor="t">
            <a:spAutoFit/>
          </a:bodyPr>
          <a:lstStyle/>
          <a:p>
            <a:pPr algn="l"/>
            <a:r>
              <a:rPr sz="1500" b="1">
                <a:solidFill>
                  <a:srgbClr val="FF7070"/>
                </a:solidFill>
                <a:latin typeface="Aptos"/>
              </a:rPr>
              <a:t>STAC-3: ANOMALOUS SIGNAL</a:t>
            </a:r>
          </a:p>
        </p:txBody>
      </p:sp>
      <p:sp>
        <p:nvSpPr>
          <p:cNvPr id="49" name="TextBox 48"/>
          <p:cNvSpPr txBox="1"/>
          <p:nvPr/>
        </p:nvSpPr>
        <p:spPr>
          <a:xfrm>
            <a:off x="917448" y="4793098"/>
            <a:ext cx="4855464" cy="667512"/>
          </a:xfrm>
          <a:prstGeom prst="rect">
            <a:avLst/>
          </a:prstGeom>
          <a:noFill/>
        </p:spPr>
        <p:txBody>
          <a:bodyPr wrap="square" lIns="18288" tIns="18288" rIns="18288" bIns="18288" anchor="t">
            <a:spAutoFit/>
          </a:bodyPr>
          <a:lstStyle/>
          <a:p>
            <a:pPr algn="l"/>
            <a:r>
              <a:rPr sz="1300" b="0" dirty="0">
                <a:solidFill>
                  <a:srgbClr val="F5F8FC"/>
                </a:solidFill>
                <a:latin typeface="Aptos"/>
              </a:rPr>
              <a:t>STAC-3’s dips do not stay consistent: depths vary (~0.07–0.10%), and an extra dip appears at day 170 instead of the expected day 180 transit.</a:t>
            </a:r>
          </a:p>
        </p:txBody>
      </p:sp>
      <p:sp>
        <p:nvSpPr>
          <p:cNvPr id="50" name="Rounded Rectangle 49"/>
          <p:cNvSpPr/>
          <p:nvPr/>
        </p:nvSpPr>
        <p:spPr>
          <a:xfrm>
            <a:off x="6190488" y="4305260"/>
            <a:ext cx="5257800" cy="1417320"/>
          </a:xfrm>
          <a:prstGeom prst="roundRect">
            <a:avLst/>
          </a:prstGeom>
          <a:solidFill>
            <a:srgbClr val="182942"/>
          </a:solidFill>
          <a:ln>
            <a:solidFill>
              <a:srgbClr val="2D42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51" name="TextBox 50"/>
          <p:cNvSpPr txBox="1"/>
          <p:nvPr/>
        </p:nvSpPr>
        <p:spPr>
          <a:xfrm>
            <a:off x="6391656" y="4450158"/>
            <a:ext cx="4855464" cy="347472"/>
          </a:xfrm>
          <a:prstGeom prst="rect">
            <a:avLst/>
          </a:prstGeom>
          <a:noFill/>
        </p:spPr>
        <p:txBody>
          <a:bodyPr wrap="square" lIns="18288" tIns="18288" rIns="18288" bIns="18288" anchor="t">
            <a:spAutoFit/>
          </a:bodyPr>
          <a:lstStyle/>
          <a:p>
            <a:pPr algn="l"/>
            <a:r>
              <a:rPr sz="1500" b="1" dirty="0">
                <a:solidFill>
                  <a:srgbClr val="FFAE42"/>
                </a:solidFill>
                <a:latin typeface="Aptos"/>
              </a:rPr>
              <a:t>OUR INTERPRETATION</a:t>
            </a:r>
          </a:p>
        </p:txBody>
      </p:sp>
      <p:sp>
        <p:nvSpPr>
          <p:cNvPr id="52" name="TextBox 51"/>
          <p:cNvSpPr txBox="1"/>
          <p:nvPr/>
        </p:nvSpPr>
        <p:spPr>
          <a:xfrm>
            <a:off x="6373368" y="4735028"/>
            <a:ext cx="4855464" cy="667512"/>
          </a:xfrm>
          <a:prstGeom prst="rect">
            <a:avLst/>
          </a:prstGeom>
          <a:noFill/>
        </p:spPr>
        <p:txBody>
          <a:bodyPr wrap="square" lIns="18288" tIns="18288" rIns="18288" bIns="18288" anchor="t">
            <a:spAutoFit/>
          </a:bodyPr>
          <a:lstStyle/>
          <a:p>
            <a:pPr algn="l"/>
            <a:r>
              <a:rPr sz="1200" b="0" dirty="0">
                <a:solidFill>
                  <a:srgbClr val="F5F8FC"/>
                </a:solidFill>
                <a:latin typeface="Aptos"/>
              </a:rPr>
              <a:t>A slightly shorter true period (~37.5 days) could make transits drift relative to the observation times. The report also considers edge-crossing geometry; noise or </a:t>
            </a:r>
            <a:r>
              <a:rPr sz="1200" b="0" dirty="0" err="1">
                <a:solidFill>
                  <a:srgbClr val="F5F8FC"/>
                </a:solidFill>
                <a:latin typeface="Aptos"/>
              </a:rPr>
              <a:t>starspots</a:t>
            </a:r>
            <a:r>
              <a:rPr sz="1200" b="0" dirty="0">
                <a:solidFill>
                  <a:srgbClr val="F5F8FC"/>
                </a:solidFill>
                <a:latin typeface="Aptos"/>
              </a:rPr>
              <a:t> alone may not explain the extra dip.</a:t>
            </a:r>
          </a:p>
        </p:txBody>
      </p:sp>
      <p:sp>
        <p:nvSpPr>
          <p:cNvPr id="53" name="TextBox 52"/>
          <p:cNvSpPr txBox="1"/>
          <p:nvPr/>
        </p:nvSpPr>
        <p:spPr>
          <a:xfrm>
            <a:off x="777240" y="5806440"/>
            <a:ext cx="10789920" cy="438912"/>
          </a:xfrm>
          <a:prstGeom prst="rect">
            <a:avLst/>
          </a:prstGeom>
          <a:noFill/>
        </p:spPr>
        <p:txBody>
          <a:bodyPr wrap="square" lIns="18288" tIns="18288" rIns="18288" bIns="18288" anchor="t">
            <a:spAutoFit/>
          </a:bodyPr>
          <a:lstStyle/>
          <a:p>
            <a:pPr algn="l"/>
            <a:r>
              <a:rPr sz="1000" b="0">
                <a:solidFill>
                  <a:srgbClr val="B3C2D3"/>
                </a:solidFill>
                <a:latin typeface="Aptos"/>
              </a:rPr>
              <a:t>Caution: the data do not prove the cause. Irregular sampling, measurement noise, stellar activity, or transit geometry are possibilities; more observations are needed.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EE94CC8-D204-FC71-6795-77A0894C39E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961292"/>
            <a:ext cx="12182562" cy="4935416"/>
          </a:xfrm>
          <a:prstGeom prst="rect">
            <a:avLst/>
          </a:prstGeom>
        </p:spPr>
      </p:pic>
    </p:spTree>
    <p:extLst>
      <p:ext uri="{BB962C8B-B14F-4D97-AF65-F5344CB8AC3E}">
        <p14:creationId xmlns:p14="http://schemas.microsoft.com/office/powerpoint/2010/main" val="9916661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D192D"/>
        </a:solidFill>
        <a:effectLst/>
      </p:bgPr>
    </p:bg>
    <p:spTree>
      <p:nvGrpSpPr>
        <p:cNvPr id="1" name=""/>
        <p:cNvGrpSpPr/>
        <p:nvPr/>
      </p:nvGrpSpPr>
      <p:grpSpPr>
        <a:xfrm>
          <a:off x="0" y="0"/>
          <a:ext cx="0" cy="0"/>
          <a:chOff x="0" y="0"/>
          <a:chExt cx="0" cy="0"/>
        </a:xfrm>
      </p:grpSpPr>
      <p:sp>
        <p:nvSpPr>
          <p:cNvPr id="2" name="Rectangle 1"/>
          <p:cNvSpPr/>
          <p:nvPr/>
        </p:nvSpPr>
        <p:spPr>
          <a:xfrm>
            <a:off x="0" y="6748272"/>
            <a:ext cx="12191695" cy="109728"/>
          </a:xfrm>
          <a:prstGeom prst="rect">
            <a:avLst/>
          </a:prstGeom>
          <a:solidFill>
            <a:srgbClr val="42D3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47472"/>
            <a:ext cx="9875520" cy="256032"/>
          </a:xfrm>
          <a:prstGeom prst="rect">
            <a:avLst/>
          </a:prstGeom>
          <a:noFill/>
        </p:spPr>
        <p:txBody>
          <a:bodyPr wrap="square" lIns="18288" tIns="18288" rIns="18288" bIns="18288" anchor="t">
            <a:spAutoFit/>
          </a:bodyPr>
          <a:lstStyle/>
          <a:p>
            <a:pPr algn="l"/>
            <a:r>
              <a:rPr sz="1000" b="1">
                <a:solidFill>
                  <a:srgbClr val="42D3E6"/>
                </a:solidFill>
                <a:latin typeface="Aptos"/>
              </a:rPr>
              <a:t>STAC PS3  •  HABITABILITY SCREENING</a:t>
            </a:r>
          </a:p>
        </p:txBody>
      </p:sp>
      <p:sp>
        <p:nvSpPr>
          <p:cNvPr id="4" name="TextBox 3"/>
          <p:cNvSpPr txBox="1"/>
          <p:nvPr/>
        </p:nvSpPr>
        <p:spPr>
          <a:xfrm>
            <a:off x="594360" y="713232"/>
            <a:ext cx="10972800" cy="594360"/>
          </a:xfrm>
          <a:prstGeom prst="rect">
            <a:avLst/>
          </a:prstGeom>
          <a:noFill/>
        </p:spPr>
        <p:txBody>
          <a:bodyPr wrap="square" lIns="18288" tIns="18288" rIns="18288" bIns="18288" anchor="t">
            <a:spAutoFit/>
          </a:bodyPr>
          <a:lstStyle/>
          <a:p>
            <a:pPr algn="l"/>
            <a:r>
              <a:rPr sz="2800" b="1">
                <a:solidFill>
                  <a:srgbClr val="F5F8FC"/>
                </a:solidFill>
                <a:latin typeface="Aptos"/>
              </a:rPr>
              <a:t>STAC-3 b is the strongest candidate—not a confirmed habitable world</a:t>
            </a:r>
          </a:p>
        </p:txBody>
      </p:sp>
      <p:sp>
        <p:nvSpPr>
          <p:cNvPr id="5" name="TextBox 4"/>
          <p:cNvSpPr txBox="1"/>
          <p:nvPr/>
        </p:nvSpPr>
        <p:spPr>
          <a:xfrm>
            <a:off x="612648" y="1549830"/>
            <a:ext cx="10789920" cy="384048"/>
          </a:xfrm>
          <a:prstGeom prst="rect">
            <a:avLst/>
          </a:prstGeom>
          <a:noFill/>
        </p:spPr>
        <p:txBody>
          <a:bodyPr wrap="square" lIns="18288" tIns="18288" rIns="18288" bIns="18288" anchor="t">
            <a:spAutoFit/>
          </a:bodyPr>
          <a:lstStyle/>
          <a:p>
            <a:pPr algn="l"/>
            <a:r>
              <a:rPr sz="1200" b="0" dirty="0">
                <a:solidFill>
                  <a:srgbClr val="B3C2D3"/>
                </a:solidFill>
                <a:latin typeface="Aptos"/>
              </a:rPr>
              <a:t>The report selects STAC-3 for follow-up based on relative proximity to its estimated habitable zone</a:t>
            </a:r>
          </a:p>
        </p:txBody>
      </p:sp>
      <p:sp>
        <p:nvSpPr>
          <p:cNvPr id="6" name="TextBox 5"/>
          <p:cNvSpPr txBox="1"/>
          <p:nvPr/>
        </p:nvSpPr>
        <p:spPr>
          <a:xfrm>
            <a:off x="11064240" y="365760"/>
            <a:ext cx="502920" cy="274320"/>
          </a:xfrm>
          <a:prstGeom prst="rect">
            <a:avLst/>
          </a:prstGeom>
          <a:noFill/>
        </p:spPr>
        <p:txBody>
          <a:bodyPr wrap="square" lIns="18288" tIns="18288" rIns="18288" bIns="18288" anchor="t">
            <a:spAutoFit/>
          </a:bodyPr>
          <a:lstStyle/>
          <a:p>
            <a:pPr algn="r"/>
            <a:r>
              <a:rPr sz="1000" b="1">
                <a:solidFill>
                  <a:srgbClr val="B3C2D3"/>
                </a:solidFill>
                <a:latin typeface="Aptos"/>
              </a:rPr>
              <a:t>04</a:t>
            </a:r>
          </a:p>
        </p:txBody>
      </p:sp>
      <p:sp>
        <p:nvSpPr>
          <p:cNvPr id="7" name="Rounded Rectangle 6"/>
          <p:cNvSpPr/>
          <p:nvPr/>
        </p:nvSpPr>
        <p:spPr>
          <a:xfrm>
            <a:off x="731520" y="1828800"/>
            <a:ext cx="3474720" cy="1874519"/>
          </a:xfrm>
          <a:prstGeom prst="roundRect">
            <a:avLst/>
          </a:prstGeom>
          <a:solidFill>
            <a:srgbClr val="182942"/>
          </a:solidFill>
          <a:ln>
            <a:solidFill>
              <a:srgbClr val="2D42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32688" y="1993392"/>
            <a:ext cx="3072384" cy="347472"/>
          </a:xfrm>
          <a:prstGeom prst="rect">
            <a:avLst/>
          </a:prstGeom>
          <a:noFill/>
        </p:spPr>
        <p:txBody>
          <a:bodyPr wrap="square" lIns="18288" tIns="18288" rIns="18288" bIns="18288" anchor="t">
            <a:spAutoFit/>
          </a:bodyPr>
          <a:lstStyle/>
          <a:p>
            <a:pPr algn="l"/>
            <a:r>
              <a:rPr sz="1500" b="1">
                <a:solidFill>
                  <a:srgbClr val="42D3E6"/>
                </a:solidFill>
                <a:latin typeface="Aptos"/>
              </a:rPr>
              <a:t>STAC-1 b</a:t>
            </a:r>
          </a:p>
        </p:txBody>
      </p:sp>
      <p:sp>
        <p:nvSpPr>
          <p:cNvPr id="9" name="TextBox 8"/>
          <p:cNvSpPr txBox="1"/>
          <p:nvPr/>
        </p:nvSpPr>
        <p:spPr>
          <a:xfrm>
            <a:off x="932688" y="2450592"/>
            <a:ext cx="3072384" cy="1124712"/>
          </a:xfrm>
          <a:prstGeom prst="rect">
            <a:avLst/>
          </a:prstGeom>
          <a:noFill/>
        </p:spPr>
        <p:txBody>
          <a:bodyPr wrap="square" lIns="18288" tIns="18288" rIns="18288" bIns="18288" anchor="t">
            <a:spAutoFit/>
          </a:bodyPr>
          <a:lstStyle/>
          <a:p>
            <a:pPr algn="l"/>
            <a:r>
              <a:rPr sz="1400" b="0">
                <a:solidFill>
                  <a:srgbClr val="F5F8FC"/>
                </a:solidFill>
                <a:latin typeface="Aptos"/>
              </a:rPr>
              <a:t>Orbit: ~0.051 AU
Reference HZ distance: 1.00 AU
Neptune-sized (~5.98 R⊕)
Far inside the reference distance</a:t>
            </a:r>
          </a:p>
        </p:txBody>
      </p:sp>
      <p:sp>
        <p:nvSpPr>
          <p:cNvPr id="10" name="Rounded Rectangle 9"/>
          <p:cNvSpPr/>
          <p:nvPr/>
        </p:nvSpPr>
        <p:spPr>
          <a:xfrm>
            <a:off x="4370832" y="1828800"/>
            <a:ext cx="3474720" cy="1874519"/>
          </a:xfrm>
          <a:prstGeom prst="roundRect">
            <a:avLst/>
          </a:prstGeom>
          <a:solidFill>
            <a:srgbClr val="182942"/>
          </a:solidFill>
          <a:ln>
            <a:solidFill>
              <a:srgbClr val="2D42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72000" y="1993392"/>
            <a:ext cx="3072384" cy="347472"/>
          </a:xfrm>
          <a:prstGeom prst="rect">
            <a:avLst/>
          </a:prstGeom>
          <a:noFill/>
        </p:spPr>
        <p:txBody>
          <a:bodyPr wrap="square" lIns="18288" tIns="18288" rIns="18288" bIns="18288" anchor="t">
            <a:spAutoFit/>
          </a:bodyPr>
          <a:lstStyle/>
          <a:p>
            <a:pPr algn="l"/>
            <a:r>
              <a:rPr sz="1500" b="1">
                <a:solidFill>
                  <a:srgbClr val="FFAE42"/>
                </a:solidFill>
                <a:latin typeface="Aptos"/>
              </a:rPr>
              <a:t>STAC-2 b</a:t>
            </a:r>
          </a:p>
        </p:txBody>
      </p:sp>
      <p:sp>
        <p:nvSpPr>
          <p:cNvPr id="12" name="TextBox 11"/>
          <p:cNvSpPr txBox="1"/>
          <p:nvPr/>
        </p:nvSpPr>
        <p:spPr>
          <a:xfrm>
            <a:off x="4572000" y="2450592"/>
            <a:ext cx="3072384" cy="1124712"/>
          </a:xfrm>
          <a:prstGeom prst="rect">
            <a:avLst/>
          </a:prstGeom>
          <a:noFill/>
        </p:spPr>
        <p:txBody>
          <a:bodyPr wrap="square" lIns="18288" tIns="18288" rIns="18288" bIns="18288" anchor="t">
            <a:spAutoFit/>
          </a:bodyPr>
          <a:lstStyle/>
          <a:p>
            <a:pPr algn="l"/>
            <a:r>
              <a:rPr sz="1400" b="0">
                <a:solidFill>
                  <a:srgbClr val="F5F8FC"/>
                </a:solidFill>
                <a:latin typeface="Aptos"/>
              </a:rPr>
              <a:t>Orbit: ~0.337 AU
Reference HZ distance: 0.632 AU
~2.76 R⊕
Inside the reference distance</a:t>
            </a:r>
          </a:p>
        </p:txBody>
      </p:sp>
      <p:sp>
        <p:nvSpPr>
          <p:cNvPr id="13" name="Rounded Rectangle 12"/>
          <p:cNvSpPr/>
          <p:nvPr/>
        </p:nvSpPr>
        <p:spPr>
          <a:xfrm>
            <a:off x="8010144" y="1828800"/>
            <a:ext cx="3474720" cy="1874519"/>
          </a:xfrm>
          <a:prstGeom prst="roundRect">
            <a:avLst/>
          </a:prstGeom>
          <a:solidFill>
            <a:srgbClr val="182942"/>
          </a:solidFill>
          <a:ln>
            <a:solidFill>
              <a:srgbClr val="2D42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211312" y="1993392"/>
            <a:ext cx="3072384" cy="347472"/>
          </a:xfrm>
          <a:prstGeom prst="rect">
            <a:avLst/>
          </a:prstGeom>
          <a:noFill/>
        </p:spPr>
        <p:txBody>
          <a:bodyPr wrap="square" lIns="18288" tIns="18288" rIns="18288" bIns="18288" anchor="t">
            <a:spAutoFit/>
          </a:bodyPr>
          <a:lstStyle/>
          <a:p>
            <a:pPr algn="l"/>
            <a:r>
              <a:rPr sz="1300" b="1">
                <a:solidFill>
                  <a:srgbClr val="FF7070"/>
                </a:solidFill>
                <a:latin typeface="Aptos"/>
              </a:rPr>
              <a:t>STAC-3 b • SELECTED WITH CAUTION</a:t>
            </a:r>
          </a:p>
        </p:txBody>
      </p:sp>
      <p:sp>
        <p:nvSpPr>
          <p:cNvPr id="15" name="TextBox 14"/>
          <p:cNvSpPr txBox="1"/>
          <p:nvPr/>
        </p:nvSpPr>
        <p:spPr>
          <a:xfrm>
            <a:off x="8211312" y="2450592"/>
            <a:ext cx="3072384" cy="1124712"/>
          </a:xfrm>
          <a:prstGeom prst="rect">
            <a:avLst/>
          </a:prstGeom>
          <a:noFill/>
        </p:spPr>
        <p:txBody>
          <a:bodyPr wrap="square" lIns="18288" tIns="18288" rIns="18288" bIns="18288" anchor="t">
            <a:spAutoFit/>
          </a:bodyPr>
          <a:lstStyle/>
          <a:p>
            <a:pPr algn="l"/>
            <a:r>
              <a:rPr sz="1100" b="0">
                <a:solidFill>
                  <a:srgbClr val="F5F8FC"/>
                </a:solidFill>
                <a:latin typeface="Aptos"/>
              </a:rPr>
              <a:t>Orbit estimate is uncertain
Transit depths vary (~0.07–0.10%)
Extra dip at day 170; expected day 180 dip is missing
~1.64 R⊕ if the transit interpretation holds</a:t>
            </a:r>
          </a:p>
        </p:txBody>
      </p:sp>
      <p:sp>
        <p:nvSpPr>
          <p:cNvPr id="16" name="TextBox 15"/>
          <p:cNvSpPr txBox="1"/>
          <p:nvPr/>
        </p:nvSpPr>
        <p:spPr>
          <a:xfrm>
            <a:off x="777240" y="4069080"/>
            <a:ext cx="10789920" cy="320040"/>
          </a:xfrm>
          <a:prstGeom prst="rect">
            <a:avLst/>
          </a:prstGeom>
          <a:noFill/>
        </p:spPr>
        <p:txBody>
          <a:bodyPr wrap="square" lIns="18288" tIns="18288" rIns="18288" bIns="18288" anchor="t">
            <a:spAutoFit/>
          </a:bodyPr>
          <a:lstStyle/>
          <a:p>
            <a:pPr algn="l"/>
            <a:r>
              <a:rPr sz="1200" b="1">
                <a:solidFill>
                  <a:srgbClr val="42D3E6"/>
                </a:solidFill>
                <a:latin typeface="Aptos"/>
              </a:rPr>
              <a:t>KEY DISCOVERY &amp; DATA LIMITATION</a:t>
            </a:r>
          </a:p>
        </p:txBody>
      </p:sp>
      <p:sp>
        <p:nvSpPr>
          <p:cNvPr id="17" name="TextBox 16"/>
          <p:cNvSpPr txBox="1"/>
          <p:nvPr/>
        </p:nvSpPr>
        <p:spPr>
          <a:xfrm>
            <a:off x="777240" y="4434840"/>
            <a:ext cx="10698480" cy="777240"/>
          </a:xfrm>
          <a:prstGeom prst="rect">
            <a:avLst/>
          </a:prstGeom>
          <a:noFill/>
        </p:spPr>
        <p:txBody>
          <a:bodyPr wrap="square" lIns="18288" tIns="18288" rIns="18288" bIns="18288" anchor="t">
            <a:spAutoFit/>
          </a:bodyPr>
          <a:lstStyle/>
          <a:p>
            <a:pPr algn="l"/>
            <a:r>
              <a:rPr sz="1700" b="1">
                <a:solidFill>
                  <a:srgbClr val="F5F8FC"/>
                </a:solidFill>
                <a:latin typeface="Aptos"/>
              </a:rPr>
              <a:t>STAC-3 b is our best relative candidate for follow-up, but its irregular light curve makes the period and orbit less secure. The data suggest a possible planet—not confirmed habitability.</a:t>
            </a:r>
          </a:p>
        </p:txBody>
      </p:sp>
      <p:sp>
        <p:nvSpPr>
          <p:cNvPr id="18" name="Rounded Rectangle 17"/>
          <p:cNvSpPr/>
          <p:nvPr/>
        </p:nvSpPr>
        <p:spPr>
          <a:xfrm>
            <a:off x="731520" y="5486400"/>
            <a:ext cx="10744200" cy="685800"/>
          </a:xfrm>
          <a:prstGeom prst="roundRect">
            <a:avLst/>
          </a:prstGeom>
          <a:solidFill>
            <a:srgbClr val="182942"/>
          </a:solidFill>
          <a:ln>
            <a:solidFill>
              <a:srgbClr val="2D42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32688" y="5650992"/>
            <a:ext cx="10341864" cy="347472"/>
          </a:xfrm>
          <a:prstGeom prst="rect">
            <a:avLst/>
          </a:prstGeom>
          <a:noFill/>
        </p:spPr>
        <p:txBody>
          <a:bodyPr wrap="square" lIns="18288" tIns="18288" rIns="18288" bIns="18288" anchor="t">
            <a:spAutoFit/>
          </a:bodyPr>
          <a:lstStyle/>
          <a:p>
            <a:pPr algn="l"/>
            <a:r>
              <a:rPr sz="1200" b="1">
                <a:solidFill>
                  <a:srgbClr val="FFAE42"/>
                </a:solidFill>
                <a:latin typeface="Aptos"/>
              </a:rPr>
              <a:t>NEXT STEP</a:t>
            </a:r>
          </a:p>
        </p:txBody>
      </p:sp>
      <p:sp>
        <p:nvSpPr>
          <p:cNvPr id="20" name="TextBox 19"/>
          <p:cNvSpPr txBox="1"/>
          <p:nvPr/>
        </p:nvSpPr>
        <p:spPr>
          <a:xfrm>
            <a:off x="941832" y="5912807"/>
            <a:ext cx="10341864" cy="0"/>
          </a:xfrm>
          <a:prstGeom prst="rect">
            <a:avLst/>
          </a:prstGeom>
          <a:noFill/>
        </p:spPr>
        <p:txBody>
          <a:bodyPr wrap="square" lIns="18288" tIns="18288" rIns="18288" bIns="18288" anchor="t">
            <a:spAutoFit/>
          </a:bodyPr>
          <a:lstStyle/>
          <a:p>
            <a:pPr algn="l"/>
            <a:r>
              <a:rPr sz="1100" b="0" dirty="0">
                <a:solidFill>
                  <a:srgbClr val="F5F8FC"/>
                </a:solidFill>
                <a:latin typeface="Aptos"/>
              </a:rPr>
              <a:t>Collect more frequent, precise observations around predicted transits to test the ~37.5-day period and rule out noise or stellar activity.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8222"/>
            </a:stretch>
          </a:blipFill>
        </p:spPr>
      </p:sp>
      <p:sp>
        <p:nvSpPr>
          <p:cNvPr id="3" name="Freeform 3"/>
          <p:cNvSpPr/>
          <p:nvPr/>
        </p:nvSpPr>
        <p:spPr>
          <a:xfrm>
            <a:off x="7682950" y="1833536"/>
            <a:ext cx="6967490" cy="6967490"/>
          </a:xfrm>
          <a:custGeom>
            <a:avLst/>
            <a:gdLst/>
            <a:ahLst/>
            <a:cxnLst/>
            <a:rect l="l" t="t" r="r" b="b"/>
            <a:pathLst>
              <a:path w="10451235" h="10451235">
                <a:moveTo>
                  <a:pt x="0" y="0"/>
                </a:moveTo>
                <a:lnTo>
                  <a:pt x="10451235" y="0"/>
                </a:lnTo>
                <a:lnTo>
                  <a:pt x="10451235" y="10451235"/>
                </a:lnTo>
                <a:lnTo>
                  <a:pt x="0" y="10451235"/>
                </a:lnTo>
                <a:lnTo>
                  <a:pt x="0" y="0"/>
                </a:lnTo>
                <a:close/>
              </a:path>
            </a:pathLst>
          </a:custGeom>
          <a:blipFill>
            <a:blip r:embed="rId3"/>
            <a:stretch>
              <a:fillRect/>
            </a:stretch>
          </a:blipFill>
        </p:spPr>
      </p:sp>
      <p:sp>
        <p:nvSpPr>
          <p:cNvPr id="4" name="Freeform 4"/>
          <p:cNvSpPr/>
          <p:nvPr/>
        </p:nvSpPr>
        <p:spPr>
          <a:xfrm rot="-462986">
            <a:off x="4762243" y="4230408"/>
            <a:ext cx="4611895" cy="3862462"/>
          </a:xfrm>
          <a:custGeom>
            <a:avLst/>
            <a:gdLst/>
            <a:ahLst/>
            <a:cxnLst/>
            <a:rect l="l" t="t" r="r" b="b"/>
            <a:pathLst>
              <a:path w="6917842" h="5793693">
                <a:moveTo>
                  <a:pt x="0" y="0"/>
                </a:moveTo>
                <a:lnTo>
                  <a:pt x="6917843" y="0"/>
                </a:lnTo>
                <a:lnTo>
                  <a:pt x="6917843" y="5793693"/>
                </a:lnTo>
                <a:lnTo>
                  <a:pt x="0" y="5793693"/>
                </a:lnTo>
                <a:lnTo>
                  <a:pt x="0" y="0"/>
                </a:lnTo>
                <a:close/>
              </a:path>
            </a:pathLst>
          </a:custGeom>
          <a:blipFill>
            <a:blip r:embed="rId4"/>
            <a:stretch>
              <a:fillRect/>
            </a:stretch>
          </a:blipFill>
        </p:spPr>
      </p:sp>
      <p:sp>
        <p:nvSpPr>
          <p:cNvPr id="5" name="Freeform 5"/>
          <p:cNvSpPr/>
          <p:nvPr/>
        </p:nvSpPr>
        <p:spPr>
          <a:xfrm>
            <a:off x="7245872" y="1572034"/>
            <a:ext cx="2505353" cy="3248431"/>
          </a:xfrm>
          <a:custGeom>
            <a:avLst/>
            <a:gdLst/>
            <a:ahLst/>
            <a:cxnLst/>
            <a:rect l="l" t="t" r="r" b="b"/>
            <a:pathLst>
              <a:path w="3758029" h="4872646">
                <a:moveTo>
                  <a:pt x="0" y="0"/>
                </a:moveTo>
                <a:lnTo>
                  <a:pt x="3758029" y="0"/>
                </a:lnTo>
                <a:lnTo>
                  <a:pt x="3758029" y="4872646"/>
                </a:lnTo>
                <a:lnTo>
                  <a:pt x="0" y="4872646"/>
                </a:lnTo>
                <a:lnTo>
                  <a:pt x="0" y="0"/>
                </a:lnTo>
                <a:close/>
              </a:path>
            </a:pathLst>
          </a:custGeom>
          <a:blipFill>
            <a:blip r:embed="rId5">
              <a:alphaModFix amt="81000"/>
            </a:blip>
            <a:stretch>
              <a:fillRect/>
            </a:stretch>
          </a:blipFill>
        </p:spPr>
      </p:sp>
      <p:sp>
        <p:nvSpPr>
          <p:cNvPr id="6" name="TextBox 6"/>
          <p:cNvSpPr txBox="1"/>
          <p:nvPr/>
        </p:nvSpPr>
        <p:spPr>
          <a:xfrm>
            <a:off x="685800" y="5933039"/>
            <a:ext cx="2318901" cy="230576"/>
          </a:xfrm>
          <a:prstGeom prst="rect">
            <a:avLst/>
          </a:prstGeom>
        </p:spPr>
        <p:txBody>
          <a:bodyPr lIns="0" tIns="0" rIns="0" bIns="0" rtlCol="0" anchor="t">
            <a:spAutoFit/>
          </a:bodyPr>
          <a:lstStyle/>
          <a:p>
            <a:pPr defTabSz="609630">
              <a:lnSpc>
                <a:spcPts val="1866"/>
              </a:lnSpc>
              <a:spcBef>
                <a:spcPct val="0"/>
              </a:spcBef>
            </a:pPr>
            <a:r>
              <a:rPr lang="en-US" sz="1333">
                <a:solidFill>
                  <a:srgbClr val="FFFFFF"/>
                </a:solidFill>
                <a:latin typeface="Poppins"/>
                <a:ea typeface="Poppins"/>
                <a:cs typeface="Poppins"/>
                <a:sym typeface="Poppins"/>
              </a:rPr>
              <a:t>404: Brain not found</a:t>
            </a:r>
          </a:p>
        </p:txBody>
      </p:sp>
      <p:sp>
        <p:nvSpPr>
          <p:cNvPr id="7" name="TextBox 7"/>
          <p:cNvSpPr txBox="1"/>
          <p:nvPr/>
        </p:nvSpPr>
        <p:spPr>
          <a:xfrm>
            <a:off x="871256" y="2757039"/>
            <a:ext cx="7627293" cy="859210"/>
          </a:xfrm>
          <a:prstGeom prst="rect">
            <a:avLst/>
          </a:prstGeom>
        </p:spPr>
        <p:txBody>
          <a:bodyPr lIns="0" tIns="0" rIns="0" bIns="0" rtlCol="0" anchor="t">
            <a:spAutoFit/>
          </a:bodyPr>
          <a:lstStyle/>
          <a:p>
            <a:pPr defTabSz="609630">
              <a:lnSpc>
                <a:spcPts val="6667"/>
              </a:lnSpc>
            </a:pPr>
            <a:r>
              <a:rPr lang="en-US" sz="6944" b="1">
                <a:solidFill>
                  <a:srgbClr val="FFFFFF"/>
                </a:solidFill>
                <a:latin typeface="Poppins Bold"/>
                <a:ea typeface="Poppins Bold"/>
                <a:cs typeface="Poppins Bold"/>
                <a:sym typeface="Poppins Bold"/>
              </a:rPr>
              <a:t>Project NovaOre</a:t>
            </a:r>
          </a:p>
        </p:txBody>
      </p:sp>
      <p:sp>
        <p:nvSpPr>
          <p:cNvPr id="8" name="TextBox 8"/>
          <p:cNvSpPr txBox="1"/>
          <p:nvPr/>
        </p:nvSpPr>
        <p:spPr>
          <a:xfrm>
            <a:off x="871256" y="1755787"/>
            <a:ext cx="7614593" cy="859210"/>
          </a:xfrm>
          <a:prstGeom prst="rect">
            <a:avLst/>
          </a:prstGeom>
        </p:spPr>
        <p:txBody>
          <a:bodyPr lIns="0" tIns="0" rIns="0" bIns="0" rtlCol="0" anchor="t">
            <a:spAutoFit/>
          </a:bodyPr>
          <a:lstStyle/>
          <a:p>
            <a:pPr defTabSz="609630">
              <a:lnSpc>
                <a:spcPts val="6667"/>
              </a:lnSpc>
            </a:pPr>
            <a:r>
              <a:rPr lang="en-US" sz="6944" b="1">
                <a:solidFill>
                  <a:srgbClr val="FFFFFF"/>
                </a:solidFill>
                <a:latin typeface="Poppins Bold"/>
                <a:ea typeface="Poppins Bold"/>
                <a:cs typeface="Poppins Bold"/>
                <a:sym typeface="Poppins Bold"/>
              </a:rPr>
              <a:t>Project NovaOre</a:t>
            </a:r>
          </a:p>
        </p:txBody>
      </p:sp>
      <p:sp>
        <p:nvSpPr>
          <p:cNvPr id="9" name="TextBox 9"/>
          <p:cNvSpPr txBox="1"/>
          <p:nvPr/>
        </p:nvSpPr>
        <p:spPr>
          <a:xfrm>
            <a:off x="871256" y="3777209"/>
            <a:ext cx="5963710" cy="858953"/>
          </a:xfrm>
          <a:prstGeom prst="rect">
            <a:avLst/>
          </a:prstGeom>
        </p:spPr>
        <p:txBody>
          <a:bodyPr lIns="0" tIns="0" rIns="0" bIns="0" rtlCol="0" anchor="t">
            <a:spAutoFit/>
          </a:bodyPr>
          <a:lstStyle/>
          <a:p>
            <a:pPr algn="just" defTabSz="609630">
              <a:lnSpc>
                <a:spcPts val="2267"/>
              </a:lnSpc>
            </a:pPr>
            <a:r>
              <a:rPr lang="en-US" sz="1333">
                <a:solidFill>
                  <a:srgbClr val="FFFFFF"/>
                </a:solidFill>
                <a:latin typeface="Poppins"/>
                <a:ea typeface="Poppins"/>
                <a:cs typeface="Poppins"/>
                <a:sym typeface="Poppins"/>
              </a:rPr>
              <a:t>Earth’s next resource frontier</a:t>
            </a:r>
          </a:p>
          <a:p>
            <a:pPr algn="just" defTabSz="609630">
              <a:lnSpc>
                <a:spcPts val="2267"/>
              </a:lnSpc>
            </a:pPr>
            <a:r>
              <a:rPr lang="en-US" sz="1333">
                <a:solidFill>
                  <a:srgbClr val="FFFFFF"/>
                </a:solidFill>
                <a:latin typeface="Poppins"/>
                <a:ea typeface="Poppins"/>
                <a:cs typeface="Poppins"/>
                <a:sym typeface="Poppins"/>
              </a:rPr>
              <a:t>Beyond Earth. Beyond Limits. Beyond Scarcity.</a:t>
            </a:r>
          </a:p>
          <a:p>
            <a:pPr algn="just" defTabSz="609630">
              <a:lnSpc>
                <a:spcPts val="2267"/>
              </a:lnSpc>
            </a:pPr>
            <a:endParaRPr lang="en-US" sz="1333">
              <a:solidFill>
                <a:srgbClr val="FFFFFF"/>
              </a:solidFill>
              <a:latin typeface="Poppins"/>
              <a:ea typeface="Poppins"/>
              <a:cs typeface="Poppins"/>
              <a:sym typeface="Poppins"/>
            </a:endParaRPr>
          </a:p>
        </p:txBody>
      </p:sp>
    </p:spTree>
    <p:extLst>
      <p:ext uri="{BB962C8B-B14F-4D97-AF65-F5344CB8AC3E}">
        <p14:creationId xmlns:p14="http://schemas.microsoft.com/office/powerpoint/2010/main" val="14528051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4822595" y="1704096"/>
            <a:ext cx="2894861" cy="2894861"/>
            <a:chOff x="0" y="0"/>
            <a:chExt cx="812800" cy="812800"/>
          </a:xfrm>
        </p:grpSpPr>
        <p:sp>
          <p:nvSpPr>
            <p:cNvPr id="3" name="Freeform 3"/>
            <p:cNvSpPr/>
            <p:nvPr/>
          </p:nvSpPr>
          <p:spPr>
            <a:xfrm>
              <a:off x="0" y="0"/>
              <a:ext cx="812800" cy="812800"/>
            </a:xfrm>
            <a:custGeom>
              <a:avLst/>
              <a:gdLst/>
              <a:ahLst/>
              <a:cxnLst/>
              <a:rect l="l" t="t" r="r" b="b"/>
              <a:pathLst>
                <a:path w="812800" h="812800">
                  <a:moveTo>
                    <a:pt x="41007" y="0"/>
                  </a:moveTo>
                  <a:lnTo>
                    <a:pt x="771793" y="0"/>
                  </a:lnTo>
                  <a:cubicBezTo>
                    <a:pt x="794441" y="0"/>
                    <a:pt x="812800" y="18359"/>
                    <a:pt x="812800" y="41007"/>
                  </a:cubicBezTo>
                  <a:lnTo>
                    <a:pt x="812800" y="771793"/>
                  </a:lnTo>
                  <a:cubicBezTo>
                    <a:pt x="812800" y="794441"/>
                    <a:pt x="794441" y="812800"/>
                    <a:pt x="771793" y="812800"/>
                  </a:cubicBezTo>
                  <a:lnTo>
                    <a:pt x="41007" y="812800"/>
                  </a:lnTo>
                  <a:cubicBezTo>
                    <a:pt x="18359" y="812800"/>
                    <a:pt x="0" y="794441"/>
                    <a:pt x="0" y="771793"/>
                  </a:cubicBezTo>
                  <a:lnTo>
                    <a:pt x="0" y="41007"/>
                  </a:lnTo>
                  <a:cubicBezTo>
                    <a:pt x="0" y="18359"/>
                    <a:pt x="18359" y="0"/>
                    <a:pt x="41007" y="0"/>
                  </a:cubicBezTo>
                  <a:close/>
                </a:path>
              </a:pathLst>
            </a:custGeom>
            <a:blipFill>
              <a:blip r:embed="rId2"/>
              <a:stretch>
                <a:fillRect l="-9347" r="-9347"/>
              </a:stretch>
            </a:blipFill>
          </p:spPr>
        </p:sp>
      </p:grpSp>
      <p:grpSp>
        <p:nvGrpSpPr>
          <p:cNvPr id="4" name="Group 4"/>
          <p:cNvGrpSpPr/>
          <p:nvPr/>
        </p:nvGrpSpPr>
        <p:grpSpPr>
          <a:xfrm>
            <a:off x="4822595" y="4452994"/>
            <a:ext cx="2894861" cy="2135706"/>
            <a:chOff x="0" y="0"/>
            <a:chExt cx="812800" cy="599649"/>
          </a:xfrm>
        </p:grpSpPr>
        <p:sp>
          <p:nvSpPr>
            <p:cNvPr id="5" name="Freeform 5"/>
            <p:cNvSpPr/>
            <p:nvPr/>
          </p:nvSpPr>
          <p:spPr>
            <a:xfrm>
              <a:off x="0" y="0"/>
              <a:ext cx="812800" cy="599649"/>
            </a:xfrm>
            <a:custGeom>
              <a:avLst/>
              <a:gdLst/>
              <a:ahLst/>
              <a:cxnLst/>
              <a:rect l="l" t="t" r="r" b="b"/>
              <a:pathLst>
                <a:path w="812800" h="599649">
                  <a:moveTo>
                    <a:pt x="41007" y="0"/>
                  </a:moveTo>
                  <a:lnTo>
                    <a:pt x="771793" y="0"/>
                  </a:lnTo>
                  <a:cubicBezTo>
                    <a:pt x="794441" y="0"/>
                    <a:pt x="812800" y="18359"/>
                    <a:pt x="812800" y="41007"/>
                  </a:cubicBezTo>
                  <a:lnTo>
                    <a:pt x="812800" y="558642"/>
                  </a:lnTo>
                  <a:cubicBezTo>
                    <a:pt x="812800" y="581290"/>
                    <a:pt x="794441" y="599649"/>
                    <a:pt x="771793" y="599649"/>
                  </a:cubicBezTo>
                  <a:lnTo>
                    <a:pt x="41007" y="599649"/>
                  </a:lnTo>
                  <a:cubicBezTo>
                    <a:pt x="18359" y="599649"/>
                    <a:pt x="0" y="581290"/>
                    <a:pt x="0" y="558642"/>
                  </a:cubicBezTo>
                  <a:lnTo>
                    <a:pt x="0" y="41007"/>
                  </a:lnTo>
                  <a:cubicBezTo>
                    <a:pt x="0" y="18359"/>
                    <a:pt x="18359" y="0"/>
                    <a:pt x="41007" y="0"/>
                  </a:cubicBezTo>
                  <a:close/>
                </a:path>
              </a:pathLst>
            </a:custGeom>
            <a:blipFill>
              <a:blip r:embed="rId3"/>
              <a:stretch>
                <a:fillRect l="-15882" r="-15882"/>
              </a:stretch>
            </a:blipFill>
          </p:spPr>
        </p:sp>
      </p:grpSp>
      <p:sp>
        <p:nvSpPr>
          <p:cNvPr id="6" name="TextBox 6"/>
          <p:cNvSpPr txBox="1"/>
          <p:nvPr/>
        </p:nvSpPr>
        <p:spPr>
          <a:xfrm>
            <a:off x="1737361" y="367927"/>
            <a:ext cx="8717278" cy="654025"/>
          </a:xfrm>
          <a:prstGeom prst="rect">
            <a:avLst/>
          </a:prstGeom>
        </p:spPr>
        <p:txBody>
          <a:bodyPr lIns="0" tIns="0" rIns="0" bIns="0" rtlCol="0" anchor="t">
            <a:spAutoFit/>
          </a:bodyPr>
          <a:lstStyle/>
          <a:p>
            <a:pPr defTabSz="609630">
              <a:lnSpc>
                <a:spcPts val="5120"/>
              </a:lnSpc>
            </a:pPr>
            <a:r>
              <a:rPr lang="en-US" sz="5334" b="1">
                <a:solidFill>
                  <a:srgbClr val="FFFFFF"/>
                </a:solidFill>
                <a:latin typeface="Poppins Bold"/>
                <a:ea typeface="Poppins Bold"/>
                <a:cs typeface="Poppins Bold"/>
                <a:sym typeface="Poppins Bold"/>
              </a:rPr>
              <a:t>SubPart A - ENGINEERING</a:t>
            </a:r>
          </a:p>
        </p:txBody>
      </p:sp>
      <p:sp>
        <p:nvSpPr>
          <p:cNvPr id="7" name="TextBox 7"/>
          <p:cNvSpPr txBox="1"/>
          <p:nvPr/>
        </p:nvSpPr>
        <p:spPr>
          <a:xfrm>
            <a:off x="0" y="1923171"/>
            <a:ext cx="4822595" cy="1448858"/>
          </a:xfrm>
          <a:prstGeom prst="rect">
            <a:avLst/>
          </a:prstGeom>
        </p:spPr>
        <p:txBody>
          <a:bodyPr lIns="0" tIns="0" rIns="0" bIns="0" rtlCol="0" anchor="t">
            <a:spAutoFit/>
          </a:bodyPr>
          <a:lstStyle/>
          <a:p>
            <a:pPr marL="287882" lvl="1" indent="-143941" defTabSz="609630">
              <a:lnSpc>
                <a:spcPts val="2267"/>
              </a:lnSpc>
              <a:buFont typeface="Arial"/>
              <a:buChar char="•"/>
            </a:pPr>
            <a:r>
              <a:rPr lang="en-US" sz="1333">
                <a:solidFill>
                  <a:srgbClr val="FFFFFF"/>
                </a:solidFill>
                <a:latin typeface="Poppins"/>
                <a:ea typeface="Poppins"/>
                <a:cs typeface="Poppins"/>
                <a:sym typeface="Poppins"/>
              </a:rPr>
              <a:t>Propulsion system</a:t>
            </a:r>
          </a:p>
          <a:p>
            <a:pPr marL="287882" lvl="1" indent="-143941" defTabSz="609630">
              <a:lnSpc>
                <a:spcPts val="2267"/>
              </a:lnSpc>
              <a:buFont typeface="Arial"/>
              <a:buChar char="•"/>
            </a:pPr>
            <a:r>
              <a:rPr lang="en-US" sz="1333">
                <a:solidFill>
                  <a:srgbClr val="FFFFFF"/>
                </a:solidFill>
                <a:latin typeface="Poppins"/>
                <a:ea typeface="Poppins"/>
                <a:cs typeface="Poppins"/>
                <a:sym typeface="Poppins"/>
              </a:rPr>
              <a:t>Hybrid engines (Solar + Propellant)</a:t>
            </a:r>
          </a:p>
          <a:p>
            <a:pPr marL="287882" lvl="1" indent="-143941" defTabSz="609630">
              <a:lnSpc>
                <a:spcPts val="2267"/>
              </a:lnSpc>
              <a:buFont typeface="Arial"/>
              <a:buChar char="•"/>
            </a:pPr>
            <a:r>
              <a:rPr lang="en-US" sz="1333">
                <a:solidFill>
                  <a:srgbClr val="FFFFFF"/>
                </a:solidFill>
                <a:latin typeface="Poppins"/>
                <a:ea typeface="Poppins"/>
                <a:cs typeface="Poppins"/>
                <a:sym typeface="Poppins"/>
              </a:rPr>
              <a:t>Gripping Mechanism</a:t>
            </a:r>
          </a:p>
          <a:p>
            <a:pPr marL="287882" lvl="1" indent="-143941" defTabSz="609630">
              <a:lnSpc>
                <a:spcPts val="2267"/>
              </a:lnSpc>
              <a:buFont typeface="Arial"/>
              <a:buChar char="•"/>
            </a:pPr>
            <a:r>
              <a:rPr lang="en-US" sz="1333">
                <a:solidFill>
                  <a:srgbClr val="FFFFFF"/>
                </a:solidFill>
                <a:latin typeface="Poppins"/>
                <a:ea typeface="Poppins"/>
                <a:cs typeface="Poppins"/>
                <a:sym typeface="Poppins"/>
              </a:rPr>
              <a:t>Spectroscopic sensors: detect level of the ore on asteroids</a:t>
            </a:r>
          </a:p>
        </p:txBody>
      </p:sp>
      <p:sp>
        <p:nvSpPr>
          <p:cNvPr id="8" name="TextBox 8"/>
          <p:cNvSpPr txBox="1"/>
          <p:nvPr/>
        </p:nvSpPr>
        <p:spPr>
          <a:xfrm>
            <a:off x="249840" y="1665995"/>
            <a:ext cx="3330981" cy="221664"/>
          </a:xfrm>
          <a:prstGeom prst="rect">
            <a:avLst/>
          </a:prstGeom>
        </p:spPr>
        <p:txBody>
          <a:bodyPr lIns="0" tIns="0" rIns="0" bIns="0" rtlCol="0" anchor="t">
            <a:spAutoFit/>
          </a:bodyPr>
          <a:lstStyle/>
          <a:p>
            <a:pPr defTabSz="609630">
              <a:lnSpc>
                <a:spcPts val="1866"/>
              </a:lnSpc>
              <a:spcBef>
                <a:spcPct val="0"/>
              </a:spcBef>
            </a:pPr>
            <a:r>
              <a:rPr lang="en-US" sz="1333" b="1">
                <a:solidFill>
                  <a:srgbClr val="FFFFFF"/>
                </a:solidFill>
                <a:latin typeface="Poppins Bold"/>
                <a:ea typeface="Poppins Bold"/>
                <a:cs typeface="Poppins Bold"/>
                <a:sym typeface="Poppins Bold"/>
              </a:rPr>
              <a:t>Reaching &amp; Landing &amp; Operation</a:t>
            </a:r>
          </a:p>
        </p:txBody>
      </p:sp>
      <p:sp>
        <p:nvSpPr>
          <p:cNvPr id="9" name="TextBox 9"/>
          <p:cNvSpPr txBox="1"/>
          <p:nvPr/>
        </p:nvSpPr>
        <p:spPr>
          <a:xfrm>
            <a:off x="2510200" y="1018219"/>
            <a:ext cx="7171601" cy="820738"/>
          </a:xfrm>
          <a:prstGeom prst="rect">
            <a:avLst/>
          </a:prstGeom>
        </p:spPr>
        <p:txBody>
          <a:bodyPr lIns="0" tIns="0" rIns="0" bIns="0" rtlCol="0" anchor="t">
            <a:spAutoFit/>
          </a:bodyPr>
          <a:lstStyle/>
          <a:p>
            <a:pPr defTabSz="609630">
              <a:lnSpc>
                <a:spcPts val="3181"/>
              </a:lnSpc>
            </a:pPr>
            <a:r>
              <a:rPr lang="en-US" sz="3313" b="1">
                <a:solidFill>
                  <a:srgbClr val="FFFFFF"/>
                </a:solidFill>
                <a:latin typeface="Poppins Bold"/>
                <a:ea typeface="Poppins Bold"/>
                <a:cs typeface="Poppins Bold"/>
                <a:sym typeface="Poppins Bold"/>
              </a:rPr>
              <a:t>BUILD THE MINING ARCHITECTURE</a:t>
            </a:r>
          </a:p>
        </p:txBody>
      </p:sp>
      <p:sp>
        <p:nvSpPr>
          <p:cNvPr id="10" name="TextBox 10"/>
          <p:cNvSpPr txBox="1"/>
          <p:nvPr/>
        </p:nvSpPr>
        <p:spPr>
          <a:xfrm>
            <a:off x="7717457" y="2093963"/>
            <a:ext cx="4474543" cy="1743811"/>
          </a:xfrm>
          <a:prstGeom prst="rect">
            <a:avLst/>
          </a:prstGeom>
        </p:spPr>
        <p:txBody>
          <a:bodyPr lIns="0" tIns="0" rIns="0" bIns="0" rtlCol="0" anchor="t">
            <a:spAutoFit/>
          </a:bodyPr>
          <a:lstStyle/>
          <a:p>
            <a:pPr marL="287882" lvl="1" indent="-143941" defTabSz="609630">
              <a:lnSpc>
                <a:spcPts val="2267"/>
              </a:lnSpc>
              <a:buFont typeface="Arial"/>
              <a:buChar char="•"/>
            </a:pPr>
            <a:r>
              <a:rPr lang="en-US" sz="1333">
                <a:solidFill>
                  <a:srgbClr val="FFFFFF"/>
                </a:solidFill>
                <a:latin typeface="Poppins"/>
                <a:ea typeface="Poppins"/>
                <a:cs typeface="Poppins"/>
                <a:sym typeface="Poppins"/>
              </a:rPr>
              <a:t>Radio Antennas and Relay satellites</a:t>
            </a:r>
          </a:p>
          <a:p>
            <a:pPr marL="287882" lvl="1" indent="-143941" defTabSz="609630">
              <a:lnSpc>
                <a:spcPts val="2267"/>
              </a:lnSpc>
              <a:buFont typeface="Arial"/>
              <a:buChar char="•"/>
            </a:pPr>
            <a:r>
              <a:rPr lang="en-US" sz="1333">
                <a:solidFill>
                  <a:srgbClr val="FFFFFF"/>
                </a:solidFill>
                <a:latin typeface="Poppins"/>
                <a:ea typeface="Poppins"/>
                <a:cs typeface="Poppins"/>
                <a:sym typeface="Poppins"/>
              </a:rPr>
              <a:t>Mining Probes will indepently perform routine tasks</a:t>
            </a:r>
          </a:p>
          <a:p>
            <a:pPr marL="287882" lvl="1" indent="-143941" defTabSz="609630">
              <a:lnSpc>
                <a:spcPts val="2267"/>
              </a:lnSpc>
              <a:buFont typeface="Arial"/>
              <a:buChar char="•"/>
            </a:pPr>
            <a:r>
              <a:rPr lang="en-US" sz="1333">
                <a:solidFill>
                  <a:srgbClr val="FFFFFF"/>
                </a:solidFill>
                <a:latin typeface="Poppins"/>
                <a:ea typeface="Poppins"/>
                <a:cs typeface="Poppins"/>
                <a:sym typeface="Poppins"/>
              </a:rPr>
              <a:t>Equipment Failure: monitoring of temperature, power motors and propulsion.</a:t>
            </a:r>
          </a:p>
          <a:p>
            <a:pPr marL="287882" lvl="1" indent="-143941" defTabSz="609630">
              <a:lnSpc>
                <a:spcPts val="2267"/>
              </a:lnSpc>
              <a:buFont typeface="Arial"/>
              <a:buChar char="•"/>
            </a:pPr>
            <a:r>
              <a:rPr lang="en-US" sz="1333">
                <a:solidFill>
                  <a:srgbClr val="FFFFFF"/>
                </a:solidFill>
                <a:latin typeface="Poppins"/>
                <a:ea typeface="Poppins"/>
                <a:cs typeface="Poppins"/>
                <a:sym typeface="Poppins"/>
              </a:rPr>
              <a:t>Backup systems and auto-fault detection</a:t>
            </a:r>
          </a:p>
        </p:txBody>
      </p:sp>
      <p:sp>
        <p:nvSpPr>
          <p:cNvPr id="11" name="TextBox 11"/>
          <p:cNvSpPr txBox="1"/>
          <p:nvPr/>
        </p:nvSpPr>
        <p:spPr>
          <a:xfrm>
            <a:off x="8086238" y="1766537"/>
            <a:ext cx="2244458" cy="221664"/>
          </a:xfrm>
          <a:prstGeom prst="rect">
            <a:avLst/>
          </a:prstGeom>
        </p:spPr>
        <p:txBody>
          <a:bodyPr lIns="0" tIns="0" rIns="0" bIns="0" rtlCol="0" anchor="t">
            <a:spAutoFit/>
          </a:bodyPr>
          <a:lstStyle/>
          <a:p>
            <a:pPr defTabSz="609630">
              <a:lnSpc>
                <a:spcPts val="1866"/>
              </a:lnSpc>
              <a:spcBef>
                <a:spcPct val="0"/>
              </a:spcBef>
            </a:pPr>
            <a:r>
              <a:rPr lang="en-US" sz="1333" b="1">
                <a:solidFill>
                  <a:srgbClr val="FFFFFF"/>
                </a:solidFill>
                <a:latin typeface="Poppins Bold"/>
                <a:ea typeface="Poppins Bold"/>
                <a:cs typeface="Poppins Bold"/>
                <a:sym typeface="Poppins Bold"/>
              </a:rPr>
              <a:t>Communication</a:t>
            </a:r>
          </a:p>
        </p:txBody>
      </p:sp>
      <p:sp>
        <p:nvSpPr>
          <p:cNvPr id="12" name="TextBox 12"/>
          <p:cNvSpPr txBox="1"/>
          <p:nvPr/>
        </p:nvSpPr>
        <p:spPr>
          <a:xfrm>
            <a:off x="0" y="3346450"/>
            <a:ext cx="4822595" cy="1448858"/>
          </a:xfrm>
          <a:prstGeom prst="rect">
            <a:avLst/>
          </a:prstGeom>
        </p:spPr>
        <p:txBody>
          <a:bodyPr lIns="0" tIns="0" rIns="0" bIns="0" rtlCol="0" anchor="t">
            <a:spAutoFit/>
          </a:bodyPr>
          <a:lstStyle/>
          <a:p>
            <a:pPr marL="287882" lvl="1" indent="-143941" defTabSz="609630">
              <a:lnSpc>
                <a:spcPts val="2267"/>
              </a:lnSpc>
              <a:buFont typeface="Arial"/>
              <a:buChar char="•"/>
            </a:pPr>
            <a:r>
              <a:rPr lang="en-US" sz="1333">
                <a:solidFill>
                  <a:srgbClr val="FFFFFF"/>
                </a:solidFill>
                <a:latin typeface="Poppins"/>
                <a:ea typeface="Poppins"/>
                <a:cs typeface="Poppins"/>
                <a:sym typeface="Poppins"/>
              </a:rPr>
              <a:t>Refining - Done on the Carrier (Majorly)</a:t>
            </a:r>
          </a:p>
          <a:p>
            <a:pPr marL="287882" lvl="1" indent="-143941" defTabSz="609630">
              <a:lnSpc>
                <a:spcPts val="2267"/>
              </a:lnSpc>
              <a:buFont typeface="Arial"/>
              <a:buChar char="•"/>
            </a:pPr>
            <a:r>
              <a:rPr lang="en-US" sz="1333">
                <a:solidFill>
                  <a:srgbClr val="FFFFFF"/>
                </a:solidFill>
                <a:latin typeface="Poppins"/>
                <a:ea typeface="Poppins"/>
                <a:cs typeface="Poppins"/>
                <a:sym typeface="Poppins"/>
              </a:rPr>
              <a:t>Some is done during extraction itself using magnets &amp; other tech</a:t>
            </a:r>
          </a:p>
          <a:p>
            <a:pPr marL="287882" lvl="1" indent="-143941" defTabSz="609630">
              <a:lnSpc>
                <a:spcPts val="2267"/>
              </a:lnSpc>
              <a:buFont typeface="Arial"/>
              <a:buChar char="•"/>
            </a:pPr>
            <a:r>
              <a:rPr lang="en-US" sz="1333">
                <a:solidFill>
                  <a:srgbClr val="FFFFFF"/>
                </a:solidFill>
                <a:latin typeface="Poppins"/>
                <a:ea typeface="Poppins"/>
                <a:cs typeface="Poppins"/>
                <a:sym typeface="Poppins"/>
              </a:rPr>
              <a:t>Semi-refined ores taken to lunar base for refining using solar mirrors to remove sludge from ores</a:t>
            </a:r>
          </a:p>
        </p:txBody>
      </p:sp>
      <p:sp>
        <p:nvSpPr>
          <p:cNvPr id="13" name="TextBox 13"/>
          <p:cNvSpPr txBox="1"/>
          <p:nvPr/>
        </p:nvSpPr>
        <p:spPr>
          <a:xfrm>
            <a:off x="0" y="4766734"/>
            <a:ext cx="4822595" cy="1153906"/>
          </a:xfrm>
          <a:prstGeom prst="rect">
            <a:avLst/>
          </a:prstGeom>
        </p:spPr>
        <p:txBody>
          <a:bodyPr lIns="0" tIns="0" rIns="0" bIns="0" rtlCol="0" anchor="t">
            <a:spAutoFit/>
          </a:bodyPr>
          <a:lstStyle/>
          <a:p>
            <a:pPr marL="287882" lvl="1" indent="-143941" defTabSz="609630">
              <a:lnSpc>
                <a:spcPts val="2267"/>
              </a:lnSpc>
              <a:buFont typeface="Arial"/>
              <a:buChar char="•"/>
            </a:pPr>
            <a:r>
              <a:rPr lang="en-US" sz="1333">
                <a:solidFill>
                  <a:srgbClr val="FFFFFF"/>
                </a:solidFill>
                <a:latin typeface="Poppins"/>
                <a:ea typeface="Poppins"/>
                <a:cs typeface="Poppins"/>
                <a:sym typeface="Poppins"/>
              </a:rPr>
              <a:t>Optical navigation</a:t>
            </a:r>
          </a:p>
          <a:p>
            <a:pPr marL="287882" lvl="1" indent="-143941" defTabSz="609630">
              <a:lnSpc>
                <a:spcPts val="2267"/>
              </a:lnSpc>
              <a:buFont typeface="Arial"/>
              <a:buChar char="•"/>
            </a:pPr>
            <a:r>
              <a:rPr lang="en-US" sz="1333">
                <a:solidFill>
                  <a:srgbClr val="FFFFFF"/>
                </a:solidFill>
                <a:latin typeface="Poppins"/>
                <a:ea typeface="Poppins"/>
                <a:cs typeface="Poppins"/>
                <a:sym typeface="Poppins"/>
              </a:rPr>
              <a:t>LiDAR: Laser pulses → generate surface maps</a:t>
            </a:r>
          </a:p>
          <a:p>
            <a:pPr marL="287882" lvl="1" indent="-143941" defTabSz="609630">
              <a:lnSpc>
                <a:spcPts val="2267"/>
              </a:lnSpc>
              <a:buFont typeface="Arial"/>
              <a:buChar char="•"/>
            </a:pPr>
            <a:r>
              <a:rPr lang="en-US" sz="1333">
                <a:solidFill>
                  <a:srgbClr val="FFFFFF"/>
                </a:solidFill>
                <a:latin typeface="Poppins"/>
                <a:ea typeface="Poppins"/>
                <a:cs typeface="Poppins"/>
                <a:sym typeface="Poppins"/>
              </a:rPr>
              <a:t>Inertial Measurement Units(IMUs): Gyroscopes &amp; accelerometers</a:t>
            </a:r>
          </a:p>
        </p:txBody>
      </p:sp>
      <p:sp>
        <p:nvSpPr>
          <p:cNvPr id="14" name="TextBox 14"/>
          <p:cNvSpPr txBox="1"/>
          <p:nvPr/>
        </p:nvSpPr>
        <p:spPr>
          <a:xfrm>
            <a:off x="7717457" y="3808463"/>
            <a:ext cx="4474543" cy="1743811"/>
          </a:xfrm>
          <a:prstGeom prst="rect">
            <a:avLst/>
          </a:prstGeom>
        </p:spPr>
        <p:txBody>
          <a:bodyPr lIns="0" tIns="0" rIns="0" bIns="0" rtlCol="0" anchor="t">
            <a:spAutoFit/>
          </a:bodyPr>
          <a:lstStyle/>
          <a:p>
            <a:pPr marL="287882" lvl="1" indent="-143941" defTabSz="609630">
              <a:lnSpc>
                <a:spcPts val="2267"/>
              </a:lnSpc>
              <a:buFont typeface="Arial"/>
              <a:buChar char="•"/>
            </a:pPr>
            <a:r>
              <a:rPr lang="en-US" sz="1333">
                <a:solidFill>
                  <a:srgbClr val="FFFFFF"/>
                </a:solidFill>
                <a:latin typeface="Poppins"/>
                <a:ea typeface="Poppins"/>
                <a:cs typeface="Poppins"/>
                <a:sym typeface="Poppins"/>
              </a:rPr>
              <a:t>Using Delay/Disruption Tolerant Networking (DTN)</a:t>
            </a:r>
          </a:p>
          <a:p>
            <a:pPr marL="287882" lvl="1" indent="-143941" defTabSz="609630">
              <a:lnSpc>
                <a:spcPts val="2267"/>
              </a:lnSpc>
              <a:buFont typeface="Arial"/>
              <a:buChar char="•"/>
            </a:pPr>
            <a:r>
              <a:rPr lang="en-US" sz="1333">
                <a:solidFill>
                  <a:srgbClr val="FFFFFF"/>
                </a:solidFill>
                <a:latin typeface="Poppins"/>
                <a:ea typeface="Poppins"/>
                <a:cs typeface="Poppins"/>
                <a:sym typeface="Poppins"/>
              </a:rPr>
              <a:t>The rover / spacecraft could carry:</a:t>
            </a:r>
          </a:p>
          <a:p>
            <a:pPr marL="287882" lvl="1" indent="-143941" defTabSz="609630">
              <a:lnSpc>
                <a:spcPts val="2267"/>
              </a:lnSpc>
              <a:buFont typeface="Arial"/>
              <a:buChar char="•"/>
            </a:pPr>
            <a:r>
              <a:rPr lang="en-US" sz="1333">
                <a:solidFill>
                  <a:srgbClr val="FFFFFF"/>
                </a:solidFill>
                <a:latin typeface="Poppins"/>
                <a:ea typeface="Poppins"/>
                <a:cs typeface="Poppins"/>
                <a:sym typeface="Poppins"/>
              </a:rPr>
              <a:t>visible &amp; infrared spectrometers</a:t>
            </a:r>
          </a:p>
          <a:p>
            <a:pPr marL="287882" lvl="1" indent="-143941" defTabSz="609630">
              <a:lnSpc>
                <a:spcPts val="2267"/>
              </a:lnSpc>
              <a:buFont typeface="Arial"/>
              <a:buChar char="•"/>
            </a:pPr>
            <a:r>
              <a:rPr lang="en-US" sz="1333">
                <a:solidFill>
                  <a:srgbClr val="FFFFFF"/>
                </a:solidFill>
                <a:latin typeface="Poppins"/>
                <a:ea typeface="Poppins"/>
                <a:cs typeface="Poppins"/>
                <a:sym typeface="Poppins"/>
              </a:rPr>
              <a:t>X-ray fluorescence (XRF)</a:t>
            </a:r>
          </a:p>
          <a:p>
            <a:pPr marL="287882" lvl="1" indent="-143941" defTabSz="609630">
              <a:lnSpc>
                <a:spcPts val="2267"/>
              </a:lnSpc>
              <a:buFont typeface="Arial"/>
              <a:buChar char="•"/>
            </a:pPr>
            <a:r>
              <a:rPr lang="en-US" sz="1333">
                <a:solidFill>
                  <a:srgbClr val="FFFFFF"/>
                </a:solidFill>
                <a:latin typeface="Poppins"/>
                <a:ea typeface="Poppins"/>
                <a:cs typeface="Poppins"/>
                <a:sym typeface="Poppins"/>
              </a:rPr>
              <a:t>Neutron &amp; gamma-ray instruments</a:t>
            </a:r>
          </a:p>
          <a:p>
            <a:pPr marL="287882" lvl="1" indent="-143941" defTabSz="609630">
              <a:lnSpc>
                <a:spcPts val="2267"/>
              </a:lnSpc>
              <a:buFont typeface="Arial"/>
              <a:buChar char="•"/>
            </a:pPr>
            <a:r>
              <a:rPr lang="en-US" sz="1333">
                <a:solidFill>
                  <a:srgbClr val="FFFFFF"/>
                </a:solidFill>
                <a:latin typeface="Poppins"/>
                <a:ea typeface="Poppins"/>
                <a:cs typeface="Poppins"/>
                <a:sym typeface="Poppins"/>
              </a:rPr>
              <a:t>Radars, cameras &amp; thermal sensors</a:t>
            </a:r>
          </a:p>
        </p:txBody>
      </p:sp>
    </p:spTree>
    <p:extLst>
      <p:ext uri="{BB962C8B-B14F-4D97-AF65-F5344CB8AC3E}">
        <p14:creationId xmlns:p14="http://schemas.microsoft.com/office/powerpoint/2010/main" val="28960913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111F"/>
        </a:solidFill>
        <a:effectLst/>
      </p:bgPr>
    </p:bg>
    <p:spTree>
      <p:nvGrpSpPr>
        <p:cNvPr id="1" name=""/>
        <p:cNvGrpSpPr/>
        <p:nvPr/>
      </p:nvGrpSpPr>
      <p:grpSpPr>
        <a:xfrm>
          <a:off x="0" y="0"/>
          <a:ext cx="0" cy="0"/>
          <a:chOff x="0" y="0"/>
          <a:chExt cx="0" cy="0"/>
        </a:xfrm>
      </p:grpSpPr>
      <p:sp>
        <p:nvSpPr>
          <p:cNvPr id="2" name="Freeform 2"/>
          <p:cNvSpPr/>
          <p:nvPr/>
        </p:nvSpPr>
        <p:spPr>
          <a:xfrm>
            <a:off x="419400" y="0"/>
            <a:ext cx="11465311" cy="6858000"/>
          </a:xfrm>
          <a:custGeom>
            <a:avLst/>
            <a:gdLst/>
            <a:ahLst/>
            <a:cxnLst/>
            <a:rect l="l" t="t" r="r" b="b"/>
            <a:pathLst>
              <a:path w="17197967" h="10287000">
                <a:moveTo>
                  <a:pt x="0" y="0"/>
                </a:moveTo>
                <a:lnTo>
                  <a:pt x="17197967" y="0"/>
                </a:lnTo>
                <a:lnTo>
                  <a:pt x="17197967" y="10287000"/>
                </a:lnTo>
                <a:lnTo>
                  <a:pt x="0" y="10287000"/>
                </a:lnTo>
                <a:lnTo>
                  <a:pt x="0" y="0"/>
                </a:lnTo>
                <a:close/>
              </a:path>
            </a:pathLst>
          </a:custGeom>
          <a:blipFill>
            <a:blip r:embed="rId2"/>
            <a:stretch>
              <a:fillRect t="-11364" b="-89"/>
            </a:stretch>
          </a:blipFill>
        </p:spPr>
      </p:sp>
    </p:spTree>
    <p:extLst>
      <p:ext uri="{BB962C8B-B14F-4D97-AF65-F5344CB8AC3E}">
        <p14:creationId xmlns:p14="http://schemas.microsoft.com/office/powerpoint/2010/main" val="26005915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111F"/>
        </a:solidFill>
        <a:effectLst/>
      </p:bgPr>
    </p:bg>
    <p:spTree>
      <p:nvGrpSpPr>
        <p:cNvPr id="1" name=""/>
        <p:cNvGrpSpPr/>
        <p:nvPr/>
      </p:nvGrpSpPr>
      <p:grpSpPr>
        <a:xfrm>
          <a:off x="0" y="0"/>
          <a:ext cx="0" cy="0"/>
          <a:chOff x="0" y="0"/>
          <a:chExt cx="0" cy="0"/>
        </a:xfrm>
      </p:grpSpPr>
      <p:sp>
        <p:nvSpPr>
          <p:cNvPr id="2" name="Freeform 2"/>
          <p:cNvSpPr/>
          <p:nvPr/>
        </p:nvSpPr>
        <p:spPr>
          <a:xfrm>
            <a:off x="952500" y="0"/>
            <a:ext cx="10287000" cy="6858000"/>
          </a:xfrm>
          <a:custGeom>
            <a:avLst/>
            <a:gdLst/>
            <a:ahLst/>
            <a:cxnLst/>
            <a:rect l="l" t="t" r="r" b="b"/>
            <a:pathLst>
              <a:path w="15430500" h="10287000">
                <a:moveTo>
                  <a:pt x="0" y="0"/>
                </a:moveTo>
                <a:lnTo>
                  <a:pt x="15430500" y="0"/>
                </a:lnTo>
                <a:lnTo>
                  <a:pt x="15430500" y="10287000"/>
                </a:lnTo>
                <a:lnTo>
                  <a:pt x="0" y="10287000"/>
                </a:lnTo>
                <a:lnTo>
                  <a:pt x="0" y="0"/>
                </a:lnTo>
                <a:close/>
              </a:path>
            </a:pathLst>
          </a:custGeom>
          <a:blipFill>
            <a:blip r:embed="rId2"/>
            <a:stretch>
              <a:fillRect/>
            </a:stretch>
          </a:blipFill>
        </p:spPr>
      </p:sp>
    </p:spTree>
    <p:extLst>
      <p:ext uri="{BB962C8B-B14F-4D97-AF65-F5344CB8AC3E}">
        <p14:creationId xmlns:p14="http://schemas.microsoft.com/office/powerpoint/2010/main" val="4228051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7710740" y="4211108"/>
            <a:ext cx="4182785" cy="1961092"/>
            <a:chOff x="0" y="0"/>
            <a:chExt cx="1535678" cy="720000"/>
          </a:xfrm>
        </p:grpSpPr>
        <p:sp>
          <p:nvSpPr>
            <p:cNvPr id="3" name="Freeform 3"/>
            <p:cNvSpPr/>
            <p:nvPr/>
          </p:nvSpPr>
          <p:spPr>
            <a:xfrm>
              <a:off x="0" y="0"/>
              <a:ext cx="1535678" cy="720000"/>
            </a:xfrm>
            <a:custGeom>
              <a:avLst/>
              <a:gdLst/>
              <a:ahLst/>
              <a:cxnLst/>
              <a:rect l="l" t="t" r="r" b="b"/>
              <a:pathLst>
                <a:path w="1535678" h="720000">
                  <a:moveTo>
                    <a:pt x="28380" y="0"/>
                  </a:moveTo>
                  <a:lnTo>
                    <a:pt x="1507297" y="0"/>
                  </a:lnTo>
                  <a:cubicBezTo>
                    <a:pt x="1514824" y="0"/>
                    <a:pt x="1522043" y="2990"/>
                    <a:pt x="1527365" y="8312"/>
                  </a:cubicBezTo>
                  <a:cubicBezTo>
                    <a:pt x="1532688" y="13635"/>
                    <a:pt x="1535678" y="20854"/>
                    <a:pt x="1535678" y="28380"/>
                  </a:cubicBezTo>
                  <a:lnTo>
                    <a:pt x="1535678" y="691619"/>
                  </a:lnTo>
                  <a:cubicBezTo>
                    <a:pt x="1535678" y="699146"/>
                    <a:pt x="1532688" y="706365"/>
                    <a:pt x="1527365" y="711687"/>
                  </a:cubicBezTo>
                  <a:cubicBezTo>
                    <a:pt x="1522043" y="717010"/>
                    <a:pt x="1514824" y="720000"/>
                    <a:pt x="1507297" y="720000"/>
                  </a:cubicBezTo>
                  <a:lnTo>
                    <a:pt x="28380" y="720000"/>
                  </a:lnTo>
                  <a:cubicBezTo>
                    <a:pt x="20854" y="720000"/>
                    <a:pt x="13635" y="717010"/>
                    <a:pt x="8312" y="711687"/>
                  </a:cubicBezTo>
                  <a:cubicBezTo>
                    <a:pt x="2990" y="706365"/>
                    <a:pt x="0" y="699146"/>
                    <a:pt x="0" y="691619"/>
                  </a:cubicBezTo>
                  <a:lnTo>
                    <a:pt x="0" y="28380"/>
                  </a:lnTo>
                  <a:cubicBezTo>
                    <a:pt x="0" y="20854"/>
                    <a:pt x="2990" y="13635"/>
                    <a:pt x="8312" y="8312"/>
                  </a:cubicBezTo>
                  <a:cubicBezTo>
                    <a:pt x="13635" y="2990"/>
                    <a:pt x="20854" y="0"/>
                    <a:pt x="28380" y="0"/>
                  </a:cubicBezTo>
                  <a:close/>
                </a:path>
              </a:pathLst>
            </a:custGeom>
            <a:blipFill>
              <a:blip r:embed="rId2"/>
              <a:stretch>
                <a:fillRect t="-8628" b="-8628"/>
              </a:stretch>
            </a:blipFill>
          </p:spPr>
        </p:sp>
      </p:grpSp>
      <p:sp>
        <p:nvSpPr>
          <p:cNvPr id="4" name="TextBox 4"/>
          <p:cNvSpPr txBox="1"/>
          <p:nvPr/>
        </p:nvSpPr>
        <p:spPr>
          <a:xfrm>
            <a:off x="327356" y="435824"/>
            <a:ext cx="3802745" cy="654025"/>
          </a:xfrm>
          <a:prstGeom prst="rect">
            <a:avLst/>
          </a:prstGeom>
        </p:spPr>
        <p:txBody>
          <a:bodyPr lIns="0" tIns="0" rIns="0" bIns="0" rtlCol="0" anchor="t">
            <a:spAutoFit/>
          </a:bodyPr>
          <a:lstStyle/>
          <a:p>
            <a:pPr defTabSz="609630">
              <a:lnSpc>
                <a:spcPts val="5120"/>
              </a:lnSpc>
            </a:pPr>
            <a:r>
              <a:rPr lang="en-US" sz="5334" b="1">
                <a:solidFill>
                  <a:srgbClr val="FFFFFF"/>
                </a:solidFill>
                <a:latin typeface="Poppins Bold"/>
                <a:ea typeface="Poppins Bold"/>
                <a:cs typeface="Poppins Bold"/>
                <a:sym typeface="Poppins Bold"/>
              </a:rPr>
              <a:t>SubPart B</a:t>
            </a:r>
          </a:p>
        </p:txBody>
      </p:sp>
      <p:sp>
        <p:nvSpPr>
          <p:cNvPr id="5" name="TextBox 5"/>
          <p:cNvSpPr txBox="1"/>
          <p:nvPr/>
        </p:nvSpPr>
        <p:spPr>
          <a:xfrm>
            <a:off x="739832" y="2024231"/>
            <a:ext cx="4529738" cy="638508"/>
          </a:xfrm>
          <a:prstGeom prst="rect">
            <a:avLst/>
          </a:prstGeom>
        </p:spPr>
        <p:txBody>
          <a:bodyPr lIns="0" tIns="0" rIns="0" bIns="0" rtlCol="0" anchor="t">
            <a:spAutoFit/>
          </a:bodyPr>
          <a:lstStyle/>
          <a:p>
            <a:pPr marL="331063" lvl="1" indent="-165531" defTabSz="609630">
              <a:lnSpc>
                <a:spcPts val="2606"/>
              </a:lnSpc>
              <a:buFont typeface="Arial"/>
              <a:buChar char="•"/>
            </a:pPr>
            <a:r>
              <a:rPr lang="en-US" sz="1533">
                <a:solidFill>
                  <a:srgbClr val="FFFFFF"/>
                </a:solidFill>
                <a:latin typeface="Poppins"/>
                <a:ea typeface="Poppins"/>
                <a:cs typeface="Poppins"/>
                <a:sym typeface="Poppins"/>
              </a:rPr>
              <a:t>Fuel Cost → Expensive</a:t>
            </a:r>
          </a:p>
          <a:p>
            <a:pPr defTabSz="609630">
              <a:lnSpc>
                <a:spcPts val="2606"/>
              </a:lnSpc>
            </a:pPr>
            <a:endParaRPr lang="en-US" sz="1533">
              <a:solidFill>
                <a:srgbClr val="FFFFFF"/>
              </a:solidFill>
              <a:latin typeface="Poppins"/>
              <a:ea typeface="Poppins"/>
              <a:cs typeface="Poppins"/>
              <a:sym typeface="Poppins"/>
            </a:endParaRPr>
          </a:p>
        </p:txBody>
      </p:sp>
      <p:sp>
        <p:nvSpPr>
          <p:cNvPr id="6" name="TextBox 6"/>
          <p:cNvSpPr txBox="1"/>
          <p:nvPr/>
        </p:nvSpPr>
        <p:spPr>
          <a:xfrm>
            <a:off x="685800" y="1425468"/>
            <a:ext cx="4138969" cy="350417"/>
          </a:xfrm>
          <a:prstGeom prst="rect">
            <a:avLst/>
          </a:prstGeom>
        </p:spPr>
        <p:txBody>
          <a:bodyPr lIns="0" tIns="0" rIns="0" bIns="0" rtlCol="0" anchor="t">
            <a:spAutoFit/>
          </a:bodyPr>
          <a:lstStyle/>
          <a:p>
            <a:pPr defTabSz="609630">
              <a:lnSpc>
                <a:spcPts val="2964"/>
              </a:lnSpc>
              <a:spcBef>
                <a:spcPct val="0"/>
              </a:spcBef>
            </a:pPr>
            <a:r>
              <a:rPr lang="en-US" sz="2117" b="1">
                <a:solidFill>
                  <a:srgbClr val="FFFFFF"/>
                </a:solidFill>
                <a:latin typeface="Poppins Bold"/>
                <a:ea typeface="Poppins Bold"/>
                <a:cs typeface="Poppins Bold"/>
                <a:sym typeface="Poppins Bold"/>
              </a:rPr>
              <a:t>Major Cost Drivers</a:t>
            </a:r>
          </a:p>
        </p:txBody>
      </p:sp>
      <p:sp>
        <p:nvSpPr>
          <p:cNvPr id="7" name="TextBox 7"/>
          <p:cNvSpPr txBox="1"/>
          <p:nvPr/>
        </p:nvSpPr>
        <p:spPr>
          <a:xfrm>
            <a:off x="6335883" y="5254425"/>
            <a:ext cx="3423879" cy="994439"/>
          </a:xfrm>
          <a:prstGeom prst="rect">
            <a:avLst/>
          </a:prstGeom>
        </p:spPr>
        <p:txBody>
          <a:bodyPr lIns="0" tIns="0" rIns="0" bIns="0" rtlCol="0" anchor="t">
            <a:spAutoFit/>
          </a:bodyPr>
          <a:lstStyle/>
          <a:p>
            <a:pPr defTabSz="609630">
              <a:lnSpc>
                <a:spcPts val="4009"/>
              </a:lnSpc>
            </a:pPr>
            <a:r>
              <a:rPr lang="en-US" sz="3313" b="1">
                <a:solidFill>
                  <a:srgbClr val="FFFFFF"/>
                </a:solidFill>
                <a:latin typeface="Poppins Bold"/>
                <a:ea typeface="Poppins Bold"/>
                <a:cs typeface="Poppins Bold"/>
                <a:sym typeface="Poppins Bold"/>
              </a:rPr>
              <a:t>DESIGN FOR MINIMUM COST</a:t>
            </a:r>
          </a:p>
        </p:txBody>
      </p:sp>
      <p:sp>
        <p:nvSpPr>
          <p:cNvPr id="8" name="TextBox 8"/>
          <p:cNvSpPr txBox="1"/>
          <p:nvPr/>
        </p:nvSpPr>
        <p:spPr>
          <a:xfrm>
            <a:off x="739832" y="2343249"/>
            <a:ext cx="4529738" cy="257122"/>
          </a:xfrm>
          <a:prstGeom prst="rect">
            <a:avLst/>
          </a:prstGeom>
        </p:spPr>
        <p:txBody>
          <a:bodyPr lIns="0" tIns="0" rIns="0" bIns="0" rtlCol="0" anchor="t">
            <a:spAutoFit/>
          </a:bodyPr>
          <a:lstStyle/>
          <a:p>
            <a:pPr defTabSz="609630">
              <a:lnSpc>
                <a:spcPts val="2153"/>
              </a:lnSpc>
            </a:pPr>
            <a:r>
              <a:rPr lang="en-US" sz="1267">
                <a:solidFill>
                  <a:srgbClr val="FFFFFF"/>
                </a:solidFill>
                <a:latin typeface="Poppins"/>
                <a:ea typeface="Poppins"/>
                <a:cs typeface="Poppins"/>
                <a:sym typeface="Poppins"/>
              </a:rPr>
              <a:t>HYBRID SYSTEM- (less fuel means less thrust tho)</a:t>
            </a:r>
          </a:p>
        </p:txBody>
      </p:sp>
      <p:sp>
        <p:nvSpPr>
          <p:cNvPr id="9" name="TextBox 9"/>
          <p:cNvSpPr txBox="1"/>
          <p:nvPr/>
        </p:nvSpPr>
        <p:spPr>
          <a:xfrm>
            <a:off x="685800" y="3912658"/>
            <a:ext cx="4529738" cy="317074"/>
          </a:xfrm>
          <a:prstGeom prst="rect">
            <a:avLst/>
          </a:prstGeom>
        </p:spPr>
        <p:txBody>
          <a:bodyPr lIns="0" tIns="0" rIns="0" bIns="0" rtlCol="0" anchor="t">
            <a:spAutoFit/>
          </a:bodyPr>
          <a:lstStyle/>
          <a:p>
            <a:pPr marL="345456" lvl="1" indent="-172728" defTabSz="609630">
              <a:lnSpc>
                <a:spcPts val="2719"/>
              </a:lnSpc>
              <a:buFont typeface="Arial"/>
              <a:buChar char="•"/>
            </a:pPr>
            <a:r>
              <a:rPr lang="en-US" sz="1599">
                <a:solidFill>
                  <a:srgbClr val="FFFFFF"/>
                </a:solidFill>
                <a:latin typeface="Poppins"/>
                <a:ea typeface="Poppins"/>
                <a:cs typeface="Poppins"/>
                <a:sym typeface="Poppins"/>
              </a:rPr>
              <a:t>Transportation Cost</a:t>
            </a:r>
          </a:p>
        </p:txBody>
      </p:sp>
      <p:sp>
        <p:nvSpPr>
          <p:cNvPr id="10" name="TextBox 10"/>
          <p:cNvSpPr txBox="1"/>
          <p:nvPr/>
        </p:nvSpPr>
        <p:spPr>
          <a:xfrm>
            <a:off x="909428" y="2567305"/>
            <a:ext cx="4529738" cy="257122"/>
          </a:xfrm>
          <a:prstGeom prst="rect">
            <a:avLst/>
          </a:prstGeom>
        </p:spPr>
        <p:txBody>
          <a:bodyPr lIns="0" tIns="0" rIns="0" bIns="0" rtlCol="0" anchor="t">
            <a:spAutoFit/>
          </a:bodyPr>
          <a:lstStyle/>
          <a:p>
            <a:pPr defTabSz="609630">
              <a:lnSpc>
                <a:spcPts val="2153"/>
              </a:lnSpc>
            </a:pPr>
            <a:r>
              <a:rPr lang="en-US" sz="1267">
                <a:solidFill>
                  <a:srgbClr val="FFFFFF"/>
                </a:solidFill>
                <a:latin typeface="Poppins"/>
                <a:ea typeface="Poppins"/>
                <a:cs typeface="Poppins"/>
                <a:sym typeface="Poppins"/>
              </a:rPr>
              <a:t>We solve that by making use of the water ice we mine </a:t>
            </a:r>
          </a:p>
        </p:txBody>
      </p:sp>
      <p:sp>
        <p:nvSpPr>
          <p:cNvPr id="11" name="TextBox 11"/>
          <p:cNvSpPr txBox="1"/>
          <p:nvPr/>
        </p:nvSpPr>
        <p:spPr>
          <a:xfrm>
            <a:off x="750272" y="2897081"/>
            <a:ext cx="4903031" cy="715581"/>
          </a:xfrm>
          <a:prstGeom prst="rect">
            <a:avLst/>
          </a:prstGeom>
        </p:spPr>
        <p:txBody>
          <a:bodyPr lIns="0" tIns="0" rIns="0" bIns="0" rtlCol="0" anchor="t">
            <a:spAutoFit/>
          </a:bodyPr>
          <a:lstStyle/>
          <a:p>
            <a:pPr defTabSz="609630">
              <a:lnSpc>
                <a:spcPts val="1127"/>
              </a:lnSpc>
            </a:pPr>
            <a:r>
              <a:rPr lang="en-US" sz="1267">
                <a:solidFill>
                  <a:srgbClr val="FFFFFF"/>
                </a:solidFill>
                <a:latin typeface="Poppins"/>
                <a:ea typeface="Poppins"/>
                <a:cs typeface="Poppins"/>
                <a:sym typeface="Poppins"/>
              </a:rPr>
              <a:t>(kind of like a Space Pump-- lookout for this in our buisness proposal)</a:t>
            </a:r>
          </a:p>
          <a:p>
            <a:pPr defTabSz="609630">
              <a:lnSpc>
                <a:spcPts val="1127"/>
              </a:lnSpc>
            </a:pPr>
            <a:endParaRPr lang="en-US" sz="1267">
              <a:solidFill>
                <a:srgbClr val="FFFFFF"/>
              </a:solidFill>
              <a:latin typeface="Poppins"/>
              <a:ea typeface="Poppins"/>
              <a:cs typeface="Poppins"/>
              <a:sym typeface="Poppins"/>
            </a:endParaRPr>
          </a:p>
          <a:p>
            <a:pPr defTabSz="609630">
              <a:lnSpc>
                <a:spcPts val="1127"/>
              </a:lnSpc>
            </a:pPr>
            <a:r>
              <a:rPr lang="en-US" sz="1267">
                <a:solidFill>
                  <a:srgbClr val="FFFFFF"/>
                </a:solidFill>
                <a:latin typeface="Poppins"/>
                <a:ea typeface="Poppins"/>
                <a:cs typeface="Poppins"/>
                <a:sym typeface="Poppins"/>
              </a:rPr>
              <a:t>     We reduce fuel cost for refining by using solar mirrors and a centrifugation process</a:t>
            </a:r>
          </a:p>
        </p:txBody>
      </p:sp>
      <p:sp>
        <p:nvSpPr>
          <p:cNvPr id="12" name="TextBox 12"/>
          <p:cNvSpPr txBox="1"/>
          <p:nvPr/>
        </p:nvSpPr>
        <p:spPr>
          <a:xfrm>
            <a:off x="685800" y="4221964"/>
            <a:ext cx="4753365" cy="2648546"/>
          </a:xfrm>
          <a:prstGeom prst="rect">
            <a:avLst/>
          </a:prstGeom>
        </p:spPr>
        <p:txBody>
          <a:bodyPr lIns="0" tIns="0" rIns="0" bIns="0" rtlCol="0" anchor="t">
            <a:spAutoFit/>
          </a:bodyPr>
          <a:lstStyle/>
          <a:p>
            <a:pPr defTabSz="609630">
              <a:lnSpc>
                <a:spcPts val="2291"/>
              </a:lnSpc>
            </a:pPr>
            <a:r>
              <a:rPr lang="en-US" sz="1348">
                <a:solidFill>
                  <a:srgbClr val="FFFFFF"/>
                </a:solidFill>
                <a:latin typeface="Poppins"/>
                <a:ea typeface="Poppins"/>
                <a:cs typeface="Poppins"/>
                <a:sym typeface="Poppins"/>
              </a:rPr>
              <a:t>Launching from Earth is EXPENSIVE</a:t>
            </a:r>
          </a:p>
          <a:p>
            <a:pPr defTabSz="609630">
              <a:lnSpc>
                <a:spcPts val="1838"/>
              </a:lnSpc>
            </a:pPr>
            <a:r>
              <a:rPr lang="en-US" sz="1081">
                <a:solidFill>
                  <a:srgbClr val="FFFFFF"/>
                </a:solidFill>
                <a:latin typeface="Poppins"/>
                <a:ea typeface="Poppins"/>
                <a:cs typeface="Poppins"/>
                <a:sym typeface="Poppins"/>
              </a:rPr>
              <a:t>·Surface gravity: 9.81 m/s², Escape velocity: 11.2 km/s, air resistance</a:t>
            </a:r>
          </a:p>
          <a:p>
            <a:pPr defTabSz="609630">
              <a:lnSpc>
                <a:spcPts val="1838"/>
              </a:lnSpc>
            </a:pPr>
            <a:r>
              <a:rPr lang="en-US" sz="1081">
                <a:solidFill>
                  <a:srgbClr val="FFFFFF"/>
                </a:solidFill>
                <a:latin typeface="Poppins"/>
                <a:ea typeface="Poppins"/>
                <a:cs typeface="Poppins"/>
                <a:sym typeface="Poppins"/>
              </a:rPr>
              <a:t>·Rockets need enormous amounts of fuel to lift themselves and their payload.</a:t>
            </a:r>
          </a:p>
          <a:p>
            <a:pPr defTabSz="609630">
              <a:lnSpc>
                <a:spcPts val="2291"/>
              </a:lnSpc>
            </a:pPr>
            <a:r>
              <a:rPr lang="en-US" sz="1348">
                <a:solidFill>
                  <a:srgbClr val="FFFFFF"/>
                </a:solidFill>
                <a:latin typeface="Poppins"/>
                <a:ea typeface="Poppins"/>
                <a:cs typeface="Poppins"/>
                <a:sym typeface="Poppins"/>
              </a:rPr>
              <a:t> Launching from the Moon however-</a:t>
            </a:r>
          </a:p>
          <a:p>
            <a:pPr defTabSz="609630">
              <a:lnSpc>
                <a:spcPts val="1838"/>
              </a:lnSpc>
            </a:pPr>
            <a:r>
              <a:rPr lang="en-US" sz="1081">
                <a:solidFill>
                  <a:srgbClr val="FFFFFF"/>
                </a:solidFill>
                <a:latin typeface="Poppins"/>
                <a:ea typeface="Poppins"/>
                <a:cs typeface="Poppins"/>
                <a:sym typeface="Poppins"/>
              </a:rPr>
              <a:t>·Surface gravity: 1.62 m/s² (about one-sixth of Earth's), Escape velocity: 2.38 km/s, Virtually no atmosphere, so almost no atmospheric drag.</a:t>
            </a:r>
          </a:p>
          <a:p>
            <a:pPr defTabSz="609630">
              <a:lnSpc>
                <a:spcPts val="1838"/>
              </a:lnSpc>
            </a:pPr>
            <a:r>
              <a:rPr lang="en-US" sz="1081">
                <a:solidFill>
                  <a:srgbClr val="FFFFFF"/>
                </a:solidFill>
                <a:latin typeface="Poppins"/>
                <a:ea typeface="Poppins"/>
                <a:cs typeface="Poppins"/>
                <a:sym typeface="Poppins"/>
              </a:rPr>
              <a:t>·A rocket needs much less velocity change to escape the Moon's gravity.</a:t>
            </a:r>
          </a:p>
          <a:p>
            <a:pPr defTabSz="609630">
              <a:lnSpc>
                <a:spcPts val="1838"/>
              </a:lnSpc>
            </a:pPr>
            <a:endParaRPr lang="en-US" sz="1081">
              <a:solidFill>
                <a:srgbClr val="FFFFFF"/>
              </a:solidFill>
              <a:latin typeface="Poppins"/>
              <a:ea typeface="Poppins"/>
              <a:cs typeface="Poppins"/>
              <a:sym typeface="Poppins"/>
            </a:endParaRPr>
          </a:p>
        </p:txBody>
      </p:sp>
      <p:sp>
        <p:nvSpPr>
          <p:cNvPr id="13" name="TextBox 13"/>
          <p:cNvSpPr txBox="1"/>
          <p:nvPr/>
        </p:nvSpPr>
        <p:spPr>
          <a:xfrm>
            <a:off x="6645712" y="2657263"/>
            <a:ext cx="4529738" cy="305084"/>
          </a:xfrm>
          <a:prstGeom prst="rect">
            <a:avLst/>
          </a:prstGeom>
        </p:spPr>
        <p:txBody>
          <a:bodyPr lIns="0" tIns="0" rIns="0" bIns="0" rtlCol="0" anchor="t">
            <a:spAutoFit/>
          </a:bodyPr>
          <a:lstStyle/>
          <a:p>
            <a:pPr marL="331063" lvl="1" indent="-165531" defTabSz="609630">
              <a:lnSpc>
                <a:spcPts val="2606"/>
              </a:lnSpc>
              <a:buFont typeface="Arial"/>
              <a:buChar char="•"/>
            </a:pPr>
            <a:r>
              <a:rPr lang="en-US" sz="1533">
                <a:solidFill>
                  <a:srgbClr val="FFFFFF"/>
                </a:solidFill>
                <a:latin typeface="Poppins"/>
                <a:ea typeface="Poppins"/>
                <a:cs typeface="Poppins"/>
                <a:sym typeface="Poppins"/>
              </a:rPr>
              <a:t>Making a Lunar Base will be Expensive</a:t>
            </a:r>
          </a:p>
        </p:txBody>
      </p:sp>
      <p:sp>
        <p:nvSpPr>
          <p:cNvPr id="14" name="TextBox 14"/>
          <p:cNvSpPr txBox="1"/>
          <p:nvPr/>
        </p:nvSpPr>
        <p:spPr>
          <a:xfrm>
            <a:off x="6748454" y="3078184"/>
            <a:ext cx="4529738" cy="539250"/>
          </a:xfrm>
          <a:prstGeom prst="rect">
            <a:avLst/>
          </a:prstGeom>
        </p:spPr>
        <p:txBody>
          <a:bodyPr lIns="0" tIns="0" rIns="0" bIns="0" rtlCol="0" anchor="t">
            <a:spAutoFit/>
          </a:bodyPr>
          <a:lstStyle/>
          <a:p>
            <a:pPr defTabSz="609630">
              <a:lnSpc>
                <a:spcPts val="2153"/>
              </a:lnSpc>
            </a:pPr>
            <a:r>
              <a:rPr lang="en-US" sz="1267">
                <a:solidFill>
                  <a:srgbClr val="FFFFFF"/>
                </a:solidFill>
                <a:latin typeface="Poppins"/>
                <a:ea typeface="Poppins"/>
                <a:cs typeface="Poppins"/>
                <a:sym typeface="Poppins"/>
              </a:rPr>
              <a:t>Hence we proposed integration of our refining systems in our carriers initially, until we get some capital flowing</a:t>
            </a:r>
          </a:p>
        </p:txBody>
      </p:sp>
      <p:sp>
        <p:nvSpPr>
          <p:cNvPr id="15" name="TextBox 15"/>
          <p:cNvSpPr txBox="1"/>
          <p:nvPr/>
        </p:nvSpPr>
        <p:spPr>
          <a:xfrm>
            <a:off x="6645712" y="551836"/>
            <a:ext cx="4529738" cy="305084"/>
          </a:xfrm>
          <a:prstGeom prst="rect">
            <a:avLst/>
          </a:prstGeom>
        </p:spPr>
        <p:txBody>
          <a:bodyPr lIns="0" tIns="0" rIns="0" bIns="0" rtlCol="0" anchor="t">
            <a:spAutoFit/>
          </a:bodyPr>
          <a:lstStyle/>
          <a:p>
            <a:pPr marL="331063" lvl="1" indent="-165531" defTabSz="609630">
              <a:lnSpc>
                <a:spcPts val="2606"/>
              </a:lnSpc>
              <a:buFont typeface="Arial"/>
              <a:buChar char="•"/>
            </a:pPr>
            <a:r>
              <a:rPr lang="en-US" sz="1533">
                <a:solidFill>
                  <a:srgbClr val="FFFFFF"/>
                </a:solidFill>
                <a:latin typeface="Poppins"/>
                <a:ea typeface="Poppins"/>
                <a:cs typeface="Poppins"/>
                <a:sym typeface="Poppins"/>
              </a:rPr>
              <a:t>Communication Cost</a:t>
            </a:r>
          </a:p>
        </p:txBody>
      </p:sp>
      <p:sp>
        <p:nvSpPr>
          <p:cNvPr id="16" name="TextBox 16"/>
          <p:cNvSpPr txBox="1"/>
          <p:nvPr/>
        </p:nvSpPr>
        <p:spPr>
          <a:xfrm>
            <a:off x="6748454" y="842074"/>
            <a:ext cx="4529738" cy="1103507"/>
          </a:xfrm>
          <a:prstGeom prst="rect">
            <a:avLst/>
          </a:prstGeom>
        </p:spPr>
        <p:txBody>
          <a:bodyPr lIns="0" tIns="0" rIns="0" bIns="0" rtlCol="0" anchor="t">
            <a:spAutoFit/>
          </a:bodyPr>
          <a:lstStyle/>
          <a:p>
            <a:pPr defTabSz="609630">
              <a:lnSpc>
                <a:spcPts val="2153"/>
              </a:lnSpc>
            </a:pPr>
            <a:r>
              <a:rPr lang="en-US" sz="1267">
                <a:solidFill>
                  <a:srgbClr val="FFFFFF"/>
                </a:solidFill>
                <a:latin typeface="Poppins"/>
                <a:ea typeface="Poppins"/>
                <a:cs typeface="Poppins"/>
                <a:sym typeface="Poppins"/>
              </a:rPr>
              <a:t>Instead of sending multiple sattelites in space to keep track of our carriers and probes, we will integrate them within our carriers which will result in more targeted communication.</a:t>
            </a:r>
          </a:p>
        </p:txBody>
      </p:sp>
    </p:spTree>
    <p:extLst>
      <p:ext uri="{BB962C8B-B14F-4D97-AF65-F5344CB8AC3E}">
        <p14:creationId xmlns:p14="http://schemas.microsoft.com/office/powerpoint/2010/main" val="30683455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4521354" y="1776828"/>
            <a:ext cx="2894861" cy="2894861"/>
            <a:chOff x="0" y="0"/>
            <a:chExt cx="812800" cy="812800"/>
          </a:xfrm>
        </p:grpSpPr>
        <p:sp>
          <p:nvSpPr>
            <p:cNvPr id="3" name="Freeform 3"/>
            <p:cNvSpPr/>
            <p:nvPr/>
          </p:nvSpPr>
          <p:spPr>
            <a:xfrm>
              <a:off x="0" y="0"/>
              <a:ext cx="812800" cy="812800"/>
            </a:xfrm>
            <a:custGeom>
              <a:avLst/>
              <a:gdLst/>
              <a:ahLst/>
              <a:cxnLst/>
              <a:rect l="l" t="t" r="r" b="b"/>
              <a:pathLst>
                <a:path w="812800" h="812800">
                  <a:moveTo>
                    <a:pt x="41007" y="0"/>
                  </a:moveTo>
                  <a:lnTo>
                    <a:pt x="771793" y="0"/>
                  </a:lnTo>
                  <a:cubicBezTo>
                    <a:pt x="794441" y="0"/>
                    <a:pt x="812800" y="18359"/>
                    <a:pt x="812800" y="41007"/>
                  </a:cubicBezTo>
                  <a:lnTo>
                    <a:pt x="812800" y="771793"/>
                  </a:lnTo>
                  <a:cubicBezTo>
                    <a:pt x="812800" y="794441"/>
                    <a:pt x="794441" y="812800"/>
                    <a:pt x="771793" y="812800"/>
                  </a:cubicBezTo>
                  <a:lnTo>
                    <a:pt x="41007" y="812800"/>
                  </a:lnTo>
                  <a:cubicBezTo>
                    <a:pt x="18359" y="812800"/>
                    <a:pt x="0" y="794441"/>
                    <a:pt x="0" y="771793"/>
                  </a:cubicBezTo>
                  <a:lnTo>
                    <a:pt x="0" y="41007"/>
                  </a:lnTo>
                  <a:cubicBezTo>
                    <a:pt x="0" y="18359"/>
                    <a:pt x="18359" y="0"/>
                    <a:pt x="41007" y="0"/>
                  </a:cubicBezTo>
                  <a:close/>
                </a:path>
              </a:pathLst>
            </a:custGeom>
            <a:blipFill>
              <a:blip r:embed="rId2"/>
              <a:stretch>
                <a:fillRect l="-18403" r="-18403"/>
              </a:stretch>
            </a:blipFill>
          </p:spPr>
        </p:sp>
      </p:grpSp>
      <p:sp>
        <p:nvSpPr>
          <p:cNvPr id="4" name="TextBox 4"/>
          <p:cNvSpPr txBox="1"/>
          <p:nvPr/>
        </p:nvSpPr>
        <p:spPr>
          <a:xfrm>
            <a:off x="377100" y="611564"/>
            <a:ext cx="5013461" cy="436017"/>
          </a:xfrm>
          <a:prstGeom prst="rect">
            <a:avLst/>
          </a:prstGeom>
        </p:spPr>
        <p:txBody>
          <a:bodyPr lIns="0" tIns="0" rIns="0" bIns="0" rtlCol="0" anchor="t">
            <a:spAutoFit/>
          </a:bodyPr>
          <a:lstStyle/>
          <a:p>
            <a:pPr defTabSz="609630">
              <a:lnSpc>
                <a:spcPts val="3370"/>
              </a:lnSpc>
            </a:pPr>
            <a:r>
              <a:rPr lang="en-US" sz="3511" b="1">
                <a:solidFill>
                  <a:srgbClr val="FFFFFF"/>
                </a:solidFill>
                <a:latin typeface="Poppins Bold"/>
                <a:ea typeface="Poppins Bold"/>
                <a:cs typeface="Poppins Bold"/>
                <a:sym typeface="Poppins Bold"/>
              </a:rPr>
              <a:t>What are we mining?</a:t>
            </a:r>
          </a:p>
        </p:txBody>
      </p:sp>
      <p:sp>
        <p:nvSpPr>
          <p:cNvPr id="5" name="TextBox 5"/>
          <p:cNvSpPr txBox="1"/>
          <p:nvPr/>
        </p:nvSpPr>
        <p:spPr>
          <a:xfrm>
            <a:off x="578205" y="1837780"/>
            <a:ext cx="3542883" cy="328936"/>
          </a:xfrm>
          <a:prstGeom prst="rect">
            <a:avLst/>
          </a:prstGeom>
        </p:spPr>
        <p:txBody>
          <a:bodyPr lIns="0" tIns="0" rIns="0" bIns="0" rtlCol="0" anchor="t">
            <a:spAutoFit/>
          </a:bodyPr>
          <a:lstStyle/>
          <a:p>
            <a:pPr algn="just" defTabSz="609630">
              <a:lnSpc>
                <a:spcPts val="2822"/>
              </a:lnSpc>
            </a:pPr>
            <a:r>
              <a:rPr lang="en-US" sz="1660">
                <a:solidFill>
                  <a:srgbClr val="FFFFFF"/>
                </a:solidFill>
                <a:latin typeface="Poppins"/>
                <a:ea typeface="Poppins"/>
                <a:cs typeface="Poppins"/>
                <a:sym typeface="Poppins"/>
              </a:rPr>
              <a:t>Available Platinum, nickel &amp; iron</a:t>
            </a:r>
          </a:p>
        </p:txBody>
      </p:sp>
      <p:sp>
        <p:nvSpPr>
          <p:cNvPr id="6" name="TextBox 6"/>
          <p:cNvSpPr txBox="1"/>
          <p:nvPr/>
        </p:nvSpPr>
        <p:spPr>
          <a:xfrm>
            <a:off x="578204" y="1111753"/>
            <a:ext cx="1407965" cy="662938"/>
          </a:xfrm>
          <a:prstGeom prst="rect">
            <a:avLst/>
          </a:prstGeom>
        </p:spPr>
        <p:txBody>
          <a:bodyPr lIns="0" tIns="0" rIns="0" bIns="0" rtlCol="0" anchor="t">
            <a:spAutoFit/>
          </a:bodyPr>
          <a:lstStyle/>
          <a:p>
            <a:pPr defTabSz="609630">
              <a:lnSpc>
                <a:spcPts val="2735"/>
              </a:lnSpc>
            </a:pPr>
            <a:r>
              <a:rPr lang="en-US" sz="1953" b="1">
                <a:solidFill>
                  <a:srgbClr val="FFFFFF"/>
                </a:solidFill>
                <a:latin typeface="Poppins Bold"/>
                <a:ea typeface="Poppins Bold"/>
                <a:cs typeface="Poppins Bold"/>
                <a:sym typeface="Poppins Bold"/>
              </a:rPr>
              <a:t>Majorly:</a:t>
            </a:r>
          </a:p>
          <a:p>
            <a:pPr defTabSz="609630">
              <a:lnSpc>
                <a:spcPts val="2735"/>
              </a:lnSpc>
              <a:spcBef>
                <a:spcPct val="0"/>
              </a:spcBef>
            </a:pPr>
            <a:r>
              <a:rPr lang="en-US" sz="1953" b="1">
                <a:solidFill>
                  <a:srgbClr val="FFFFFF"/>
                </a:solidFill>
                <a:latin typeface="Poppins Bold"/>
                <a:ea typeface="Poppins Bold"/>
                <a:cs typeface="Poppins Bold"/>
                <a:sym typeface="Poppins Bold"/>
              </a:rPr>
              <a:t>Ice Water</a:t>
            </a:r>
          </a:p>
        </p:txBody>
      </p:sp>
      <p:sp>
        <p:nvSpPr>
          <p:cNvPr id="7" name="TextBox 7"/>
          <p:cNvSpPr txBox="1"/>
          <p:nvPr/>
        </p:nvSpPr>
        <p:spPr>
          <a:xfrm>
            <a:off x="8074954" y="1480436"/>
            <a:ext cx="3781913" cy="410369"/>
          </a:xfrm>
          <a:prstGeom prst="rect">
            <a:avLst/>
          </a:prstGeom>
        </p:spPr>
        <p:txBody>
          <a:bodyPr lIns="0" tIns="0" rIns="0" bIns="0" rtlCol="0" anchor="t">
            <a:spAutoFit/>
          </a:bodyPr>
          <a:lstStyle/>
          <a:p>
            <a:pPr defTabSz="609630">
              <a:lnSpc>
                <a:spcPts val="3181"/>
              </a:lnSpc>
            </a:pPr>
            <a:r>
              <a:rPr lang="en-US" sz="3313" b="1">
                <a:solidFill>
                  <a:srgbClr val="FFFFFF"/>
                </a:solidFill>
                <a:latin typeface="Poppins Bold"/>
                <a:ea typeface="Poppins Bold"/>
                <a:cs typeface="Poppins Bold"/>
                <a:sym typeface="Poppins Bold"/>
              </a:rPr>
              <a:t>COSTUMER BASE</a:t>
            </a:r>
          </a:p>
        </p:txBody>
      </p:sp>
      <p:sp>
        <p:nvSpPr>
          <p:cNvPr id="8" name="TextBox 8"/>
          <p:cNvSpPr txBox="1"/>
          <p:nvPr/>
        </p:nvSpPr>
        <p:spPr>
          <a:xfrm>
            <a:off x="8192332" y="1856830"/>
            <a:ext cx="3547157" cy="2256643"/>
          </a:xfrm>
          <a:prstGeom prst="rect">
            <a:avLst/>
          </a:prstGeom>
        </p:spPr>
        <p:txBody>
          <a:bodyPr lIns="0" tIns="0" rIns="0" bIns="0" rtlCol="0" anchor="t">
            <a:spAutoFit/>
          </a:bodyPr>
          <a:lstStyle/>
          <a:p>
            <a:pPr algn="just" defTabSz="609630">
              <a:lnSpc>
                <a:spcPts val="2145"/>
              </a:lnSpc>
            </a:pPr>
            <a:r>
              <a:rPr lang="en-US" sz="1262">
                <a:solidFill>
                  <a:srgbClr val="FFFFFF"/>
                </a:solidFill>
                <a:latin typeface="Poppins"/>
                <a:ea typeface="Poppins"/>
                <a:cs typeface="Poppins"/>
                <a:sym typeface="Poppins"/>
              </a:rPr>
              <a:t>Space Companies-- companies can reduce the weight of their probes and rockets by relying on our “Space Pumps”.</a:t>
            </a:r>
          </a:p>
          <a:p>
            <a:pPr algn="just" defTabSz="609630">
              <a:lnSpc>
                <a:spcPts val="2259"/>
              </a:lnSpc>
            </a:pPr>
            <a:r>
              <a:rPr lang="en-US" sz="1329">
                <a:solidFill>
                  <a:srgbClr val="FFFFFF"/>
                </a:solidFill>
                <a:latin typeface="Poppins"/>
                <a:ea typeface="Poppins"/>
                <a:cs typeface="Poppins"/>
                <a:sym typeface="Poppins"/>
              </a:rPr>
              <a:t>Industrialists-- since we can mine a lot of Iron and Platinum cheaply in space, iron and platinum needed in space can be supplied by us as well as on earth as environmental concerns come into play.</a:t>
            </a:r>
          </a:p>
        </p:txBody>
      </p:sp>
      <p:sp>
        <p:nvSpPr>
          <p:cNvPr id="9" name="TextBox 9"/>
          <p:cNvSpPr txBox="1"/>
          <p:nvPr/>
        </p:nvSpPr>
        <p:spPr>
          <a:xfrm>
            <a:off x="685800" y="3423047"/>
            <a:ext cx="3781913" cy="410369"/>
          </a:xfrm>
          <a:prstGeom prst="rect">
            <a:avLst/>
          </a:prstGeom>
        </p:spPr>
        <p:txBody>
          <a:bodyPr lIns="0" tIns="0" rIns="0" bIns="0" rtlCol="0" anchor="t">
            <a:spAutoFit/>
          </a:bodyPr>
          <a:lstStyle/>
          <a:p>
            <a:pPr defTabSz="609630">
              <a:lnSpc>
                <a:spcPts val="3181"/>
              </a:lnSpc>
            </a:pPr>
            <a:r>
              <a:rPr lang="en-US" sz="3313" b="1">
                <a:solidFill>
                  <a:srgbClr val="FFFFFF"/>
                </a:solidFill>
                <a:latin typeface="Poppins Bold"/>
                <a:ea typeface="Poppins Bold"/>
                <a:cs typeface="Poppins Bold"/>
                <a:sym typeface="Poppins Bold"/>
              </a:rPr>
              <a:t>USE:</a:t>
            </a:r>
          </a:p>
        </p:txBody>
      </p:sp>
      <p:sp>
        <p:nvSpPr>
          <p:cNvPr id="10" name="TextBox 10"/>
          <p:cNvSpPr txBox="1"/>
          <p:nvPr/>
        </p:nvSpPr>
        <p:spPr>
          <a:xfrm>
            <a:off x="377547" y="3839888"/>
            <a:ext cx="3997972" cy="688009"/>
          </a:xfrm>
          <a:prstGeom prst="rect">
            <a:avLst/>
          </a:prstGeom>
        </p:spPr>
        <p:txBody>
          <a:bodyPr lIns="0" tIns="0" rIns="0" bIns="0" rtlCol="0" anchor="t">
            <a:spAutoFit/>
          </a:bodyPr>
          <a:lstStyle/>
          <a:p>
            <a:pPr algn="just" defTabSz="609630">
              <a:lnSpc>
                <a:spcPts val="2825"/>
              </a:lnSpc>
            </a:pPr>
            <a:r>
              <a:rPr lang="en-US" sz="1662">
                <a:solidFill>
                  <a:srgbClr val="FFFFFF"/>
                </a:solidFill>
                <a:latin typeface="Poppins"/>
                <a:ea typeface="Poppins"/>
                <a:cs typeface="Poppins"/>
                <a:sym typeface="Poppins"/>
              </a:rPr>
              <a:t>Ice water → steam → sold as fuel to space companies</a:t>
            </a:r>
          </a:p>
        </p:txBody>
      </p:sp>
      <p:sp>
        <p:nvSpPr>
          <p:cNvPr id="11" name="TextBox 11"/>
          <p:cNvSpPr txBox="1"/>
          <p:nvPr/>
        </p:nvSpPr>
        <p:spPr>
          <a:xfrm>
            <a:off x="377099" y="4567387"/>
            <a:ext cx="4882472" cy="599267"/>
          </a:xfrm>
          <a:prstGeom prst="rect">
            <a:avLst/>
          </a:prstGeom>
        </p:spPr>
        <p:txBody>
          <a:bodyPr lIns="0" tIns="0" rIns="0" bIns="0" rtlCol="0" anchor="t">
            <a:spAutoFit/>
          </a:bodyPr>
          <a:lstStyle/>
          <a:p>
            <a:pPr defTabSz="609630">
              <a:lnSpc>
                <a:spcPts val="2365"/>
              </a:lnSpc>
              <a:spcBef>
                <a:spcPct val="0"/>
              </a:spcBef>
            </a:pPr>
            <a:r>
              <a:rPr lang="en-US" sz="1689">
                <a:solidFill>
                  <a:srgbClr val="FFFFFF"/>
                </a:solidFill>
                <a:latin typeface="Poppins"/>
                <a:ea typeface="Poppins"/>
                <a:cs typeface="Poppins"/>
                <a:sym typeface="Poppins"/>
              </a:rPr>
              <a:t>Become a leading supplier of iron and platinum</a:t>
            </a:r>
          </a:p>
        </p:txBody>
      </p:sp>
      <p:sp>
        <p:nvSpPr>
          <p:cNvPr id="12" name="TextBox 12"/>
          <p:cNvSpPr txBox="1"/>
          <p:nvPr/>
        </p:nvSpPr>
        <p:spPr>
          <a:xfrm>
            <a:off x="7790796" y="4722490"/>
            <a:ext cx="4666705" cy="436017"/>
          </a:xfrm>
          <a:prstGeom prst="rect">
            <a:avLst/>
          </a:prstGeom>
        </p:spPr>
        <p:txBody>
          <a:bodyPr lIns="0" tIns="0" rIns="0" bIns="0" rtlCol="0" anchor="t">
            <a:spAutoFit/>
          </a:bodyPr>
          <a:lstStyle/>
          <a:p>
            <a:pPr defTabSz="609630">
              <a:lnSpc>
                <a:spcPts val="3370"/>
              </a:lnSpc>
            </a:pPr>
            <a:r>
              <a:rPr lang="en-US" sz="3511" b="1">
                <a:solidFill>
                  <a:srgbClr val="FFFFFF"/>
                </a:solidFill>
                <a:latin typeface="Poppins Bold"/>
                <a:ea typeface="Poppins Bold"/>
                <a:cs typeface="Poppins Bold"/>
                <a:sym typeface="Poppins Bold"/>
              </a:rPr>
              <a:t>Making Money ~~ </a:t>
            </a:r>
          </a:p>
        </p:txBody>
      </p:sp>
      <p:sp>
        <p:nvSpPr>
          <p:cNvPr id="13" name="TextBox 13"/>
          <p:cNvSpPr txBox="1"/>
          <p:nvPr/>
        </p:nvSpPr>
        <p:spPr>
          <a:xfrm>
            <a:off x="8074954" y="5154270"/>
            <a:ext cx="3087626" cy="933589"/>
          </a:xfrm>
          <a:prstGeom prst="rect">
            <a:avLst/>
          </a:prstGeom>
        </p:spPr>
        <p:txBody>
          <a:bodyPr lIns="0" tIns="0" rIns="0" bIns="0" rtlCol="0" anchor="t">
            <a:spAutoFit/>
          </a:bodyPr>
          <a:lstStyle/>
          <a:p>
            <a:pPr defTabSz="609630">
              <a:lnSpc>
                <a:spcPts val="2492"/>
              </a:lnSpc>
            </a:pPr>
            <a:r>
              <a:rPr lang="en-US" sz="1780" b="1">
                <a:solidFill>
                  <a:srgbClr val="FFFFFF"/>
                </a:solidFill>
                <a:latin typeface="Poppins Bold"/>
                <a:ea typeface="Poppins Bold"/>
                <a:cs typeface="Poppins Bold"/>
                <a:sym typeface="Poppins Bold"/>
              </a:rPr>
              <a:t>Space Pumps</a:t>
            </a:r>
          </a:p>
          <a:p>
            <a:pPr defTabSz="609630">
              <a:lnSpc>
                <a:spcPts val="2492"/>
              </a:lnSpc>
            </a:pPr>
            <a:r>
              <a:rPr lang="en-US" sz="1780" b="1">
                <a:solidFill>
                  <a:srgbClr val="FFFFFF"/>
                </a:solidFill>
                <a:latin typeface="Poppins Bold"/>
                <a:ea typeface="Poppins Bold"/>
                <a:cs typeface="Poppins Bold"/>
                <a:sym typeface="Poppins Bold"/>
              </a:rPr>
              <a:t>Orbital Manufacturing</a:t>
            </a:r>
          </a:p>
          <a:p>
            <a:pPr defTabSz="609630">
              <a:lnSpc>
                <a:spcPts val="2492"/>
              </a:lnSpc>
              <a:spcBef>
                <a:spcPct val="0"/>
              </a:spcBef>
            </a:pPr>
            <a:r>
              <a:rPr lang="en-US" sz="1780" b="1">
                <a:solidFill>
                  <a:srgbClr val="FFFFFF"/>
                </a:solidFill>
                <a:latin typeface="Poppins Bold"/>
                <a:ea typeface="Poppins Bold"/>
                <a:cs typeface="Poppins Bold"/>
                <a:sym typeface="Poppins Bold"/>
              </a:rPr>
              <a:t>Platinum Monopoly 😈</a:t>
            </a:r>
          </a:p>
        </p:txBody>
      </p:sp>
      <p:sp>
        <p:nvSpPr>
          <p:cNvPr id="14" name="TextBox 14"/>
          <p:cNvSpPr txBox="1"/>
          <p:nvPr/>
        </p:nvSpPr>
        <p:spPr>
          <a:xfrm>
            <a:off x="7950772" y="94402"/>
            <a:ext cx="4030277" cy="572529"/>
          </a:xfrm>
          <a:prstGeom prst="rect">
            <a:avLst/>
          </a:prstGeom>
        </p:spPr>
        <p:txBody>
          <a:bodyPr lIns="0" tIns="0" rIns="0" bIns="0" rtlCol="0" anchor="t">
            <a:spAutoFit/>
          </a:bodyPr>
          <a:lstStyle/>
          <a:p>
            <a:pPr algn="ctr" defTabSz="609630">
              <a:lnSpc>
                <a:spcPts val="4853"/>
              </a:lnSpc>
              <a:spcBef>
                <a:spcPct val="0"/>
              </a:spcBef>
            </a:pPr>
            <a:r>
              <a:rPr lang="en-US" sz="3466">
                <a:solidFill>
                  <a:srgbClr val="FFFFFF"/>
                </a:solidFill>
                <a:latin typeface="Fredoka"/>
                <a:ea typeface="Fredoka"/>
                <a:cs typeface="Fredoka"/>
                <a:sym typeface="Fredoka"/>
              </a:rPr>
              <a:t>SubPart C</a:t>
            </a:r>
          </a:p>
        </p:txBody>
      </p:sp>
      <p:sp>
        <p:nvSpPr>
          <p:cNvPr id="15" name="TextBox 15"/>
          <p:cNvSpPr txBox="1"/>
          <p:nvPr/>
        </p:nvSpPr>
        <p:spPr>
          <a:xfrm>
            <a:off x="5968784" y="622300"/>
            <a:ext cx="6012265" cy="572529"/>
          </a:xfrm>
          <a:prstGeom prst="rect">
            <a:avLst/>
          </a:prstGeom>
        </p:spPr>
        <p:txBody>
          <a:bodyPr lIns="0" tIns="0" rIns="0" bIns="0" rtlCol="0" anchor="t">
            <a:spAutoFit/>
          </a:bodyPr>
          <a:lstStyle/>
          <a:p>
            <a:pPr algn="ctr" defTabSz="609630">
              <a:lnSpc>
                <a:spcPts val="4853"/>
              </a:lnSpc>
              <a:spcBef>
                <a:spcPct val="0"/>
              </a:spcBef>
            </a:pPr>
            <a:r>
              <a:rPr lang="en-US" sz="3466">
                <a:solidFill>
                  <a:srgbClr val="FFFFFF"/>
                </a:solidFill>
                <a:latin typeface="Fredoka"/>
                <a:ea typeface="Fredoka"/>
                <a:cs typeface="Fredoka"/>
                <a:sym typeface="Fredoka"/>
              </a:rPr>
              <a:t>BUSINESS: Who pays for it?</a:t>
            </a:r>
          </a:p>
        </p:txBody>
      </p:sp>
    </p:spTree>
    <p:extLst>
      <p:ext uri="{BB962C8B-B14F-4D97-AF65-F5344CB8AC3E}">
        <p14:creationId xmlns:p14="http://schemas.microsoft.com/office/powerpoint/2010/main" val="40846381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10582241" y="692600"/>
            <a:ext cx="187462" cy="187462"/>
          </a:xfrm>
          <a:custGeom>
            <a:avLst/>
            <a:gdLst/>
            <a:ahLst/>
            <a:cxnLst/>
            <a:rect l="l" t="t" r="r" b="b"/>
            <a:pathLst>
              <a:path w="281193" h="281193">
                <a:moveTo>
                  <a:pt x="0" y="0"/>
                </a:moveTo>
                <a:lnTo>
                  <a:pt x="281193" y="0"/>
                </a:lnTo>
                <a:lnTo>
                  <a:pt x="281193" y="281192"/>
                </a:lnTo>
                <a:lnTo>
                  <a:pt x="0" y="281192"/>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 name="Group 3"/>
          <p:cNvGrpSpPr/>
          <p:nvPr/>
        </p:nvGrpSpPr>
        <p:grpSpPr>
          <a:xfrm>
            <a:off x="-457667" y="-235714"/>
            <a:ext cx="13107333" cy="3791606"/>
            <a:chOff x="0" y="0"/>
            <a:chExt cx="3680190" cy="1064582"/>
          </a:xfrm>
        </p:grpSpPr>
        <p:sp>
          <p:nvSpPr>
            <p:cNvPr id="4" name="Freeform 4"/>
            <p:cNvSpPr/>
            <p:nvPr/>
          </p:nvSpPr>
          <p:spPr>
            <a:xfrm>
              <a:off x="0" y="0"/>
              <a:ext cx="3680190" cy="1064582"/>
            </a:xfrm>
            <a:custGeom>
              <a:avLst/>
              <a:gdLst/>
              <a:ahLst/>
              <a:cxnLst/>
              <a:rect l="l" t="t" r="r" b="b"/>
              <a:pathLst>
                <a:path w="3680190" h="1064582">
                  <a:moveTo>
                    <a:pt x="9057" y="0"/>
                  </a:moveTo>
                  <a:lnTo>
                    <a:pt x="3671133" y="0"/>
                  </a:lnTo>
                  <a:cubicBezTo>
                    <a:pt x="3673535" y="0"/>
                    <a:pt x="3675838" y="954"/>
                    <a:pt x="3677537" y="2653"/>
                  </a:cubicBezTo>
                  <a:cubicBezTo>
                    <a:pt x="3679236" y="4351"/>
                    <a:pt x="3680190" y="6655"/>
                    <a:pt x="3680190" y="9057"/>
                  </a:cubicBezTo>
                  <a:lnTo>
                    <a:pt x="3680190" y="1055525"/>
                  </a:lnTo>
                  <a:cubicBezTo>
                    <a:pt x="3680190" y="1057927"/>
                    <a:pt x="3679236" y="1060231"/>
                    <a:pt x="3677537" y="1061929"/>
                  </a:cubicBezTo>
                  <a:cubicBezTo>
                    <a:pt x="3675838" y="1063628"/>
                    <a:pt x="3673535" y="1064582"/>
                    <a:pt x="3671133" y="1064582"/>
                  </a:cubicBezTo>
                  <a:lnTo>
                    <a:pt x="9057" y="1064582"/>
                  </a:lnTo>
                  <a:cubicBezTo>
                    <a:pt x="6655" y="1064582"/>
                    <a:pt x="4351" y="1063628"/>
                    <a:pt x="2653" y="1061929"/>
                  </a:cubicBezTo>
                  <a:cubicBezTo>
                    <a:pt x="954" y="1060231"/>
                    <a:pt x="0" y="1057927"/>
                    <a:pt x="0" y="1055525"/>
                  </a:cubicBezTo>
                  <a:lnTo>
                    <a:pt x="0" y="9057"/>
                  </a:lnTo>
                  <a:cubicBezTo>
                    <a:pt x="0" y="6655"/>
                    <a:pt x="954" y="4351"/>
                    <a:pt x="2653" y="2653"/>
                  </a:cubicBezTo>
                  <a:cubicBezTo>
                    <a:pt x="4351" y="954"/>
                    <a:pt x="6655" y="0"/>
                    <a:pt x="9057" y="0"/>
                  </a:cubicBezTo>
                  <a:close/>
                </a:path>
              </a:pathLst>
            </a:custGeom>
            <a:blipFill>
              <a:blip r:embed="rId3">
                <a:alphaModFix amt="69000"/>
              </a:blip>
              <a:stretch>
                <a:fillRect t="-65159" b="-65159"/>
              </a:stretch>
            </a:blipFill>
          </p:spPr>
        </p:sp>
      </p:grpSp>
      <p:sp>
        <p:nvSpPr>
          <p:cNvPr id="5" name="TextBox 5"/>
          <p:cNvSpPr txBox="1"/>
          <p:nvPr/>
        </p:nvSpPr>
        <p:spPr>
          <a:xfrm>
            <a:off x="685800" y="1665726"/>
            <a:ext cx="9184712" cy="1308050"/>
          </a:xfrm>
          <a:prstGeom prst="rect">
            <a:avLst/>
          </a:prstGeom>
        </p:spPr>
        <p:txBody>
          <a:bodyPr lIns="0" tIns="0" rIns="0" bIns="0" rtlCol="0" anchor="t">
            <a:spAutoFit/>
          </a:bodyPr>
          <a:lstStyle/>
          <a:p>
            <a:pPr defTabSz="609630">
              <a:lnSpc>
                <a:spcPts val="5120"/>
              </a:lnSpc>
            </a:pPr>
            <a:r>
              <a:rPr lang="en-US" sz="5334" b="1">
                <a:solidFill>
                  <a:srgbClr val="FFFFFF"/>
                </a:solidFill>
                <a:latin typeface="Poppins Bold"/>
                <a:ea typeface="Poppins Bold"/>
                <a:cs typeface="Poppins Bold"/>
                <a:sym typeface="Poppins Bold"/>
              </a:rPr>
              <a:t>Bonus — “I’ve got a bad feeling about this”</a:t>
            </a:r>
          </a:p>
        </p:txBody>
      </p:sp>
      <p:grpSp>
        <p:nvGrpSpPr>
          <p:cNvPr id="6" name="Group 6"/>
          <p:cNvGrpSpPr/>
          <p:nvPr/>
        </p:nvGrpSpPr>
        <p:grpSpPr>
          <a:xfrm>
            <a:off x="435541" y="3429001"/>
            <a:ext cx="3329904" cy="2839831"/>
            <a:chOff x="0" y="0"/>
            <a:chExt cx="1197116" cy="1020933"/>
          </a:xfrm>
        </p:grpSpPr>
        <p:sp>
          <p:nvSpPr>
            <p:cNvPr id="7" name="Freeform 7"/>
            <p:cNvSpPr/>
            <p:nvPr/>
          </p:nvSpPr>
          <p:spPr>
            <a:xfrm>
              <a:off x="0" y="0"/>
              <a:ext cx="1197116" cy="1020933"/>
            </a:xfrm>
            <a:custGeom>
              <a:avLst/>
              <a:gdLst/>
              <a:ahLst/>
              <a:cxnLst/>
              <a:rect l="l" t="t" r="r" b="b"/>
              <a:pathLst>
                <a:path w="1197116" h="1020933">
                  <a:moveTo>
                    <a:pt x="35650" y="0"/>
                  </a:moveTo>
                  <a:lnTo>
                    <a:pt x="1161466" y="0"/>
                  </a:lnTo>
                  <a:cubicBezTo>
                    <a:pt x="1170921" y="0"/>
                    <a:pt x="1179989" y="3756"/>
                    <a:pt x="1186674" y="10441"/>
                  </a:cubicBezTo>
                  <a:cubicBezTo>
                    <a:pt x="1193360" y="17127"/>
                    <a:pt x="1197116" y="26195"/>
                    <a:pt x="1197116" y="35650"/>
                  </a:cubicBezTo>
                  <a:lnTo>
                    <a:pt x="1197116" y="985283"/>
                  </a:lnTo>
                  <a:cubicBezTo>
                    <a:pt x="1197116" y="994738"/>
                    <a:pt x="1193360" y="1003805"/>
                    <a:pt x="1186674" y="1010491"/>
                  </a:cubicBezTo>
                  <a:cubicBezTo>
                    <a:pt x="1179989" y="1017177"/>
                    <a:pt x="1170921" y="1020933"/>
                    <a:pt x="1161466" y="1020933"/>
                  </a:cubicBezTo>
                  <a:lnTo>
                    <a:pt x="35650" y="1020933"/>
                  </a:lnTo>
                  <a:cubicBezTo>
                    <a:pt x="15961" y="1020933"/>
                    <a:pt x="0" y="1004972"/>
                    <a:pt x="0" y="985283"/>
                  </a:cubicBezTo>
                  <a:lnTo>
                    <a:pt x="0" y="35650"/>
                  </a:lnTo>
                  <a:cubicBezTo>
                    <a:pt x="0" y="26195"/>
                    <a:pt x="3756" y="17127"/>
                    <a:pt x="10441" y="10441"/>
                  </a:cubicBezTo>
                  <a:cubicBezTo>
                    <a:pt x="17127" y="3756"/>
                    <a:pt x="26195" y="0"/>
                    <a:pt x="35650" y="0"/>
                  </a:cubicBezTo>
                  <a:close/>
                </a:path>
              </a:pathLst>
            </a:custGeom>
            <a:blipFill>
              <a:blip r:embed="rId4"/>
              <a:stretch>
                <a:fillRect l="-11710" r="-11710"/>
              </a:stretch>
            </a:blipFill>
          </p:spPr>
        </p:sp>
      </p:grpSp>
      <p:sp>
        <p:nvSpPr>
          <p:cNvPr id="8" name="TextBox 8"/>
          <p:cNvSpPr txBox="1"/>
          <p:nvPr/>
        </p:nvSpPr>
        <p:spPr>
          <a:xfrm>
            <a:off x="4219353" y="4979356"/>
            <a:ext cx="7643185" cy="1254959"/>
          </a:xfrm>
          <a:prstGeom prst="rect">
            <a:avLst/>
          </a:prstGeom>
        </p:spPr>
        <p:txBody>
          <a:bodyPr lIns="0" tIns="0" rIns="0" bIns="0" rtlCol="0" anchor="t">
            <a:spAutoFit/>
          </a:bodyPr>
          <a:lstStyle/>
          <a:p>
            <a:pPr algn="just" defTabSz="609630">
              <a:lnSpc>
                <a:spcPts val="2494"/>
              </a:lnSpc>
            </a:pPr>
            <a:r>
              <a:rPr lang="en-US" sz="1467">
                <a:solidFill>
                  <a:srgbClr val="FFFFFF"/>
                </a:solidFill>
                <a:latin typeface="Poppins"/>
                <a:ea typeface="Poppins"/>
                <a:cs typeface="Poppins"/>
                <a:sym typeface="Poppins"/>
              </a:rPr>
              <a:t>Once we have monopolized iron and platinum, the world countries could oppose such concentration of resources by us and hence we might get into legal troubles. Therefore we propose to start expansion as soon as we can to get our rovers on the most profitable asteroids, so we have some leverage.</a:t>
            </a:r>
          </a:p>
        </p:txBody>
      </p:sp>
      <p:sp>
        <p:nvSpPr>
          <p:cNvPr id="9" name="TextBox 9"/>
          <p:cNvSpPr txBox="1"/>
          <p:nvPr/>
        </p:nvSpPr>
        <p:spPr>
          <a:xfrm>
            <a:off x="4219353" y="3473342"/>
            <a:ext cx="7643185" cy="1254959"/>
          </a:xfrm>
          <a:prstGeom prst="rect">
            <a:avLst/>
          </a:prstGeom>
        </p:spPr>
        <p:txBody>
          <a:bodyPr lIns="0" tIns="0" rIns="0" bIns="0" rtlCol="0" anchor="t">
            <a:spAutoFit/>
          </a:bodyPr>
          <a:lstStyle/>
          <a:p>
            <a:pPr algn="just" defTabSz="609630">
              <a:lnSpc>
                <a:spcPts val="2494"/>
              </a:lnSpc>
            </a:pPr>
            <a:r>
              <a:rPr lang="en-US" sz="1467">
                <a:solidFill>
                  <a:srgbClr val="FFFFFF"/>
                </a:solidFill>
                <a:latin typeface="Poppins"/>
                <a:ea typeface="Poppins"/>
                <a:cs typeface="Poppins"/>
                <a:sym typeface="Poppins"/>
              </a:rPr>
              <a:t>The influx of such amounts of iron and platinum directly in the market might cause it to crash. Therefore, we won’t supply it “ALL” to the market. We plan to keep just enough in the market that the prices decrease by a little and it is profitable to us only.</a:t>
            </a:r>
          </a:p>
        </p:txBody>
      </p:sp>
    </p:spTree>
    <p:extLst>
      <p:ext uri="{BB962C8B-B14F-4D97-AF65-F5344CB8AC3E}">
        <p14:creationId xmlns:p14="http://schemas.microsoft.com/office/powerpoint/2010/main" val="22379539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4"/>
          <a:srcRect/>
          <a:stretch>
            <a:fillRect/>
          </a:stretch>
        </p:blipFill>
        <p:spPr>
          <a:xfrm>
            <a:off x="1393372" y="0"/>
            <a:ext cx="9405257" cy="6858000"/>
          </a:xfrm>
          <a:prstGeom prst="rect">
            <a:avLst/>
          </a:prstGeom>
        </p:spPr>
      </p:pic>
    </p:spTree>
    <p:extLst>
      <p:ext uri="{BB962C8B-B14F-4D97-AF65-F5344CB8AC3E}">
        <p14:creationId xmlns:p14="http://schemas.microsoft.com/office/powerpoint/2010/main" val="843367597"/>
      </p:ext>
    </p:extLst>
  </p:cSld>
  <p:clrMapOvr>
    <a:masterClrMapping/>
  </p:clrMapOvr>
  <p:timing>
    <p:tnLst>
      <p:par>
        <p:cTn id="1" dur="indefinite" restart="never" nodeType="tmRoot">
          <p:childTnLst>
            <p:video>
              <p:cMediaNode vol="0">
                <p:cTn id="2" fill="hold" display="0">
                  <p:stCondLst>
                    <p:cond delay="indefinite"/>
                  </p:stCondLst>
                </p:cTn>
                <p:tgtEl>
                  <p:spTgt spid="2"/>
                </p:tgtEl>
              </p:cMediaNode>
            </p:video>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TotalTime>
  <Words>1285</Words>
  <Application>Microsoft Office PowerPoint</Application>
  <PresentationFormat>Widescreen</PresentationFormat>
  <Paragraphs>172</Paragraphs>
  <Slides>14</Slides>
  <Notes>0</Notes>
  <HiddenSlides>0</HiddenSlides>
  <MMClips>1</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14</vt:i4>
      </vt:variant>
    </vt:vector>
  </HeadingPairs>
  <TitlesOfParts>
    <vt:vector size="23" baseType="lpstr">
      <vt:lpstr>Aptos</vt:lpstr>
      <vt:lpstr>Aptos Display</vt:lpstr>
      <vt:lpstr>Arial</vt:lpstr>
      <vt:lpstr>Calibri</vt:lpstr>
      <vt:lpstr>Fredoka</vt:lpstr>
      <vt:lpstr>Poppins</vt:lpstr>
      <vt:lpstr>Poppins Bold</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Lavanya Kashanwal</dc:creator>
  <cp:keywords/>
  <dc:description>generated using python-pptx</dc:description>
  <cp:lastModifiedBy>Lavanya Kashanwal</cp:lastModifiedBy>
  <cp:revision>2</cp:revision>
  <dcterms:created xsi:type="dcterms:W3CDTF">2013-01-27T09:14:16Z</dcterms:created>
  <dcterms:modified xsi:type="dcterms:W3CDTF">2026-10-25T05:49:31Z</dcterms:modified>
  <cp:category/>
</cp:coreProperties>
</file>